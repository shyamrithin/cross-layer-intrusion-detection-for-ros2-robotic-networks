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19"/>
  </p:notesMasterIdLst>
  <p:sldIdLst>
    <p:sldId id="256" r:id="rId3"/>
    <p:sldId id="257" r:id="rId4"/>
    <p:sldId id="258" r:id="rId5"/>
    <p:sldId id="259" r:id="rId6"/>
    <p:sldId id="260" r:id="rId7"/>
    <p:sldId id="261" r:id="rId8"/>
    <p:sldId id="262" r:id="rId9"/>
    <p:sldId id="272" r:id="rId23"/>
    <p:sldId id="263" r:id="rId10"/>
    <p:sldId id="264" r:id="rId11"/>
    <p:sldId id="265" r:id="rId12"/>
    <p:sldId id="266" r:id="rId13"/>
    <p:sldId id="267" r:id="rId14"/>
    <p:sldId id="268" r:id="rId15"/>
    <p:sldId id="269" r:id="rId16"/>
    <p:sldId id="273" r:id="rId24"/>
    <p:sldId id="274" r:id="rId25"/>
    <p:sldId id="270" r:id="rId17"/>
    <p:sldId id="271" r:id="rId18"/>
  </p:sldIdLst>
  <p:sldSz cx="12192000" cy="6858000"/>
  <p:notesSz cx="6858000" cy="12192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36" d="100"/>
          <a:sy n="136" d="100"/>
        </p:scale>
        <p:origin x="216" y="312"/>
      </p:cViewPr>
      <p:guideLst>
        <p:guide pos="3840"/>
        <p:guide pos="2160" orient="horz"/>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8.xml"/><Relationship Id="rId18" Type="http://schemas.openxmlformats.org/officeDocument/2006/relationships/slide" Target="slides/slide19.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tableStyles" Target="tableStyles.xml"/><Relationship Id="rId22" Type="http://schemas.openxmlformats.org/officeDocument/2006/relationships/viewProps" Target="viewProps.xml"/><Relationship Id="rId23" Type="http://schemas.openxmlformats.org/officeDocument/2006/relationships/slide" Target="slides/slide8.xml"/><Relationship Id="rId24" Type="http://schemas.openxmlformats.org/officeDocument/2006/relationships/slide" Target="slides/slide16.xml"/><Relationship Id="rId25"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286967807"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911214029"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5282F153-3F37-0F45-9E97-73ACFA13230C}" type="datetimeFigureOut">
              <a:rPr lang="en-US"/>
              <a:t>7/23/19</a:t>
            </a:fld>
            <a:endParaRPr lang="en-US"/>
          </a:p>
        </p:txBody>
      </p:sp>
      <p:sp>
        <p:nvSpPr>
          <p:cNvPr id="1460497655"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828642055"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559132223"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801563512"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84953997" name="Slide Image Placeholder 1"/>
          <p:cNvSpPr>
            <a:spLocks noChangeAspect="1" noGrp="1" noRot="1"/>
          </p:cNvSpPr>
          <p:nvPr>
            <p:ph type="sldImg"/>
          </p:nvPr>
        </p:nvSpPr>
        <p:spPr bwMode="auto"/>
      </p:sp>
      <p:sp>
        <p:nvSpPr>
          <p:cNvPr id="1210316689" name="Notes Placeholder 2"/>
          <p:cNvSpPr>
            <a:spLocks noGrp="1"/>
          </p:cNvSpPr>
          <p:nvPr>
            <p:ph type="body" idx="1"/>
          </p:nvPr>
        </p:nvSpPr>
        <p:spPr bwMode="auto"/>
        <p:txBody>
          <a:bodyPr/>
          <a:lstStyle/>
          <a:p>
            <a:r>
              <a:t>Good morning. I'm Shyam Rithin. This is Review 2 of my project, a cross-layer intrusion detection system for ROS 2 robots. Since Review 1 the detector runs on a full Gazebo simulation of my robot, with a live monitoring dashboard and Wireshark analysis of the attack traffic, and I will show it blocking attacks live.</a:t>
            </a:r>
          </a:p>
        </p:txBody>
      </p:sp>
      <p:sp>
        <p:nvSpPr>
          <p:cNvPr id="1111096842"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38713655" name="Slide Image Placeholder 1"/>
          <p:cNvSpPr>
            <a:spLocks noChangeAspect="1" noGrp="1" noRot="1"/>
          </p:cNvSpPr>
          <p:nvPr>
            <p:ph type="sldImg"/>
          </p:nvPr>
        </p:nvSpPr>
        <p:spPr bwMode="auto"/>
      </p:sp>
      <p:sp>
        <p:nvSpPr>
          <p:cNvPr id="932365522" name="Notes Placeholder 2"/>
          <p:cNvSpPr>
            <a:spLocks noGrp="1"/>
          </p:cNvSpPr>
          <p:nvPr>
            <p:ph type="body" idx="1"/>
          </p:nvPr>
        </p:nvSpPr>
        <p:spPr bwMode="auto"/>
        <p:txBody>
          <a:bodyPr/>
          <a:lstStyle/>
          <a:p>
            <a:pPr>
              <a:defRPr/>
            </a:pPr>
            <a:r>
              <a:rPr lang="en-US"/>
              <a:t>These are the only four ROS terms in the talk. A node is a program, a topic is a named channel, publishers send and subscribers receive, and DDS is the middleware underneath running on UDP. The line at the bottom is the one that matters: cmd_vel is the topic the robot's motors listen to, and any node can publish to it, because DDS does not check who is sending.</a:t>
            </a:r>
            <a:endParaRPr lang="en-US"/>
          </a:p>
        </p:txBody>
      </p:sp>
      <p:sp>
        <p:nvSpPr>
          <p:cNvPr id="1880076075"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56933304" name="Slide Image Placeholder 1"/>
          <p:cNvSpPr>
            <a:spLocks noChangeAspect="1" noGrp="1" noRot="1"/>
          </p:cNvSpPr>
          <p:nvPr>
            <p:ph type="sldImg"/>
          </p:nvPr>
        </p:nvSpPr>
        <p:spPr bwMode="auto"/>
      </p:sp>
      <p:sp>
        <p:nvSpPr>
          <p:cNvPr id="547833521" name="Notes Placeholder 2"/>
          <p:cNvSpPr>
            <a:spLocks noGrp="1"/>
          </p:cNvSpPr>
          <p:nvPr>
            <p:ph type="body" idx="1"/>
          </p:nvPr>
        </p:nvSpPr>
        <p:spPr bwMode="auto"/>
        <p:txBody>
          <a:bodyPr/>
          <a:lstStyle/>
          <a:p>
            <a:pPr>
              <a:defRPr/>
            </a:pPr>
            <a:r>
              <a:rPr lang="en-US"/>
              <a:t>ROS 2 hands all networking to DDS. DDS is application-layer middleware running on UDP/IP. The critical fact: it is unauthenticated by default. Any node on the network can publish to the velocity command topic and the robot will obey it.</a:t>
            </a:r>
            <a:endParaRPr lang="en-US"/>
          </a:p>
        </p:txBody>
      </p:sp>
      <p:sp>
        <p:nvSpPr>
          <p:cNvPr id="1200526551"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98014374" name="Slide Image Placeholder 1"/>
          <p:cNvSpPr>
            <a:spLocks noChangeAspect="1" noGrp="1" noRot="1"/>
          </p:cNvSpPr>
          <p:nvPr>
            <p:ph type="sldImg"/>
          </p:nvPr>
        </p:nvSpPr>
        <p:spPr bwMode="auto"/>
      </p:sp>
      <p:sp>
        <p:nvSpPr>
          <p:cNvPr id="468162400" name="Notes Placeholder 2"/>
          <p:cNvSpPr>
            <a:spLocks noGrp="1"/>
          </p:cNvSpPr>
          <p:nvPr>
            <p:ph type="body" idx="1"/>
          </p:nvPr>
        </p:nvSpPr>
        <p:spPr bwMode="auto"/>
        <p:txBody>
          <a:bodyPr/>
          <a:lstStyle/>
          <a:p>
            <a:r>
              <a:t>In one paragraph: the network carries no authentication, so a malicious command looks like a normal packet. I detect it by combining who sent it, from the network layer, with whether the robot is moving the way the authorized controller said, from the physics layer. The threshold comes from benign data only, and the safety filter blocks the attack instead of only reporting it. The headline number: peak deviation drops from 1.94 metres to 0.019 metres with the filter on.</a:t>
            </a:r>
          </a:p>
        </p:txBody>
      </p:sp>
      <p:sp>
        <p:nvSpPr>
          <p:cNvPr id="630341010"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67287711" name="Slide Image Placeholder 1"/>
          <p:cNvSpPr>
            <a:spLocks noChangeAspect="1" noGrp="1" noRot="1"/>
          </p:cNvSpPr>
          <p:nvPr>
            <p:ph type="sldImg"/>
          </p:nvPr>
        </p:nvSpPr>
        <p:spPr bwMode="auto"/>
      </p:sp>
      <p:sp>
        <p:nvSpPr>
          <p:cNvPr id="429393191" name="Notes Placeholder 2"/>
          <p:cNvSpPr>
            <a:spLocks noGrp="1"/>
          </p:cNvSpPr>
          <p:nvPr>
            <p:ph type="body" idx="1"/>
          </p:nvPr>
        </p:nvSpPr>
        <p:spPr bwMode="auto"/>
        <p:txBody>
          <a:bodyPr/>
          <a:lstStyle/>
          <a:p>
            <a:r>
              <a:t>Group A is the ROS 2 security community, working at the network and middleware level: security analysis of SROS 2, the SROS 2 tooling itself, and the ROSPaCe dataset, which monitors three layers of a ROS 2 system. The overall gap is on the slide after the reviews.</a:t>
            </a:r>
          </a:p>
        </p:txBody>
      </p:sp>
      <p:sp>
        <p:nvSpPr>
          <p:cNvPr id="532896947"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36979292" name="Slide Image Placeholder 1"/>
          <p:cNvSpPr>
            <a:spLocks noChangeAspect="1" noGrp="1" noRot="1"/>
          </p:cNvSpPr>
          <p:nvPr>
            <p:ph type="sldImg"/>
          </p:nvPr>
        </p:nvSpPr>
        <p:spPr bwMode="auto"/>
      </p:sp>
      <p:sp>
        <p:nvSpPr>
          <p:cNvPr id="2092523702" name="Notes Placeholder 2"/>
          <p:cNvSpPr>
            <a:spLocks noGrp="1"/>
          </p:cNvSpPr>
          <p:nvPr>
            <p:ph type="body" idx="1"/>
          </p:nvPr>
        </p:nvSpPr>
        <p:spPr bwMode="auto"/>
        <p:txBody>
          <a:bodyPr/>
          <a:lstStyle/>
          <a:p>
            <a:r>
              <a:t>Group A continued. RIPS is a working intrusion prevention system for ROS 2. The 2025 supply chain paper shows an attacker can become a fully authenticated participant and send spoofed control messages, and the authors call for runtime semantic validation. Bezemskij et al. combined cyber and physical features, but with supervised learning on a pre-ROS 2 platform.</a:t>
            </a:r>
          </a:p>
        </p:txBody>
      </p:sp>
      <p:sp>
        <p:nvSpPr>
          <p:cNvPr id="2027846472"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12788174" name="Slide Image Placeholder 1"/>
          <p:cNvSpPr>
            <a:spLocks noChangeAspect="1" noGrp="1" noRot="1"/>
          </p:cNvSpPr>
          <p:nvPr>
            <p:ph type="sldImg"/>
          </p:nvPr>
        </p:nvSpPr>
        <p:spPr bwMode="auto"/>
      </p:sp>
      <p:sp>
        <p:nvSpPr>
          <p:cNvPr id="1403487341" name="Notes Placeholder 2"/>
          <p:cNvSpPr>
            <a:spLocks noGrp="1"/>
          </p:cNvSpPr>
          <p:nvPr>
            <p:ph type="body" idx="1"/>
          </p:nvPr>
        </p:nvSpPr>
        <p:spPr bwMode="auto"/>
        <p:txBody>
          <a:bodyPr/>
          <a:lstStyle/>
          <a:p>
            <a:r>
              <a:t>Group B is the control theory community. They use the physical process, with CUSUM and chi-squared residual tests, but have no network layer, and a careful attacker can evade them. So Group A has no physics and Group B has no network.</a:t>
            </a:r>
          </a:p>
        </p:txBody>
      </p:sp>
      <p:sp>
        <p:nvSpPr>
          <p:cNvPr id="2061639986" name="Slide Number Placeholder 3"/>
          <p:cNvSpPr>
            <a:spLocks noGrp="1"/>
          </p:cNvSpPr>
          <p:nvPr>
            <p:ph type="sldNum" sz="quarter" idx="10"/>
          </p:nvPr>
        </p:nvSpPr>
        <p:spPr bwMode="auto"/>
        <p:txBody>
          <a:bodyPr/>
          <a:lstStyle/>
          <a:p>
            <a:pPr>
              <a:defRPr/>
            </a:pPr>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30714875" name="Slide Image Placeholder 1"/>
          <p:cNvSpPr>
            <a:spLocks noChangeAspect="1" noGrp="1" noRot="1"/>
          </p:cNvSpPr>
          <p:nvPr>
            <p:ph type="sldImg"/>
          </p:nvPr>
        </p:nvSpPr>
        <p:spPr bwMode="auto"/>
      </p:sp>
      <p:sp>
        <p:nvSpPr>
          <p:cNvPr id="2090670178" name="Notes Placeholder 2"/>
          <p:cNvSpPr>
            <a:spLocks noGrp="1"/>
          </p:cNvSpPr>
          <p:nvPr>
            <p:ph type="body" idx="1"/>
          </p:nvPr>
        </p:nvSpPr>
        <p:spPr bwMode="auto"/>
        <p:txBody>
          <a:bodyPr/>
          <a:lstStyle/>
          <a:p>
            <a:r>
              <a:t>Five objectives, each phrased as an action. The detector and the safety layer are now one objective, because the safety layer is what turns the detector's verdict into prevention. Objectives one to four are complete; the full evaluation in objective five finishes this week.</a:t>
            </a:r>
          </a:p>
        </p:txBody>
      </p:sp>
      <p:sp>
        <p:nvSpPr>
          <p:cNvPr id="1174358102" name="Slide Number Placeholder 3"/>
          <p:cNvSpPr>
            <a:spLocks noGrp="1"/>
          </p:cNvSpPr>
          <p:nvPr>
            <p:ph type="sldNum" sz="quarter" idx="10"/>
          </p:nvPr>
        </p:nvSpPr>
        <p:spPr bwMode="auto"/>
        <p:txBody>
          <a:bodyPr/>
          <a:lstStyle/>
          <a:p>
            <a:pPr>
              <a:defRPr/>
            </a:pPr>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58201870" name="Slide Image Placeholder 1"/>
          <p:cNvSpPr>
            <a:spLocks noChangeAspect="1" noGrp="1" noRot="1"/>
          </p:cNvSpPr>
          <p:nvPr>
            <p:ph type="sldImg"/>
          </p:nvPr>
        </p:nvSpPr>
        <p:spPr bwMode="auto"/>
      </p:sp>
      <p:sp>
        <p:nvSpPr>
          <p:cNvPr id="244905217" name="Notes Placeholder 2"/>
          <p:cNvSpPr>
            <a:spLocks noGrp="1"/>
          </p:cNvSpPr>
          <p:nvPr>
            <p:ph type="body" idx="1"/>
          </p:nvPr>
        </p:nvSpPr>
        <p:spPr bwMode="auto"/>
        <p:txBody>
          <a:bodyPr/>
          <a:lstStyle/>
          <a:p>
            <a:pPr>
              <a:defRPr/>
            </a:pPr>
            <a:r>
              <a:rPr lang="en-US"/>
              <a:t>The architecture point that matters: there are two command topics. One carries only what the authorized controller said. The other is the wire, where the attacker also publishes. The detector compares the robot's actual motion against what the authorized stream predicts. That is how an individually valid packet still gets caught. And because the detector is inline, it can block the command, not just report it.</a:t>
            </a:r>
            <a:endParaRPr lang="en-US"/>
          </a:p>
        </p:txBody>
      </p:sp>
      <p:sp>
        <p:nvSpPr>
          <p:cNvPr id="1050193191" name="Slide Number Placeholder 3"/>
          <p:cNvSpPr>
            <a:spLocks noGrp="1"/>
          </p:cNvSpPr>
          <p:nvPr>
            <p:ph type="sldNum" sz="quarter" idx="10"/>
          </p:nvPr>
        </p:nvSpPr>
        <p:spPr bwMode="auto"/>
        <p:txBody>
          <a:bodyPr/>
          <a:lstStyle/>
          <a:p>
            <a:pPr>
              <a:defRPr/>
            </a:pPr>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04540726" name="Slide Image Placeholder 1"/>
          <p:cNvSpPr>
            <a:spLocks noChangeAspect="1" noGrp="1" noRot="1"/>
          </p:cNvSpPr>
          <p:nvPr>
            <p:ph type="sldImg"/>
          </p:nvPr>
        </p:nvSpPr>
        <p:spPr bwMode="auto"/>
      </p:sp>
      <p:sp>
        <p:nvSpPr>
          <p:cNvPr id="181491174" name="Notes Placeholder 2"/>
          <p:cNvSpPr>
            <a:spLocks noGrp="1"/>
          </p:cNvSpPr>
          <p:nvPr>
            <p:ph type="body" idx="1"/>
          </p:nvPr>
        </p:nvSpPr>
        <p:spPr bwMode="auto"/>
        <p:txBody>
          <a:bodyPr/>
          <a:lstStyle/>
          <a:p>
            <a:pPr>
              <a:defRPr/>
            </a:pPr>
            <a:r>
              <a:rPr lang="en-US"/>
              <a:t>Two physical tests. Feasibility catches the crude attacks instantly. Consistency plus CUSUM catches the slow, careful ones. And the threshold comes from benign data only, so I never need attack examples to train on.</a:t>
            </a:r>
            <a:endParaRPr lang="en-US"/>
          </a:p>
        </p:txBody>
      </p:sp>
      <p:sp>
        <p:nvSpPr>
          <p:cNvPr id="850481141" name="Slide Number Placeholder 3"/>
          <p:cNvSpPr>
            <a:spLocks noGrp="1"/>
          </p:cNvSpPr>
          <p:nvPr>
            <p:ph type="sldNum" sz="quarter" idx="10"/>
          </p:nvPr>
        </p:nvSpPr>
        <p:spPr bwMode="auto"/>
        <p:txBody>
          <a:bodyPr/>
          <a:lstStyle/>
          <a:p>
            <a:pPr>
              <a:defRPr/>
            </a:pPr>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09581682" name="Slide Image Placeholder 1"/>
          <p:cNvSpPr>
            <a:spLocks noChangeAspect="1" noGrp="1" noRot="1"/>
          </p:cNvSpPr>
          <p:nvPr>
            <p:ph type="sldImg"/>
          </p:nvPr>
        </p:nvSpPr>
        <p:spPr bwMode="auto"/>
      </p:sp>
      <p:sp>
        <p:nvSpPr>
          <p:cNvPr id="1517280412" name="Notes Placeholder 2"/>
          <p:cNvSpPr>
            <a:spLocks noGrp="1"/>
          </p:cNvSpPr>
          <p:nvPr>
            <p:ph type="body" idx="1"/>
          </p:nvPr>
        </p:nvSpPr>
        <p:spPr bwMode="auto"/>
        <p:txBody>
          <a:bodyPr/>
          <a:lstStyle/>
          <a:p>
            <a:r>
              <a:t>This is the detector in five steps. Step one is the fast feasibility check. Steps two and three build the residual: predict from the authorized commands, compare against odometry. Step four is the CUSUM, which catches stealth. Epsilon is calibrated from benign data: 0.024 on the kinematic bench and 0.010 on the Gazebo robot; tau is 3.0. S sub k accumulates how much the residual exceeds epsilon, so noise decays away but a small persistent attack adds up until it alarms.</a:t>
            </a:r>
          </a:p>
        </p:txBody>
      </p:sp>
      <p:sp>
        <p:nvSpPr>
          <p:cNvPr id="1764718636" name="Slide Number Placeholder 3"/>
          <p:cNvSpPr>
            <a:spLocks noGrp="1"/>
          </p:cNvSpPr>
          <p:nvPr>
            <p:ph type="sldNum" sz="quarter" idx="10"/>
          </p:nvPr>
        </p:nvSpPr>
        <p:spPr bwMode="auto"/>
        <p:txBody>
          <a:bodyPr/>
          <a:lstStyle/>
          <a:p>
            <a:pPr>
              <a:defRPr/>
            </a:pPr>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56171477" name="Slide Image Placeholder 1"/>
          <p:cNvSpPr>
            <a:spLocks noChangeAspect="1" noGrp="1" noRot="1"/>
          </p:cNvSpPr>
          <p:nvPr>
            <p:ph type="sldImg"/>
          </p:nvPr>
        </p:nvSpPr>
        <p:spPr bwMode="auto"/>
      </p:sp>
      <p:sp>
        <p:nvSpPr>
          <p:cNvPr id="1909374833" name="Notes Placeholder 2"/>
          <p:cNvSpPr>
            <a:spLocks noGrp="1"/>
          </p:cNvSpPr>
          <p:nvPr>
            <p:ph type="body" idx="1"/>
          </p:nvPr>
        </p:nvSpPr>
        <p:spPr bwMode="auto"/>
        <p:txBody>
          <a:bodyPr/>
          <a:lstStyle/>
          <a:p>
            <a:r>
              <a:t>Everything here is already available - nothing needs to be purchased. The robot runs on a Raspberry Pi 4 with Fast DDS restricted to UDP, so every message is visible on the wire. The Gazebo model uses the robot's measured wheel radius and separation, which are the constants in the physics layer's equations. Wireshark captures the domain-42 DDS ports, 17900 to 18149.</a:t>
            </a:r>
          </a:p>
        </p:txBody>
      </p:sp>
      <p:sp>
        <p:nvSpPr>
          <p:cNvPr id="1905454731" name="Slide Number Placeholder 3"/>
          <p:cNvSpPr>
            <a:spLocks noGrp="1"/>
          </p:cNvSpPr>
          <p:nvPr>
            <p:ph type="sldNum" sz="quarter" idx="10"/>
          </p:nvPr>
        </p:nvSpPr>
        <p:spPr bwMode="auto"/>
        <p:txBody>
          <a:bodyPr/>
          <a:lstStyle/>
          <a:p>
            <a:pPr>
              <a:defRPr/>
            </a:pPr>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08351968" name="Slide Image Placeholder 1"/>
          <p:cNvSpPr>
            <a:spLocks noChangeAspect="1" noGrp="1" noRot="1"/>
          </p:cNvSpPr>
          <p:nvPr>
            <p:ph type="sldImg"/>
          </p:nvPr>
        </p:nvSpPr>
        <p:spPr bwMode="auto"/>
      </p:sp>
      <p:sp>
        <p:nvSpPr>
          <p:cNvPr id="1285643415" name="Notes Placeholder 2"/>
          <p:cNvSpPr>
            <a:spLocks noGrp="1"/>
          </p:cNvSpPr>
          <p:nvPr>
            <p:ph type="body" idx="1"/>
          </p:nvPr>
        </p:nvSpPr>
        <p:spPr bwMode="auto"/>
        <p:txBody>
          <a:bodyPr/>
          <a:lstStyle/>
          <a:p>
            <a:pPr>
              <a:defRPr/>
            </a:pPr>
            <a:r>
              <a:rPr lang="en-US"/>
              <a:t>Two results. Left: the threshold is not guessed, it is calibrated from benign data as mean plus three sigma. Right: a stealthy injection that stays physically feasible is caught in under two seconds by the CUSUM. Zero false alarms across ten benign runs.</a:t>
            </a:r>
            <a:endParaRPr lang="en-US"/>
          </a:p>
        </p:txBody>
      </p:sp>
      <p:sp>
        <p:nvSpPr>
          <p:cNvPr id="544373367" name="Slide Number Placeholder 3"/>
          <p:cNvSpPr>
            <a:spLocks noGrp="1"/>
          </p:cNvSpPr>
          <p:nvPr>
            <p:ph type="sldNum" sz="quarter" idx="10"/>
          </p:nvPr>
        </p:nvSpPr>
        <p:spPr bwMode="auto"/>
        <p:txBody>
          <a:bodyPr/>
          <a:lstStyle/>
          <a:p>
            <a:pPr>
              <a:defRPr/>
            </a:pPr>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35410296" name="Slide Image Placeholder 1"/>
          <p:cNvSpPr>
            <a:spLocks noChangeAspect="1" noGrp="1" noRot="1"/>
          </p:cNvSpPr>
          <p:nvPr>
            <p:ph type="sldImg"/>
          </p:nvPr>
        </p:nvSpPr>
        <p:spPr bwMode="auto"/>
      </p:sp>
      <p:sp>
        <p:nvSpPr>
          <p:cNvPr id="903744254" name="Notes Placeholder 2"/>
          <p:cNvSpPr>
            <a:spLocks noGrp="1"/>
          </p:cNvSpPr>
          <p:nvPr>
            <p:ph type="body" idx="1"/>
          </p:nvPr>
        </p:nvSpPr>
        <p:spPr bwMode="auto"/>
        <p:txBody>
          <a:bodyPr/>
          <a:lstStyle/>
          <a:p>
            <a:pPr>
              <a:defRPr/>
            </a:pPr>
            <a:r>
              <a:rPr lang="en-US"/>
              <a:t>This is the most important slide. A discovery flood leaves the robot driving perfectly normally, so the physics layer misses it entirely and the network layer catches it. A compromised authorized node uses a legitimate publisher name, so the network layer sees nothing wrong and the physics layer catches it. Neither layer alone is enough. That is the scientific justification for fusing them.</a:t>
            </a:r>
            <a:endParaRPr lang="en-US"/>
          </a:p>
        </p:txBody>
      </p:sp>
      <p:sp>
        <p:nvSpPr>
          <p:cNvPr id="729320461" name="Slide Number Placeholder 3"/>
          <p:cNvSpPr>
            <a:spLocks noGrp="1"/>
          </p:cNvSpPr>
          <p:nvPr>
            <p:ph type="sldNum" sz="quarter" idx="10"/>
          </p:nvPr>
        </p:nvSpPr>
        <p:spPr bwMode="auto"/>
        <p:txBody>
          <a:bodyPr/>
          <a:lstStyle/>
          <a:p>
            <a:pPr>
              <a:defRPr/>
            </a:pPr>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93956778" name="Slide Image Placeholder 1"/>
          <p:cNvSpPr>
            <a:spLocks noChangeAspect="1" noGrp="1" noRot="1"/>
          </p:cNvSpPr>
          <p:nvPr>
            <p:ph type="sldImg"/>
          </p:nvPr>
        </p:nvSpPr>
        <p:spPr bwMode="auto"/>
      </p:sp>
      <p:sp>
        <p:nvSpPr>
          <p:cNvPr id="1462217612" name="Notes Placeholder 2"/>
          <p:cNvSpPr>
            <a:spLocks noGrp="1"/>
          </p:cNvSpPr>
          <p:nvPr>
            <p:ph type="body" idx="1"/>
          </p:nvPr>
        </p:nvSpPr>
        <p:spPr bwMode="auto"/>
        <p:txBody>
          <a:bodyPr/>
          <a:lstStyle/>
          <a:p>
            <a:r>
              <a:t>Completed: the detector, the safety filter, a full Gazebo bench of the robot, fifty attack profiles, the live monitor and the Wireshark analysis. Remaining for completion on Tuesday: hardware deployment and the full evaluation. To be clear about what is new: physics-based detection exists and ROS 2 intrusion detection exists; fusing them on ROS 2, and showing that each layer is blind to something the other catches, is the contribution.</a:t>
            </a:r>
          </a:p>
        </p:txBody>
      </p:sp>
      <p:sp>
        <p:nvSpPr>
          <p:cNvPr id="1241476307" name="Slide Number Placeholder 3"/>
          <p:cNvSpPr>
            <a:spLocks noGrp="1"/>
          </p:cNvSpPr>
          <p:nvPr>
            <p:ph type="sldNum" sz="quarter" idx="10"/>
          </p:nvPr>
        </p:nvSpPr>
        <p:spPr bwMode="auto"/>
        <p:txBody>
          <a:bodyPr/>
          <a:lstStyle/>
          <a:p>
            <a:pPr>
              <a:defRPr/>
            </a:pPr>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45626339" name="Slide Image Placeholder 1"/>
          <p:cNvSpPr>
            <a:spLocks noChangeAspect="1" noGrp="1" noRot="1"/>
          </p:cNvSpPr>
          <p:nvPr>
            <p:ph type="sldImg"/>
          </p:nvPr>
        </p:nvSpPr>
        <p:spPr bwMode="auto"/>
      </p:sp>
      <p:sp>
        <p:nvSpPr>
          <p:cNvPr id="1550705048" name="Notes Placeholder 2"/>
          <p:cNvSpPr>
            <a:spLocks noGrp="1"/>
          </p:cNvSpPr>
          <p:nvPr>
            <p:ph type="body" idx="1"/>
          </p:nvPr>
        </p:nvSpPr>
        <p:spPr bwMode="auto"/>
        <p:txBody>
          <a:bodyPr/>
          <a:lstStyle/>
          <a:p>
            <a:r>
              <a:t>Design and simulation were complete for Review 1. Today, Review 2, covers the Gazebo bench and the live monitoring. The project is completed by Tuesday the 27th with hardware deployment and the full evaluation, and the report is submitted a week later, on the 3rd of November.</a:t>
            </a:r>
          </a:p>
        </p:txBody>
      </p:sp>
      <p:sp>
        <p:nvSpPr>
          <p:cNvPr id="904031357" name="Slide Number Placeholder 3"/>
          <p:cNvSpPr>
            <a:spLocks noGrp="1"/>
          </p:cNvSpPr>
          <p:nvPr>
            <p:ph type="sldNum" sz="quarter" idx="10"/>
          </p:nvPr>
        </p:nvSpPr>
        <p:spPr bwMode="auto"/>
        <p:txBody>
          <a:bodyPr/>
          <a:lstStyle/>
          <a:p>
            <a:pPr>
              <a:defRPr/>
            </a:pPr>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overall research gap, taken across both communities rather than paper by paper. Network security work never looks at the physics, control theory never looks at the network, and the one line of work that combines both needs labelled attack data and predates ROS 2. Nobody has fused the two on ROS 2 with no attack data and inline prevention. That is what this project does.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new result for Review 2, on the Gazebo simulation of my robot. I injected a hard spin, 4 radians per second, at 100 hertz on the command wire. Both layers fired: the network layer saw a publisher that is not on the allowlist, and the physics layer saw a command outside the robot's envelope, with the CUSUM crossing its limit. The safety filter forwarded the authorized command, and the robot came back to the racing line by itself - you can see the red trail turn green. The third number is a fidelity check: after rebuilding the simulation, wheel odometry stays within 7 millimetres of Gazebo's ground truth, where it had drifted 3.8 metres before.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operator view of the same attack. The dataflow shows which layer fired and that the safety filter is blocking; the charts show the attacker's command on the wire separating from the authorized one while the robot's track deviation stays small. Fifty attack profiles can be launched from here, the safety filter and each layer can be switched off live for the ablation, and in Wireshark the attacker is visible at packet level: its discovery announcements and a second writer on the command topic. The 100x and 0.02 s figures are from the kinematic bench; the Gazebo episode table is exported from this dashboard for the final report.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dt="0" ftr="0" hdr="0" sldNum="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25.png"/><Relationship Id="rId7" Type="http://schemas.openxmlformats.org/officeDocument/2006/relationships/notesSlide" Target="../notesSlides/notesSlide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6.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notesSlide" Target="../notesSlides/notesSlide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bg>
      <p:bgPr shadeToTitle="0">
        <a:solidFill>
          <a:srgbClr val="FFFFFF"/>
        </a:solidFill>
      </p:bgPr>
    </p:bg>
    <p:spTree>
      <p:nvGrpSpPr>
        <p:cNvPr id="1" name=""/>
        <p:cNvGrpSpPr/>
        <p:nvPr/>
      </p:nvGrpSpPr>
      <p:grpSpPr bwMode="auto">
        <a:xfrm>
          <a:off x="0" y="0"/>
          <a:ext cx="0" cy="0"/>
          <a:chOff x="0" y="0"/>
          <a:chExt cx="0" cy="0"/>
        </a:xfrm>
      </p:grpSpPr>
      <p:pic>
        <p:nvPicPr>
          <p:cNvPr id="948024598" name="Image 0" descr="/home/claude/deck/srm_logo.png"/>
          <p:cNvPicPr>
            <a:picLocks noChangeAspect="1"/>
          </p:cNvPicPr>
          <p:nvPr/>
        </p:nvPicPr>
        <p:blipFill rotWithShape="1">
          <a:blip r:embed="rId3"/>
          <a:stretch/>
        </p:blipFill>
        <p:spPr bwMode="auto">
          <a:xfrm>
            <a:off x="4864607" y="685800"/>
            <a:ext cx="2432303" cy="822960"/>
          </a:xfrm>
          <a:prstGeom prst="rect">
            <a:avLst/>
          </a:prstGeom>
        </p:spPr>
      </p:pic>
      <p:sp>
        <p:nvSpPr>
          <p:cNvPr id="1951321896" name="Text 0"/>
          <p:cNvSpPr txBox="1"/>
          <p:nvPr/>
        </p:nvSpPr>
        <p:spPr bwMode="auto">
          <a:xfrm>
            <a:off x="731520" y="1691640"/>
            <a:ext cx="10698480" cy="274320"/>
          </a:xfrm>
          <a:prstGeom prst="rect">
            <a:avLst/>
          </a:prstGeom>
          <a:noFill/>
          <a:ln/>
        </p:spPr>
        <p:txBody>
          <a:bodyPr wrap="square" lIns="0" tIns="0" rIns="0" bIns="0" rtlCol="0" anchor="ctr"/>
          <a:lstStyle/>
          <a:p>
            <a:pPr marL="0" indent="0" algn="ctr">
              <a:buNone/>
              <a:defRPr/>
            </a:pPr>
            <a:r>
              <a:rPr lang="en-US" sz="1300" spc="100">
                <a:solidFill>
                  <a:srgbClr val="5A6672"/>
                </a:solidFill>
                <a:latin typeface="Calibri"/>
                <a:ea typeface="Calibri"/>
                <a:cs typeface="Calibri"/>
              </a:rPr>
              <a:t>SRM INSTITUTE OF SCIENCE AND TECHNOLOGY</a:t>
            </a:r>
            <a:endParaRPr lang="en-US" sz="1300"/>
          </a:p>
        </p:txBody>
      </p:sp>
      <p:sp>
        <p:nvSpPr>
          <p:cNvPr id="734145136" name="Text 1"/>
          <p:cNvSpPr txBox="1"/>
          <p:nvPr/>
        </p:nvSpPr>
        <p:spPr bwMode="auto">
          <a:xfrm>
            <a:off x="731520" y="1956816"/>
            <a:ext cx="10698480" cy="274320"/>
          </a:xfrm>
          <a:prstGeom prst="rect">
            <a:avLst/>
          </a:prstGeom>
          <a:noFill/>
          <a:ln/>
        </p:spPr>
        <p:txBody>
          <a:bodyPr wrap="square" lIns="0" tIns="0" rIns="0" bIns="0" rtlCol="0" anchor="ctr"/>
          <a:lstStyle/>
          <a:p>
            <a:pPr marL="0" indent="0" algn="ctr">
              <a:buNone/>
              <a:defRPr/>
            </a:pPr>
            <a:r>
              <a:rPr lang="en-US" sz="1200">
                <a:solidFill>
                  <a:srgbClr val="5A6672"/>
                </a:solidFill>
                <a:latin typeface="Calibri"/>
                <a:ea typeface="Calibri"/>
                <a:cs typeface="Calibri"/>
              </a:rPr>
              <a:t>Department of Electronics and Communication Engineering</a:t>
            </a:r>
            <a:endParaRPr lang="en-US" sz="1200"/>
          </a:p>
        </p:txBody>
      </p:sp>
      <p:sp>
        <p:nvSpPr>
          <p:cNvPr id="436954796" name="Shape 2"/>
          <p:cNvSpPr/>
          <p:nvPr/>
        </p:nvSpPr>
        <p:spPr bwMode="auto">
          <a:xfrm>
            <a:off x="4114800" y="2487168"/>
            <a:ext cx="3931920" cy="0"/>
          </a:xfrm>
          <a:prstGeom prst="line">
            <a:avLst/>
          </a:prstGeom>
          <a:noFill/>
          <a:ln w="12700">
            <a:solidFill>
              <a:srgbClr val="C9D2DC"/>
            </a:solidFill>
            <a:prstDash val="solid"/>
          </a:ln>
        </p:spPr>
        <p:txBody>
          <a:bodyPr/>
          <a:p/>
        </p:txBody>
      </p:sp>
      <p:sp>
        <p:nvSpPr>
          <p:cNvPr id="1227607250" name="Text 3"/>
          <p:cNvSpPr txBox="1"/>
          <p:nvPr/>
        </p:nvSpPr>
        <p:spPr bwMode="auto">
          <a:xfrm>
            <a:off x="731520" y="2670048"/>
            <a:ext cx="10698480" cy="566928"/>
          </a:xfrm>
          <a:prstGeom prst="rect">
            <a:avLst/>
          </a:prstGeom>
          <a:noFill/>
          <a:ln/>
        </p:spPr>
        <p:txBody>
          <a:bodyPr wrap="square" lIns="0" tIns="0" rIns="0" bIns="0" rtlCol="0" anchor="ctr"/>
          <a:lstStyle/>
          <a:p>
            <a:pPr marL="0" indent="0" algn="ctr">
              <a:buNone/>
              <a:defRPr/>
            </a:pPr>
            <a:r>
              <a:rPr lang="en-US" sz="3800" b="1">
                <a:solidFill>
                  <a:srgbClr val="14509B"/>
                </a:solidFill>
                <a:latin typeface="Cambria"/>
                <a:ea typeface="Cambria"/>
                <a:cs typeface="Cambria"/>
              </a:rPr>
              <a:t>Cross-Layer Intrusion Detection</a:t>
            </a:r>
            <a:endParaRPr lang="en-US" sz="3800"/>
          </a:p>
        </p:txBody>
      </p:sp>
      <p:sp>
        <p:nvSpPr>
          <p:cNvPr id="1620322191" name="Text 4"/>
          <p:cNvSpPr txBox="1"/>
          <p:nvPr/>
        </p:nvSpPr>
        <p:spPr bwMode="auto">
          <a:xfrm>
            <a:off x="731520" y="3218688"/>
            <a:ext cx="10698480" cy="502920"/>
          </a:xfrm>
          <a:prstGeom prst="rect">
            <a:avLst/>
          </a:prstGeom>
          <a:noFill/>
          <a:ln/>
        </p:spPr>
        <p:txBody>
          <a:bodyPr wrap="square" lIns="0" tIns="0" rIns="0" bIns="0" rtlCol="0" anchor="ctr"/>
          <a:lstStyle/>
          <a:p>
            <a:pPr marL="0" indent="0" algn="ctr">
              <a:buNone/>
              <a:defRPr/>
            </a:pPr>
            <a:r>
              <a:rPr lang="en-US" sz="3800" b="1">
                <a:solidFill>
                  <a:srgbClr val="14509B"/>
                </a:solidFill>
                <a:latin typeface="Cambria"/>
                <a:ea typeface="Cambria"/>
                <a:cs typeface="Cambria"/>
              </a:rPr>
              <a:t>for ROS 2 Robotic Networks</a:t>
            </a:r>
            <a:endParaRPr lang="en-US" sz="3800"/>
          </a:p>
        </p:txBody>
      </p:sp>
      <p:sp>
        <p:nvSpPr>
          <p:cNvPr id="632505422" name="Text 5"/>
          <p:cNvSpPr txBox="1"/>
          <p:nvPr/>
        </p:nvSpPr>
        <p:spPr bwMode="auto">
          <a:xfrm>
            <a:off x="731520" y="3858768"/>
            <a:ext cx="10698480" cy="320040"/>
          </a:xfrm>
          <a:prstGeom prst="rect">
            <a:avLst/>
          </a:prstGeom>
          <a:noFill/>
          <a:ln/>
        </p:spPr>
        <p:txBody>
          <a:bodyPr wrap="square" lIns="0" tIns="0" rIns="0" bIns="0" rtlCol="0" anchor="ctr"/>
          <a:lstStyle/>
          <a:p>
            <a:pPr marL="0" indent="0" algn="ctr">
              <a:buNone/>
              <a:defRPr/>
            </a:pPr>
            <a:r>
              <a:rPr lang="en-US" sz="1300" i="1">
                <a:solidFill>
                  <a:srgbClr val="5A6672"/>
                </a:solidFill>
                <a:latin typeface="Calibri"/>
                <a:ea typeface="Calibri"/>
                <a:cs typeface="Calibri"/>
              </a:rPr>
              <a:t>Detecting command injection and spoofing on unauthenticated DDS/UDP robot networks</a:t>
            </a:r>
            <a:endParaRPr lang="en-US" sz="1300"/>
          </a:p>
        </p:txBody>
      </p:sp>
      <p:sp>
        <p:nvSpPr>
          <p:cNvPr id="630332079" name="Text 6"/>
          <p:cNvSpPr txBox="1"/>
          <p:nvPr/>
        </p:nvSpPr>
        <p:spPr bwMode="auto">
          <a:xfrm>
            <a:off x="731520" y="4526280"/>
            <a:ext cx="10698480" cy="1463040"/>
          </a:xfrm>
          <a:prstGeom prst="rect">
            <a:avLst/>
          </a:prstGeom>
          <a:noFill/>
          <a:ln/>
        </p:spPr>
        <p:txBody>
          <a:bodyPr wrap="square" lIns="0" tIns="0" rIns="0" bIns="0" rtlCol="0" anchor="ctr"/>
          <a:lstStyle/>
          <a:p>
            <a:pPr marL="0" indent="0" algn="ctr">
              <a:spcAft>
                <a:spcPts val="800"/>
              </a:spcAft>
              <a:buNone/>
              <a:defRPr/>
            </a:pPr>
            <a:r>
              <a:rPr lang="en-US" sz="1200">
                <a:solidFill>
                  <a:srgbClr val="5A6672"/>
                </a:solidFill>
                <a:latin typeface="Calibri"/>
                <a:ea typeface="Calibri"/>
                <a:cs typeface="Calibri"/>
              </a:rPr>
              <a:t>Mini Project  |  Review 2</a:t>
            </a:r>
            <a:endParaRPr lang="en-US" sz="1200"/>
          </a:p>
          <a:p>
            <a:pPr marL="0" indent="0" algn="ctr">
              <a:spcAft>
                <a:spcPts val="1400"/>
              </a:spcAft>
              <a:buNone/>
              <a:defRPr/>
            </a:pPr>
            <a:r>
              <a:rPr lang="en-US" sz="1300">
                <a:solidFill>
                  <a:srgbClr val="1A1A1A"/>
                </a:solidFill>
                <a:latin typeface="Calibri"/>
                <a:ea typeface="Calibri"/>
                <a:cs typeface="Calibri"/>
              </a:rPr>
              <a:t>21ECC402P  -  Computer Communication and Network Security</a:t>
            </a:r>
            <a:endParaRPr lang="en-US" sz="1200"/>
          </a:p>
          <a:p>
            <a:pPr marL="0" indent="0" algn="ctr">
              <a:spcAft>
                <a:spcPts val="400"/>
              </a:spcAft>
              <a:buNone/>
              <a:defRPr/>
            </a:pPr>
            <a:r>
              <a:rPr lang="en-US" sz="1600" b="1">
                <a:solidFill>
                  <a:srgbClr val="14509B"/>
                </a:solidFill>
                <a:latin typeface="Calibri"/>
                <a:ea typeface="Calibri"/>
                <a:cs typeface="Calibri"/>
              </a:rPr>
              <a:t>Shyam Rithin S</a:t>
            </a:r>
            <a:endParaRPr lang="en-US" sz="1200"/>
          </a:p>
          <a:p>
            <a:pPr marL="0" indent="0" algn="ctr">
              <a:buNone/>
              <a:defRPr/>
            </a:pPr>
            <a:r>
              <a:rPr lang="en-US" sz="1300">
                <a:solidFill>
                  <a:srgbClr val="1A1A1A"/>
                </a:solidFill>
                <a:latin typeface="Calibri"/>
                <a:ea typeface="Calibri"/>
                <a:cs typeface="Calibri"/>
              </a:rPr>
              <a:t>RA2311004010308</a:t>
            </a:r>
            <a:endParaRPr lang="en-US"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
    <p:bg>
      <p:bgPr shadeToTitle="0">
        <a:solidFill>
          <a:srgbClr val="FFFFFF"/>
        </a:solidFill>
      </p:bgPr>
    </p:bg>
    <p:spTree>
      <p:nvGrpSpPr>
        <p:cNvPr id="1" name=""/>
        <p:cNvGrpSpPr/>
        <p:nvPr/>
      </p:nvGrpSpPr>
      <p:grpSpPr bwMode="auto">
        <a:xfrm>
          <a:off x="0" y="0"/>
          <a:ext cx="0" cy="0"/>
          <a:chOff x="0" y="0"/>
          <a:chExt cx="0" cy="0"/>
        </a:xfrm>
      </p:grpSpPr>
      <p:pic>
        <p:nvPicPr>
          <p:cNvPr id="491578405" name="Image 0" descr="/home/claude/deck/srm_logo.png"/>
          <p:cNvPicPr>
            <a:picLocks noChangeAspect="1"/>
          </p:cNvPicPr>
          <p:nvPr/>
        </p:nvPicPr>
        <p:blipFill rotWithShape="1">
          <a:blip r:embed="rId3"/>
          <a:stretch/>
        </p:blipFill>
        <p:spPr bwMode="auto">
          <a:xfrm>
            <a:off x="10195560" y="256032"/>
            <a:ext cx="1572768" cy="530352"/>
          </a:xfrm>
          <a:prstGeom prst="rect">
            <a:avLst/>
          </a:prstGeom>
        </p:spPr>
      </p:pic>
      <p:sp>
        <p:nvSpPr>
          <p:cNvPr id="1863168975" name="Text 0"/>
          <p:cNvSpPr txBox="1"/>
          <p:nvPr/>
        </p:nvSpPr>
        <p:spPr bwMode="auto">
          <a:xfrm>
            <a:off x="502920" y="274320"/>
            <a:ext cx="9418320" cy="475488"/>
          </a:xfrm>
          <a:prstGeom prst="rect">
            <a:avLst/>
          </a:prstGeom>
          <a:noFill/>
          <a:ln/>
        </p:spPr>
        <p:txBody>
          <a:bodyPr wrap="square" lIns="0" tIns="0" rIns="0" bIns="0" rtlCol="0" anchor="ctr"/>
          <a:lstStyle/>
          <a:p>
            <a:pPr marL="0" indent="0" algn="l">
              <a:buNone/>
              <a:defRPr/>
            </a:pPr>
            <a:r>
              <a:rPr lang="en-US" sz="2700" b="1">
                <a:solidFill>
                  <a:srgbClr val="14509B"/>
                </a:solidFill>
                <a:latin typeface="Cambria"/>
                <a:ea typeface="Cambria"/>
                <a:cs typeface="Cambria"/>
              </a:rPr>
              <a:t>Introduction to ROS2</a:t>
            </a:r>
            <a:endParaRPr lang="en-US" sz="2700"/>
          </a:p>
        </p:txBody>
      </p:sp>
      <p:sp>
        <p:nvSpPr>
          <p:cNvPr id="550121879" name="Text 1"/>
          <p:cNvSpPr txBox="1"/>
          <p:nvPr/>
        </p:nvSpPr>
        <p:spPr bwMode="auto">
          <a:xfrm>
            <a:off x="502920" y="749808"/>
            <a:ext cx="9418320" cy="292608"/>
          </a:xfrm>
          <a:prstGeom prst="rect">
            <a:avLst/>
          </a:prstGeom>
          <a:noFill/>
          <a:ln/>
        </p:spPr>
        <p:txBody>
          <a:bodyPr wrap="square" lIns="0" tIns="0" rIns="0" bIns="0" rtlCol="0" anchor="ctr"/>
          <a:lstStyle/>
          <a:p>
            <a:pPr marL="0" indent="0" algn="l">
              <a:buNone/>
              <a:defRPr/>
            </a:pPr>
            <a:endParaRPr lang="en-US" sz="1300"/>
          </a:p>
        </p:txBody>
      </p:sp>
      <p:graphicFrame>
        <p:nvGraphicFramePr>
          <p:cNvPr id="1421533408" name="Table 0"/>
          <p:cNvGraphicFramePr>
            <a:graphicFrameLocks xmlns:a="http://schemas.openxmlformats.org/drawingml/2006/main" noGrp="1"/>
          </p:cNvGraphicFramePr>
          <p:nvPr/>
        </p:nvGraphicFramePr>
        <p:xfrm rot="0">
          <a:off x="502920" y="1188720"/>
          <a:ext cx="7452360" cy="914400"/>
        </p:xfrm>
        <a:graphic>
          <a:graphicData uri="http://schemas.openxmlformats.org/drawingml/2006/table">
            <a:tbl>
              <a:tblPr firstRow="0" firstCol="0" lastRow="0" lastCol="0" bandRow="0" bandCol="0"/>
              <a:tblGrid>
                <a:gridCol w="1417320"/>
                <a:gridCol w="3520440"/>
                <a:gridCol w="2514600"/>
              </a:tblGrid>
              <a:tr h="347472">
                <a:tc>
                  <a:txBody>
                    <a:bodyPr/>
                    <a:p>
                      <a:pPr marL="0" indent="0">
                        <a:buNone/>
                        <a:defRPr/>
                      </a:pPr>
                      <a:r>
                        <a:rPr lang="en-US" sz="1050" b="1">
                          <a:solidFill>
                            <a:srgbClr val="FFFFFF"/>
                          </a:solidFill>
                          <a:latin typeface="Calibri"/>
                          <a:ea typeface="Calibri"/>
                          <a:cs typeface="Calibri"/>
                        </a:rPr>
                        <a:t>ROS 2 term</a:t>
                      </a:r>
                      <a:endParaRPr lang="en-US" sz="1050">
                        <a:latin typeface="Calibri"/>
                        <a:ea typeface="Calibri"/>
                        <a:cs typeface="Calibri"/>
                      </a:endParaRPr>
                    </a:p>
                  </a:txBody>
                  <a:tcPr marL="63500" marR="63500" marT="50800" marB="50800" anchor="ctr">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14509B"/>
                    </a:solidFill>
                  </a:tcPr>
                </a:tc>
                <a:tc>
                  <a:txBody>
                    <a:bodyPr/>
                    <a:p>
                      <a:pPr marL="0" indent="0">
                        <a:buNone/>
                        <a:defRPr/>
                      </a:pPr>
                      <a:r>
                        <a:rPr lang="en-US" sz="1050" b="1">
                          <a:solidFill>
                            <a:srgbClr val="FFFFFF"/>
                          </a:solidFill>
                          <a:latin typeface="Calibri"/>
                          <a:ea typeface="Calibri"/>
                          <a:cs typeface="Calibri"/>
                        </a:rPr>
                        <a:t>What it is</a:t>
                      </a:r>
                      <a:endParaRPr lang="en-US" sz="1050">
                        <a:latin typeface="Calibri"/>
                        <a:ea typeface="Calibri"/>
                        <a:cs typeface="Calibri"/>
                      </a:endParaRPr>
                    </a:p>
                  </a:txBody>
                  <a:tcPr marL="63500" marR="63500" marT="50800" marB="50800" anchor="ctr">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14509B"/>
                    </a:solidFill>
                  </a:tcPr>
                </a:tc>
                <a:tc>
                  <a:txBody>
                    <a:bodyPr/>
                    <a:p>
                      <a:pPr marL="0" indent="0">
                        <a:buNone/>
                        <a:defRPr/>
                      </a:pPr>
                      <a:r>
                        <a:rPr lang="en-US" sz="1050" b="1">
                          <a:solidFill>
                            <a:srgbClr val="FFFFFF"/>
                          </a:solidFill>
                          <a:latin typeface="Calibri"/>
                          <a:ea typeface="Calibri"/>
                          <a:cs typeface="Calibri"/>
                        </a:rPr>
                        <a:t>Networking equivalent</a:t>
                      </a:r>
                      <a:endParaRPr lang="en-US" sz="1050">
                        <a:latin typeface="Calibri"/>
                        <a:ea typeface="Calibri"/>
                        <a:cs typeface="Calibri"/>
                      </a:endParaRPr>
                    </a:p>
                  </a:txBody>
                  <a:tcPr marL="63500" marR="63500" marT="50800" marB="50800" anchor="ctr">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14509B"/>
                    </a:solidFill>
                  </a:tcPr>
                </a:tc>
              </a:tr>
              <a:tr h="841248">
                <a:tc>
                  <a:txBody>
                    <a:bodyPr/>
                    <a:p>
                      <a:pPr marL="0" indent="0">
                        <a:buNone/>
                        <a:defRPr/>
                      </a:pPr>
                      <a:r>
                        <a:rPr lang="en-US" sz="1200" b="1">
                          <a:solidFill>
                            <a:srgbClr val="14509B"/>
                          </a:solidFill>
                          <a:latin typeface="Calibri"/>
                          <a:ea typeface="Calibri"/>
                          <a:cs typeface="Calibri"/>
                        </a:rPr>
                        <a:t>Node</a:t>
                      </a:r>
                      <a:endParaRPr lang="en-US" sz="120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tcPr>
                </a:tc>
                <a:tc>
                  <a:txBody>
                    <a:bodyPr/>
                    <a:p>
                      <a:pPr marL="0" indent="0">
                        <a:buNone/>
                        <a:defRPr/>
                      </a:pPr>
                      <a:r>
                        <a:rPr lang="en-US" sz="1200">
                          <a:solidFill>
                            <a:srgbClr val="1A1A1A"/>
                          </a:solidFill>
                          <a:latin typeface="Calibri"/>
                          <a:ea typeface="Calibri"/>
                          <a:cs typeface="Calibri"/>
                        </a:rPr>
                        <a:t>One program doing one job - a navigation planner, a sensor driver, a motor controller.</a:t>
                      </a:r>
                      <a:endParaRPr lang="en-US" sz="120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tcPr>
                </a:tc>
                <a:tc>
                  <a:txBody>
                    <a:bodyPr/>
                    <a:p>
                      <a:pPr marL="0" indent="0">
                        <a:buNone/>
                        <a:defRPr/>
                      </a:pPr>
                      <a:r>
                        <a:rPr lang="en-US" sz="1200">
                          <a:solidFill>
                            <a:srgbClr val="1A1A1A"/>
                          </a:solidFill>
                          <a:latin typeface="Calibri"/>
                          <a:ea typeface="Calibri"/>
                          <a:cs typeface="Calibri"/>
                        </a:rPr>
                        <a:t>A process or endpoint on the network.</a:t>
                      </a:r>
                      <a:endParaRPr lang="en-US" sz="120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tcPr>
                </a:tc>
              </a:tr>
              <a:tr h="841248">
                <a:tc>
                  <a:txBody>
                    <a:bodyPr/>
                    <a:p>
                      <a:pPr marL="0" indent="0">
                        <a:buNone/>
                        <a:defRPr/>
                      </a:pPr>
                      <a:r>
                        <a:rPr lang="en-US" sz="1200" b="1">
                          <a:solidFill>
                            <a:srgbClr val="14509B"/>
                          </a:solidFill>
                          <a:latin typeface="Calibri"/>
                          <a:ea typeface="Calibri"/>
                          <a:cs typeface="Calibri"/>
                        </a:rPr>
                        <a:t>Topic</a:t>
                      </a:r>
                      <a:endParaRPr lang="en-US" sz="120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EEF3F8"/>
                    </a:solidFill>
                  </a:tcPr>
                </a:tc>
                <a:tc>
                  <a:txBody>
                    <a:bodyPr/>
                    <a:p>
                      <a:pPr marL="0" indent="0">
                        <a:buNone/>
                        <a:defRPr/>
                      </a:pPr>
                      <a:r>
                        <a:rPr lang="en-US" sz="1200">
                          <a:solidFill>
                            <a:srgbClr val="1A1A1A"/>
                          </a:solidFill>
                          <a:latin typeface="Calibri"/>
                          <a:ea typeface="Calibri"/>
                          <a:cs typeface="Calibri"/>
                        </a:rPr>
                        <a:t>A named channel that messages flow on, for example /cmd_vel for velocity commands.</a:t>
                      </a:r>
                      <a:endParaRPr lang="en-US" sz="120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EEF3F8"/>
                    </a:solidFill>
                  </a:tcPr>
                </a:tc>
                <a:tc>
                  <a:txBody>
                    <a:bodyPr/>
                    <a:p>
                      <a:pPr marL="0" indent="0">
                        <a:buNone/>
                        <a:defRPr/>
                      </a:pPr>
                      <a:r>
                        <a:rPr lang="en-US" sz="1200">
                          <a:solidFill>
                            <a:srgbClr val="1A1A1A"/>
                          </a:solidFill>
                          <a:latin typeface="Calibri"/>
                          <a:ea typeface="Calibri"/>
                          <a:cs typeface="Calibri"/>
                        </a:rPr>
                        <a:t>A named multicast channel.</a:t>
                      </a:r>
                      <a:endParaRPr lang="en-US" sz="120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EEF3F8"/>
                    </a:solidFill>
                  </a:tcPr>
                </a:tc>
              </a:tr>
              <a:tr h="841248">
                <a:tc>
                  <a:txBody>
                    <a:bodyPr/>
                    <a:p>
                      <a:pPr marL="0" indent="0">
                        <a:buNone/>
                        <a:defRPr/>
                      </a:pPr>
                      <a:r>
                        <a:rPr lang="en-US" sz="1200" b="1">
                          <a:solidFill>
                            <a:srgbClr val="14509B"/>
                          </a:solidFill>
                          <a:latin typeface="Calibri"/>
                          <a:ea typeface="Calibri"/>
                          <a:cs typeface="Calibri"/>
                        </a:rPr>
                        <a:t>Publisher /</a:t>
                      </a:r>
                      <a:endParaRPr lang="en-US" sz="1200">
                        <a:latin typeface="Calibri"/>
                        <a:ea typeface="Calibri"/>
                        <a:cs typeface="Calibri"/>
                      </a:endParaRPr>
                    </a:p>
                    <a:p>
                      <a:pPr marL="0" indent="0">
                        <a:buNone/>
                        <a:defRPr/>
                      </a:pPr>
                      <a:r>
                        <a:rPr lang="en-US" sz="1200" b="1">
                          <a:solidFill>
                            <a:srgbClr val="14509B"/>
                          </a:solidFill>
                          <a:latin typeface="Calibri"/>
                          <a:ea typeface="Calibri"/>
                          <a:cs typeface="Calibri"/>
                        </a:rPr>
                        <a:t>Subscriber</a:t>
                      </a:r>
                      <a:endParaRPr lang="en-US" sz="120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tcPr>
                </a:tc>
                <a:tc>
                  <a:txBody>
                    <a:bodyPr/>
                    <a:p>
                      <a:pPr marL="0" indent="0">
                        <a:buNone/>
                        <a:defRPr/>
                      </a:pPr>
                      <a:r>
                        <a:rPr lang="en-US" sz="1200">
                          <a:solidFill>
                            <a:srgbClr val="1A1A1A"/>
                          </a:solidFill>
                          <a:latin typeface="Calibri"/>
                          <a:ea typeface="Calibri"/>
                          <a:cs typeface="Calibri"/>
                        </a:rPr>
                        <a:t>A node that sends messages to a topic, and a node that receives them from it.</a:t>
                      </a:r>
                      <a:endParaRPr lang="en-US" sz="120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tcPr>
                </a:tc>
                <a:tc>
                  <a:txBody>
                    <a:bodyPr/>
                    <a:p>
                      <a:pPr marL="0" indent="0">
                        <a:buNone/>
                        <a:defRPr/>
                      </a:pPr>
                      <a:r>
                        <a:rPr lang="en-US" sz="1200">
                          <a:solidFill>
                            <a:srgbClr val="1A1A1A"/>
                          </a:solidFill>
                          <a:latin typeface="Calibri"/>
                          <a:ea typeface="Calibri"/>
                          <a:cs typeface="Calibri"/>
                        </a:rPr>
                        <a:t>Many-to-many messaging with no direct connection between the two ends.</a:t>
                      </a:r>
                      <a:endParaRPr lang="en-US" sz="120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tcPr>
                </a:tc>
              </a:tr>
              <a:tr h="841248">
                <a:tc>
                  <a:txBody>
                    <a:bodyPr/>
                    <a:p>
                      <a:pPr marL="0" indent="0">
                        <a:buNone/>
                        <a:defRPr/>
                      </a:pPr>
                      <a:r>
                        <a:rPr lang="en-US" sz="1200" b="1">
                          <a:solidFill>
                            <a:srgbClr val="14509B"/>
                          </a:solidFill>
                          <a:latin typeface="Calibri"/>
                          <a:ea typeface="Calibri"/>
                          <a:cs typeface="Calibri"/>
                        </a:rPr>
                        <a:t>DDS</a:t>
                      </a:r>
                      <a:endParaRPr lang="en-US" sz="120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EEF3F8"/>
                    </a:solidFill>
                  </a:tcPr>
                </a:tc>
                <a:tc>
                  <a:txBody>
                    <a:bodyPr/>
                    <a:p>
                      <a:pPr marL="0" indent="0">
                        <a:buNone/>
                        <a:defRPr/>
                      </a:pPr>
                      <a:r>
                        <a:rPr lang="en-US" sz="1200">
                          <a:solidFill>
                            <a:srgbClr val="1A1A1A"/>
                          </a:solidFill>
                          <a:latin typeface="Calibri"/>
                          <a:ea typeface="Calibri"/>
                          <a:cs typeface="Calibri"/>
                        </a:rPr>
                        <a:t>The middleware that actually moves the messages between nodes.</a:t>
                      </a:r>
                      <a:endParaRPr lang="en-US" sz="120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EEF3F8"/>
                    </a:solidFill>
                  </a:tcPr>
                </a:tc>
                <a:tc>
                  <a:txBody>
                    <a:bodyPr/>
                    <a:p>
                      <a:pPr marL="0" indent="0">
                        <a:buNone/>
                        <a:defRPr/>
                      </a:pPr>
                      <a:r>
                        <a:rPr lang="en-US" sz="1200">
                          <a:solidFill>
                            <a:srgbClr val="1A1A1A"/>
                          </a:solidFill>
                          <a:latin typeface="Calibri"/>
                          <a:ea typeface="Calibri"/>
                          <a:cs typeface="Calibri"/>
                        </a:rPr>
                        <a:t>An application-layer protocol running over UDP/IP, ports 7400 + 250 x domain ID (17900-18149 here).</a:t>
                      </a:r>
                      <a:endParaRPr lang="en-US" sz="120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EEF3F8"/>
                    </a:solidFill>
                  </a:tcPr>
                </a:tc>
              </a:tr>
            </a:tbl>
          </a:graphicData>
        </a:graphic>
      </p:graphicFrame>
      <p:pic>
        <p:nvPicPr>
          <p:cNvPr id="1259583241" name="Image 1" descr="/home/claude/deck/illus_pubsub.png"/>
          <p:cNvPicPr>
            <a:picLocks noChangeAspect="1"/>
          </p:cNvPicPr>
          <p:nvPr/>
        </p:nvPicPr>
        <p:blipFill rotWithShape="1">
          <a:blip r:embed="rId4"/>
          <a:stretch/>
        </p:blipFill>
        <p:spPr bwMode="auto">
          <a:xfrm>
            <a:off x="8138160" y="1225296"/>
            <a:ext cx="3520440" cy="2670048"/>
          </a:xfrm>
          <a:prstGeom prst="rect">
            <a:avLst/>
          </a:prstGeom>
        </p:spPr>
      </p:pic>
      <p:sp>
        <p:nvSpPr>
          <p:cNvPr id="1334364014" name="Text 2"/>
          <p:cNvSpPr txBox="1"/>
          <p:nvPr/>
        </p:nvSpPr>
        <p:spPr bwMode="auto">
          <a:xfrm>
            <a:off x="8138160" y="3950208"/>
            <a:ext cx="3520440" cy="274320"/>
          </a:xfrm>
          <a:prstGeom prst="rect">
            <a:avLst/>
          </a:prstGeom>
          <a:noFill/>
          <a:ln/>
        </p:spPr>
        <p:txBody>
          <a:bodyPr wrap="square" lIns="0" tIns="0" rIns="0" bIns="0" rtlCol="0" anchor="ctr"/>
          <a:lstStyle/>
          <a:p>
            <a:pPr marL="0" indent="0" algn="ctr">
              <a:buNone/>
              <a:defRPr/>
            </a:pPr>
            <a:r>
              <a:rPr lang="en-US" sz="1000" i="1">
                <a:solidFill>
                  <a:srgbClr val="5A6672"/>
                </a:solidFill>
                <a:latin typeface="Calibri"/>
                <a:ea typeface="Calibri"/>
                <a:cs typeface="Calibri"/>
              </a:rPr>
              <a:t>Fig. 2  -  Publish / subscribe on a topic.</a:t>
            </a:r>
            <a:endParaRPr lang="en-US" sz="1000"/>
          </a:p>
        </p:txBody>
      </p:sp>
      <p:sp>
        <p:nvSpPr>
          <p:cNvPr id="227974543" name="Shape 3"/>
          <p:cNvSpPr/>
          <p:nvPr/>
        </p:nvSpPr>
        <p:spPr bwMode="auto">
          <a:xfrm>
            <a:off x="502920" y="4937760"/>
            <a:ext cx="11155680" cy="841248"/>
          </a:xfrm>
          <a:prstGeom prst="roundRect">
            <a:avLst>
              <a:gd name="adj" fmla="val 3261"/>
            </a:avLst>
          </a:prstGeom>
          <a:solidFill>
            <a:srgbClr val="FFFFFF"/>
          </a:solidFill>
          <a:ln w="15875">
            <a:solidFill>
              <a:srgbClr val="14509B"/>
            </a:solidFill>
            <a:prstDash val="solid"/>
          </a:ln>
        </p:spPr>
        <p:txBody>
          <a:bodyPr/>
          <a:p/>
        </p:txBody>
      </p:sp>
      <p:sp>
        <p:nvSpPr>
          <p:cNvPr id="1195965791" name="Text 4"/>
          <p:cNvSpPr txBox="1"/>
          <p:nvPr/>
        </p:nvSpPr>
        <p:spPr bwMode="auto">
          <a:xfrm>
            <a:off x="777240" y="5120640"/>
            <a:ext cx="10607040" cy="548640"/>
          </a:xfrm>
          <a:prstGeom prst="rect">
            <a:avLst/>
          </a:prstGeom>
          <a:noFill/>
          <a:ln/>
        </p:spPr>
        <p:txBody>
          <a:bodyPr wrap="square" lIns="0" tIns="0" rIns="0" bIns="0" rtlCol="0" anchor="ctr"/>
          <a:lstStyle/>
          <a:p>
            <a:pPr marL="0" indent="0">
              <a:buNone/>
              <a:defRPr/>
            </a:pPr>
            <a:r>
              <a:rPr lang="en-US" sz="1400" b="1">
                <a:solidFill>
                  <a:srgbClr val="14509B"/>
                </a:solidFill>
                <a:latin typeface="Calibri"/>
                <a:ea typeface="Calibri"/>
                <a:cs typeface="Calibri"/>
              </a:rPr>
              <a:t>Putting it together:  </a:t>
            </a:r>
            <a:r>
              <a:rPr lang="en-US" sz="1400">
                <a:solidFill>
                  <a:srgbClr val="1A1A1A"/>
                </a:solidFill>
                <a:latin typeface="Calibri"/>
                <a:ea typeface="Calibri"/>
                <a:cs typeface="Calibri"/>
              </a:rPr>
              <a:t>/cmd_vel is a topic, and the robot's motor driver subscribes to it. Any node that publishes to that topic drives the robot - and DDS does not check which node that is.</a:t>
            </a:r>
            <a:endParaRPr lang="en-US" sz="1400"/>
          </a:p>
        </p:txBody>
      </p:sp>
      <p:sp>
        <p:nvSpPr>
          <p:cNvPr id="1174632757" name="Text 5"/>
          <p:cNvSpPr txBox="1"/>
          <p:nvPr/>
        </p:nvSpPr>
        <p:spPr bwMode="auto">
          <a:xfrm>
            <a:off x="502920" y="6419088"/>
            <a:ext cx="7315200" cy="256032"/>
          </a:xfrm>
          <a:prstGeom prst="rect">
            <a:avLst/>
          </a:prstGeom>
          <a:noFill/>
          <a:ln/>
        </p:spPr>
        <p:txBody>
          <a:bodyPr wrap="square" lIns="0" tIns="0" rIns="0" bIns="0" rtlCol="0" anchor="ctr"/>
          <a:lstStyle/>
          <a:p>
            <a:pPr marL="0" indent="0">
              <a:buNone/>
              <a:defRPr/>
            </a:pPr>
            <a:r>
              <a:rPr lang="en-US" sz="900">
                <a:solidFill>
                  <a:srgbClr val="5A6672"/>
                </a:solidFill>
                <a:latin typeface="Calibri"/>
                <a:ea typeface="Calibri"/>
                <a:cs typeface="Calibri"/>
              </a:rPr>
              <a:t>21ECC402P  |  Shyam Rithin S  |  RA2311004010308</a:t>
            </a:r>
            <a:endParaRPr lang="en-US" sz="900"/>
          </a:p>
        </p:txBody>
      </p:sp>
      <p:sp>
        <p:nvSpPr>
          <p:cNvPr id="1515281765" name="Text 6"/>
          <p:cNvSpPr txBox="1"/>
          <p:nvPr/>
        </p:nvSpPr>
        <p:spPr bwMode="auto">
          <a:xfrm>
            <a:off x="11247120" y="6419088"/>
            <a:ext cx="457200" cy="256032"/>
          </a:xfrm>
          <a:prstGeom prst="rect">
            <a:avLst/>
          </a:prstGeom>
          <a:noFill/>
          <a:ln/>
        </p:spPr>
        <p:txBody>
          <a:bodyPr wrap="square" lIns="0" tIns="0" rIns="0" bIns="0" rtlCol="0" anchor="ctr"/>
          <a:lstStyle/>
          <a:p>
            <a:pPr marL="0" indent="0" algn="r">
              <a:buNone/>
              <a:defRPr/>
            </a:pPr>
            <a:r>
              <a:rPr lang="en-US" sz="900">
                <a:solidFill>
                  <a:srgbClr val="5A6672"/>
                </a:solidFill>
                <a:latin typeface="Calibri"/>
                <a:ea typeface="Calibri"/>
                <a:cs typeface="Calibri"/>
              </a:rPr>
              <a:t>1</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
    <p:bg>
      <p:bgPr shadeToTitle="0">
        <a:solidFill>
          <a:srgbClr val="FFFFFF"/>
        </a:solidFill>
      </p:bgPr>
    </p:bg>
    <p:spTree>
      <p:nvGrpSpPr>
        <p:cNvPr id="1" name=""/>
        <p:cNvGrpSpPr/>
        <p:nvPr/>
      </p:nvGrpSpPr>
      <p:grpSpPr bwMode="auto">
        <a:xfrm>
          <a:off x="0" y="0"/>
          <a:ext cx="0" cy="0"/>
          <a:chOff x="0" y="0"/>
          <a:chExt cx="0" cy="0"/>
        </a:xfrm>
      </p:grpSpPr>
      <p:pic>
        <p:nvPicPr>
          <p:cNvPr id="574812656" name="Image 0" descr="/home/claude/deck/srm_logo.png"/>
          <p:cNvPicPr>
            <a:picLocks noChangeAspect="1"/>
          </p:cNvPicPr>
          <p:nvPr/>
        </p:nvPicPr>
        <p:blipFill rotWithShape="1">
          <a:blip r:embed="rId3"/>
          <a:stretch/>
        </p:blipFill>
        <p:spPr bwMode="auto">
          <a:xfrm>
            <a:off x="10195560" y="256032"/>
            <a:ext cx="1572768" cy="530352"/>
          </a:xfrm>
          <a:prstGeom prst="rect">
            <a:avLst/>
          </a:prstGeom>
        </p:spPr>
      </p:pic>
      <p:sp>
        <p:nvSpPr>
          <p:cNvPr id="1029762474" name="Text 0"/>
          <p:cNvSpPr txBox="1"/>
          <p:nvPr/>
        </p:nvSpPr>
        <p:spPr bwMode="auto">
          <a:xfrm>
            <a:off x="502920" y="274320"/>
            <a:ext cx="9418320" cy="475488"/>
          </a:xfrm>
          <a:prstGeom prst="rect">
            <a:avLst/>
          </a:prstGeom>
          <a:noFill/>
          <a:ln/>
        </p:spPr>
        <p:txBody>
          <a:bodyPr wrap="square" lIns="0" tIns="0" rIns="0" bIns="0" rtlCol="0" anchor="ctr"/>
          <a:lstStyle/>
          <a:p>
            <a:pPr marL="0" indent="0" algn="l">
              <a:buNone/>
              <a:defRPr/>
            </a:pPr>
            <a:r>
              <a:rPr lang="en-US" sz="2700" b="1">
                <a:solidFill>
                  <a:srgbClr val="14509B"/>
                </a:solidFill>
                <a:latin typeface="Cambria"/>
                <a:ea typeface="Cambria"/>
                <a:cs typeface="Cambria"/>
              </a:rPr>
              <a:t>Introduction</a:t>
            </a:r>
            <a:endParaRPr lang="en-US" sz="2700"/>
          </a:p>
        </p:txBody>
      </p:sp>
      <p:sp>
        <p:nvSpPr>
          <p:cNvPr id="965751327" name="Text 1"/>
          <p:cNvSpPr txBox="1"/>
          <p:nvPr/>
        </p:nvSpPr>
        <p:spPr bwMode="auto">
          <a:xfrm>
            <a:off x="502920" y="749808"/>
            <a:ext cx="9418320" cy="292608"/>
          </a:xfrm>
          <a:prstGeom prst="rect">
            <a:avLst/>
          </a:prstGeom>
          <a:noFill/>
          <a:ln/>
        </p:spPr>
        <p:txBody>
          <a:bodyPr wrap="square" lIns="0" tIns="0" rIns="0" bIns="0" rtlCol="0" anchor="ctr"/>
          <a:lstStyle/>
          <a:p>
            <a:pPr marL="0" indent="0" algn="l">
              <a:buNone/>
              <a:defRPr/>
            </a:pPr>
            <a:endParaRPr lang="en-US" sz="1300"/>
          </a:p>
        </p:txBody>
      </p:sp>
      <p:sp>
        <p:nvSpPr>
          <p:cNvPr id="523888783" name="Text 2"/>
          <p:cNvSpPr txBox="1"/>
          <p:nvPr/>
        </p:nvSpPr>
        <p:spPr bwMode="auto">
          <a:xfrm>
            <a:off x="502920" y="1207008"/>
            <a:ext cx="5989320" cy="4480560"/>
          </a:xfrm>
          <a:prstGeom prst="rect">
            <a:avLst/>
          </a:prstGeom>
          <a:noFill/>
          <a:ln/>
        </p:spPr>
        <p:txBody>
          <a:bodyPr wrap="square" lIns="0" tIns="0" rIns="0" bIns="0" rtlCol="0" anchor="t"/>
          <a:lstStyle/>
          <a:p>
            <a:pPr marL="342900" indent="-342900">
              <a:spcAft>
                <a:spcPts val="900"/>
              </a:spcAft>
              <a:buSzPct val="100000"/>
              <a:buChar char="•"/>
              <a:defRPr/>
            </a:pPr>
            <a:r>
              <a:rPr lang="en-US" sz="1400">
                <a:solidFill>
                  <a:srgbClr val="1A1A1A"/>
                </a:solidFill>
                <a:latin typeface="Calibri"/>
                <a:ea typeface="Calibri"/>
                <a:cs typeface="Calibri"/>
              </a:rPr>
              <a:t>ROS 2 is the standard middleware for modern robotics; it does not handle networking itself.</a:t>
            </a:r>
            <a:endParaRPr lang="en-US" sz="1400"/>
          </a:p>
          <a:p>
            <a:pPr marL="342900" indent="-342900">
              <a:spcAft>
                <a:spcPts val="900"/>
              </a:spcAft>
              <a:buSzPct val="100000"/>
              <a:buChar char="•"/>
              <a:defRPr/>
            </a:pPr>
            <a:r>
              <a:rPr lang="en-US" sz="1400">
                <a:solidFill>
                  <a:srgbClr val="1A1A1A"/>
                </a:solidFill>
                <a:latin typeface="Calibri"/>
                <a:ea typeface="Calibri"/>
                <a:cs typeface="Calibri"/>
              </a:rPr>
              <a:t>All node-to-node data is carried by DDS (Data Distribution Service), an application-layer publish/subscribe middleware running over UDP/IP, ports 7400 + 250 x domain ID (domain 42: 17900-18149).</a:t>
            </a:r>
            <a:endParaRPr lang="en-US" sz="1400"/>
          </a:p>
          <a:p>
            <a:pPr marL="342900" indent="-342900">
              <a:spcAft>
                <a:spcPts val="900"/>
              </a:spcAft>
              <a:buSzPct val="100000"/>
              <a:buChar char="•"/>
              <a:defRPr/>
            </a:pPr>
            <a:r>
              <a:rPr lang="en-US" sz="1400">
                <a:solidFill>
                  <a:srgbClr val="1A1A1A"/>
                </a:solidFill>
                <a:latin typeface="Calibri"/>
                <a:ea typeface="Calibri"/>
                <a:cs typeface="Calibri"/>
              </a:rPr>
              <a:t>Nodes discover each other automatically through multicast - no configuration and no central server.</a:t>
            </a:r>
            <a:endParaRPr lang="en-US" sz="1400"/>
          </a:p>
          <a:p>
            <a:pPr marL="342900" indent="-342900">
              <a:spcAft>
                <a:spcPts val="900"/>
              </a:spcAft>
              <a:buSzPct val="100000"/>
              <a:buChar char="•"/>
              <a:defRPr/>
            </a:pPr>
            <a:r>
              <a:rPr lang="en-US" sz="1400">
                <a:solidFill>
                  <a:srgbClr val="1A1A1A"/>
                </a:solidFill>
                <a:latin typeface="Calibri"/>
                <a:ea typeface="Calibri"/>
                <a:cs typeface="Calibri"/>
              </a:rPr>
              <a:t>By default DDS performs no authentication: any node that can reach the network may publish to any topic.</a:t>
            </a:r>
            <a:endParaRPr lang="en-US" sz="1400"/>
          </a:p>
          <a:p>
            <a:pPr marL="342900" indent="-342900">
              <a:spcAft>
                <a:spcPts val="900"/>
              </a:spcAft>
              <a:buSzPct val="100000"/>
              <a:buChar char="•"/>
              <a:defRPr/>
            </a:pPr>
            <a:r>
              <a:rPr lang="en-US" sz="1400">
                <a:solidFill>
                  <a:srgbClr val="1A1A1A"/>
                </a:solidFill>
                <a:latin typeface="Calibri"/>
                <a:ea typeface="Calibri"/>
                <a:cs typeface="Calibri"/>
              </a:rPr>
              <a:t>Publishing to /cmd_vel therefore drives the robot, regardless of who sent it.</a:t>
            </a:r>
            <a:endParaRPr lang="en-US" sz="1400"/>
          </a:p>
          <a:p>
            <a:pPr marL="342900" indent="-342900">
              <a:spcAft>
                <a:spcPts val="900"/>
              </a:spcAft>
              <a:buSzPct val="100000"/>
              <a:buChar char="•"/>
              <a:defRPr/>
            </a:pPr>
            <a:r>
              <a:rPr lang="en-US" sz="1400">
                <a:solidFill>
                  <a:srgbClr val="1A1A1A"/>
                </a:solidFill>
                <a:latin typeface="Calibri"/>
                <a:ea typeface="Calibri"/>
                <a:cs typeface="Calibri"/>
              </a:rPr>
              <a:t>Robot security is thus a network-layer problem as much as a robotics problem.</a:t>
            </a:r>
            <a:endParaRPr lang="en-US" sz="1400"/>
          </a:p>
        </p:txBody>
      </p:sp>
      <p:pic>
        <p:nvPicPr>
          <p:cNvPr id="1697306233" name="Image 1" descr="/home/claude/deck/illus_intro.png"/>
          <p:cNvPicPr>
            <a:picLocks noChangeAspect="1"/>
          </p:cNvPicPr>
          <p:nvPr/>
        </p:nvPicPr>
        <p:blipFill rotWithShape="1">
          <a:blip r:embed="rId4"/>
          <a:stretch/>
        </p:blipFill>
        <p:spPr bwMode="auto">
          <a:xfrm>
            <a:off x="6720840" y="1078992"/>
            <a:ext cx="4937760" cy="4169664"/>
          </a:xfrm>
          <a:prstGeom prst="rect">
            <a:avLst/>
          </a:prstGeom>
        </p:spPr>
      </p:pic>
      <p:sp>
        <p:nvSpPr>
          <p:cNvPr id="490417495" name="Text 3"/>
          <p:cNvSpPr txBox="1"/>
          <p:nvPr/>
        </p:nvSpPr>
        <p:spPr bwMode="auto">
          <a:xfrm>
            <a:off x="6720840" y="5285232"/>
            <a:ext cx="4937760" cy="274320"/>
          </a:xfrm>
          <a:prstGeom prst="rect">
            <a:avLst/>
          </a:prstGeom>
          <a:noFill/>
          <a:ln/>
        </p:spPr>
        <p:txBody>
          <a:bodyPr wrap="square" lIns="0" tIns="0" rIns="0" bIns="0" rtlCol="0" anchor="ctr"/>
          <a:lstStyle/>
          <a:p>
            <a:pPr marL="0" indent="0" algn="ctr">
              <a:buNone/>
              <a:defRPr/>
            </a:pPr>
            <a:r>
              <a:rPr lang="en-US" sz="1100" i="1">
                <a:solidFill>
                  <a:srgbClr val="5A6672"/>
                </a:solidFill>
                <a:latin typeface="Calibri"/>
                <a:ea typeface="Calibri"/>
                <a:cs typeface="Calibri"/>
              </a:rPr>
              <a:t>Fig. 1  -  ROS 2 computational graph over DDS.</a:t>
            </a:r>
            <a:endParaRPr lang="en-US" sz="1100"/>
          </a:p>
        </p:txBody>
      </p:sp>
      <p:sp>
        <p:nvSpPr>
          <p:cNvPr id="1611256010" name="Text 4"/>
          <p:cNvSpPr txBox="1"/>
          <p:nvPr/>
        </p:nvSpPr>
        <p:spPr bwMode="auto">
          <a:xfrm>
            <a:off x="502920" y="6419088"/>
            <a:ext cx="7315200" cy="256032"/>
          </a:xfrm>
          <a:prstGeom prst="rect">
            <a:avLst/>
          </a:prstGeom>
          <a:noFill/>
          <a:ln/>
        </p:spPr>
        <p:txBody>
          <a:bodyPr wrap="square" lIns="0" tIns="0" rIns="0" bIns="0" rtlCol="0" anchor="ctr"/>
          <a:lstStyle/>
          <a:p>
            <a:pPr marL="0" indent="0">
              <a:buNone/>
              <a:defRPr/>
            </a:pPr>
            <a:r>
              <a:rPr lang="en-US" sz="900">
                <a:solidFill>
                  <a:srgbClr val="5A6672"/>
                </a:solidFill>
                <a:latin typeface="Calibri"/>
                <a:ea typeface="Calibri"/>
                <a:cs typeface="Calibri"/>
              </a:rPr>
              <a:t>21ECC402P  |  Shyam Rithin S  |  RA2311004010308</a:t>
            </a:r>
            <a:endParaRPr lang="en-US" sz="900"/>
          </a:p>
        </p:txBody>
      </p:sp>
      <p:sp>
        <p:nvSpPr>
          <p:cNvPr id="2094387444" name="Text 5"/>
          <p:cNvSpPr txBox="1"/>
          <p:nvPr/>
        </p:nvSpPr>
        <p:spPr bwMode="auto">
          <a:xfrm>
            <a:off x="11247120" y="6419088"/>
            <a:ext cx="457200" cy="256032"/>
          </a:xfrm>
          <a:prstGeom prst="rect">
            <a:avLst/>
          </a:prstGeom>
          <a:noFill/>
          <a:ln/>
        </p:spPr>
        <p:txBody>
          <a:bodyPr wrap="square" lIns="0" tIns="0" rIns="0" bIns="0" rtlCol="0" anchor="ctr"/>
          <a:lstStyle/>
          <a:p>
            <a:pPr marL="0" indent="0" algn="r">
              <a:buNone/>
              <a:defRPr/>
            </a:pPr>
            <a:r>
              <a:rPr lang="en-US" sz="900">
                <a:solidFill>
                  <a:srgbClr val="5A6672"/>
                </a:solidFill>
                <a:latin typeface="Calibri"/>
                <a:ea typeface="Calibri"/>
                <a:cs typeface="Calibri"/>
              </a:rPr>
              <a:t>2</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
    <p:bg>
      <p:bgPr shadeToTitle="0">
        <a:solidFill>
          <a:srgbClr val="FFFFFF"/>
        </a:solidFill>
      </p:bgPr>
    </p:bg>
    <p:spTree>
      <p:nvGrpSpPr>
        <p:cNvPr id="1" name=""/>
        <p:cNvGrpSpPr/>
        <p:nvPr/>
      </p:nvGrpSpPr>
      <p:grpSpPr bwMode="auto">
        <a:xfrm>
          <a:off x="0" y="0"/>
          <a:ext cx="0" cy="0"/>
          <a:chOff x="0" y="0"/>
          <a:chExt cx="0" cy="0"/>
        </a:xfrm>
      </p:grpSpPr>
      <p:pic>
        <p:nvPicPr>
          <p:cNvPr id="174081040" name="Image 0" descr="/home/claude/deck/srm_logo.png"/>
          <p:cNvPicPr>
            <a:picLocks noChangeAspect="1"/>
          </p:cNvPicPr>
          <p:nvPr/>
        </p:nvPicPr>
        <p:blipFill rotWithShape="1">
          <a:blip r:embed="rId3"/>
          <a:stretch/>
        </p:blipFill>
        <p:spPr bwMode="auto">
          <a:xfrm>
            <a:off x="10195560" y="256032"/>
            <a:ext cx="1572768" cy="530352"/>
          </a:xfrm>
          <a:prstGeom prst="rect">
            <a:avLst/>
          </a:prstGeom>
        </p:spPr>
      </p:pic>
      <p:sp>
        <p:nvSpPr>
          <p:cNvPr id="997546933" name="Text 0"/>
          <p:cNvSpPr txBox="1"/>
          <p:nvPr/>
        </p:nvSpPr>
        <p:spPr bwMode="auto">
          <a:xfrm>
            <a:off x="502920" y="274320"/>
            <a:ext cx="9418320" cy="475488"/>
          </a:xfrm>
          <a:prstGeom prst="rect">
            <a:avLst/>
          </a:prstGeom>
          <a:noFill/>
          <a:ln/>
        </p:spPr>
        <p:txBody>
          <a:bodyPr wrap="square" lIns="0" tIns="0" rIns="0" bIns="0" rtlCol="0" anchor="ctr"/>
          <a:lstStyle/>
          <a:p>
            <a:pPr marL="0" indent="0" algn="l">
              <a:buNone/>
              <a:defRPr/>
            </a:pPr>
            <a:r>
              <a:rPr lang="en-US" sz="2700" b="1">
                <a:solidFill>
                  <a:srgbClr val="14509B"/>
                </a:solidFill>
                <a:latin typeface="Cambria"/>
                <a:ea typeface="Cambria"/>
                <a:cs typeface="Cambria"/>
              </a:rPr>
              <a:t>Abstract</a:t>
            </a:r>
            <a:endParaRPr lang="en-US" sz="2700"/>
          </a:p>
        </p:txBody>
      </p:sp>
      <p:sp>
        <p:nvSpPr>
          <p:cNvPr id="234659085" name="Text 16"/>
          <p:cNvSpPr txBox="1"/>
          <p:nvPr/>
        </p:nvSpPr>
        <p:spPr bwMode="auto">
          <a:xfrm>
            <a:off x="502920" y="6419088"/>
            <a:ext cx="7315200" cy="256032"/>
          </a:xfrm>
          <a:prstGeom prst="rect">
            <a:avLst/>
          </a:prstGeom>
          <a:noFill/>
          <a:ln/>
        </p:spPr>
        <p:txBody>
          <a:bodyPr wrap="square" lIns="0" tIns="0" rIns="0" bIns="0" rtlCol="0" anchor="ctr"/>
          <a:lstStyle/>
          <a:p>
            <a:pPr marL="0" indent="0">
              <a:buNone/>
              <a:defRPr/>
            </a:pPr>
            <a:r>
              <a:rPr lang="en-US" sz="900">
                <a:solidFill>
                  <a:srgbClr val="5A6672"/>
                </a:solidFill>
                <a:latin typeface="Calibri"/>
                <a:ea typeface="Calibri"/>
                <a:cs typeface="Calibri"/>
              </a:rPr>
              <a:t>21ECC402P  |  Shyam Rithin S  |  RA2311004010308</a:t>
            </a:r>
            <a:endParaRPr lang="en-US" sz="900"/>
          </a:p>
        </p:txBody>
      </p:sp>
      <p:sp>
        <p:nvSpPr>
          <p:cNvPr id="1014086322" name="Text 17"/>
          <p:cNvSpPr txBox="1"/>
          <p:nvPr/>
        </p:nvSpPr>
        <p:spPr bwMode="auto">
          <a:xfrm>
            <a:off x="11247120" y="6419088"/>
            <a:ext cx="457200" cy="256032"/>
          </a:xfrm>
          <a:prstGeom prst="rect">
            <a:avLst/>
          </a:prstGeom>
          <a:noFill/>
          <a:ln/>
        </p:spPr>
        <p:txBody>
          <a:bodyPr wrap="square" lIns="0" tIns="0" rIns="0" bIns="0" rtlCol="0" anchor="ctr"/>
          <a:lstStyle/>
          <a:p>
            <a:pPr marL="0" indent="0" algn="r">
              <a:buNone/>
              <a:defRPr/>
            </a:pPr>
            <a:r>
              <a:rPr lang="en-US" sz="900">
                <a:solidFill>
                  <a:srgbClr val="5A6672"/>
                </a:solidFill>
                <a:latin typeface="Calibri"/>
                <a:ea typeface="Calibri"/>
                <a:cs typeface="Calibri"/>
              </a:rPr>
              <a:t>3</a:t>
            </a:r>
            <a:endParaRPr lang="en-US" sz="900"/>
          </a:p>
        </p:txBody>
      </p:sp>
      <p:sp>
        <p:nvSpPr>
          <p:cNvPr id="1014086323" name="Abstract"/>
          <p:cNvSpPr txBox="1"/>
          <p:nvPr/>
        </p:nvSpPr>
        <p:spPr>
          <a:xfrm>
            <a:off x="502920" y="1188720"/>
            <a:ext cx="11155680" cy="4069080"/>
          </a:xfrm>
          <a:prstGeom prst="rect">
            <a:avLst/>
          </a:prstGeom>
          <a:noFill/>
        </p:spPr>
        <p:txBody>
          <a:bodyPr wrap="square" anchor="t" lIns="45720" rIns="45720" tIns="27432" bIns="27432">
            <a:spAutoFit/>
          </a:bodyPr>
          <a:lstStyle/>
          <a:p>
            <a:pPr algn="just">
              <a:lnSpc>
                <a:spcPct val="118000"/>
              </a:lnSpc>
            </a:pPr>
            <a:r>
              <a:rPr sz="1600">
                <a:solidFill>
                  <a:srgbClr val="1A1A1A"/>
                </a:solidFill>
                <a:latin typeface="Calibri"/>
              </a:rPr>
              <a:t>ROS 2 carries robot commands over DDS/UDP without authentication, so any node that can reach the network can publish velocity commands, and an injected command is a syntactically valid packet that packet inspection alone cannot tell apart from legitimate traffic. This project proposes a cross-layer intrusion detection system that fuses network-layer evidence, namely publisher identity read live from the ROS 2 computational graph, publisher churn and DDS traffic observed on the wire, with a physics-layer check on the robot's motion: a feasibility test against the velocity and acceleration envelope, and a consistency residual between measured odometry and the motion predicted by the authorized command stream, accumulated by a CUSUM statistic to expose slow, stealthy attacks. The detection threshold is calibrated from benign operation alone, so no labelled attack dataset is required, and an inline safety filter replaces any flagged command with the authorized one, turning detection into prevention. The system is implemented as a ROS 2 Humble package and evaluated on a Gazebo Harmonic digital twin of the articubot_one differential-drive robot against a catalogue of 50 attack profiles, with a live web monitor and Wireshark analysis of the RTPS traffic. Fused detection catches every attack class tested, per-layer ablation shows that each layer is blind to attacks the other detects, and with the safety filter active the peak deviation under a steering hijack falls from 1.94 m to 0.019 m.</a:t>
            </a:r>
          </a:p>
        </p:txBody>
      </p:sp>
      <p:sp>
        <p:nvSpPr>
          <p:cNvPr id="1014086324" name="Keywords"/>
          <p:cNvSpPr txBox="1"/>
          <p:nvPr/>
        </p:nvSpPr>
        <p:spPr>
          <a:xfrm>
            <a:off x="502920" y="5577840"/>
            <a:ext cx="11155680" cy="411480"/>
          </a:xfrm>
          <a:prstGeom prst="rect">
            <a:avLst/>
          </a:prstGeom>
          <a:noFill/>
        </p:spPr>
        <p:txBody>
          <a:bodyPr wrap="square" anchor="t" lIns="45720" rIns="45720" tIns="27432" bIns="27432">
            <a:spAutoFit/>
          </a:bodyPr>
          <a:lstStyle/>
          <a:p>
            <a:pPr algn="l"/>
            <a:r>
              <a:rPr sz="1200" b="1">
                <a:solidFill>
                  <a:srgbClr val="14509B"/>
                </a:solidFill>
                <a:latin typeface="Calibri"/>
              </a:rPr>
              <a:t>Keywords:  </a:t>
            </a:r>
            <a:r>
              <a:rPr sz="1200" i="1">
                <a:solidFill>
                  <a:srgbClr val="5A6672"/>
                </a:solidFill>
                <a:latin typeface="Calibri"/>
              </a:rPr>
              <a:t>ROS 2, DDS, intrusion detection, cyber-physical security, CUSUM, command injection, safety filter, Gazebo</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bg>
      <p:bgPr shadeToTitle="0">
        <a:solidFill>
          <a:srgbClr val="FFFFFF"/>
        </a:solidFill>
      </p:bgPr>
    </p:bg>
    <p:spTree>
      <p:nvGrpSpPr>
        <p:cNvPr id="1" name=""/>
        <p:cNvGrpSpPr/>
        <p:nvPr/>
      </p:nvGrpSpPr>
      <p:grpSpPr bwMode="auto">
        <a:xfrm>
          <a:off x="0" y="0"/>
          <a:ext cx="0" cy="0"/>
          <a:chOff x="0" y="0"/>
          <a:chExt cx="0" cy="0"/>
        </a:xfrm>
      </p:grpSpPr>
      <p:pic>
        <p:nvPicPr>
          <p:cNvPr id="1517960929" name="Image 0" descr="/home/claude/deck/srm_logo.png"/>
          <p:cNvPicPr>
            <a:picLocks noChangeAspect="1"/>
          </p:cNvPicPr>
          <p:nvPr/>
        </p:nvPicPr>
        <p:blipFill rotWithShape="1">
          <a:blip r:embed="rId3"/>
          <a:stretch/>
        </p:blipFill>
        <p:spPr bwMode="auto">
          <a:xfrm>
            <a:off x="10195560" y="256032"/>
            <a:ext cx="1572768" cy="530352"/>
          </a:xfrm>
          <a:prstGeom prst="rect">
            <a:avLst/>
          </a:prstGeom>
        </p:spPr>
      </p:pic>
      <p:sp>
        <p:nvSpPr>
          <p:cNvPr id="47683231" name="Text 0"/>
          <p:cNvSpPr txBox="1"/>
          <p:nvPr/>
        </p:nvSpPr>
        <p:spPr bwMode="auto">
          <a:xfrm>
            <a:off x="502920" y="274320"/>
            <a:ext cx="9418320" cy="475488"/>
          </a:xfrm>
          <a:prstGeom prst="rect">
            <a:avLst/>
          </a:prstGeom>
          <a:noFill/>
          <a:ln/>
        </p:spPr>
        <p:txBody>
          <a:bodyPr wrap="square" lIns="0" tIns="0" rIns="0" bIns="0" rtlCol="0" anchor="ctr"/>
          <a:lstStyle/>
          <a:p>
            <a:pPr marL="0" indent="0" algn="l">
              <a:buNone/>
              <a:defRPr/>
            </a:pPr>
            <a:r>
              <a:rPr lang="en-US" sz="2700" b="1">
                <a:solidFill>
                  <a:srgbClr val="14509B"/>
                </a:solidFill>
                <a:latin typeface="Cambria"/>
                <a:ea typeface="Cambria"/>
                <a:cs typeface="Cambria"/>
              </a:rPr>
              <a:t>Literature Review</a:t>
            </a:r>
            <a:endParaRPr lang="en-US" sz="2700"/>
          </a:p>
        </p:txBody>
      </p:sp>
      <p:sp>
        <p:nvSpPr>
          <p:cNvPr id="2126690695" name="Text 1"/>
          <p:cNvSpPr txBox="1"/>
          <p:nvPr/>
        </p:nvSpPr>
        <p:spPr bwMode="auto">
          <a:xfrm>
            <a:off x="502920" y="749808"/>
            <a:ext cx="9418320" cy="292608"/>
          </a:xfrm>
          <a:prstGeom prst="rect">
            <a:avLst/>
          </a:prstGeom>
          <a:noFill/>
          <a:ln/>
        </p:spPr>
        <p:txBody>
          <a:bodyPr wrap="square" lIns="0" tIns="0" rIns="0" bIns="0" rtlCol="0" anchor="ctr"/>
          <a:lstStyle/>
          <a:p>
            <a:pPr marL="0" indent="0" algn="l">
              <a:buNone/>
              <a:defRPr/>
            </a:pPr>
            <a:r>
              <a:rPr lang="en-US" sz="1300">
                <a:solidFill>
                  <a:srgbClr val="5A6672"/>
                </a:solidFill>
                <a:latin typeface="Calibri"/>
                <a:ea typeface="Calibri"/>
                <a:cs typeface="Calibri"/>
              </a:rPr>
              <a:t>Group A - ROS 2 and DDS security  (network-layer work)</a:t>
            </a:r>
            <a:endParaRPr lang="en-US" sz="1300"/>
          </a:p>
        </p:txBody>
      </p:sp>
      <p:graphicFrame>
        <p:nvGraphicFramePr>
          <p:cNvPr id="879811187" name="Table 0"/>
          <p:cNvGraphicFramePr>
            <a:graphicFrameLocks xmlns:a="http://schemas.openxmlformats.org/drawingml/2006/main" noGrp="1"/>
          </p:cNvGraphicFramePr>
          <p:nvPr/>
        </p:nvGraphicFramePr>
        <p:xfrm rot="0">
          <a:off x="502920" y="1207008"/>
          <a:ext cx="11155679" cy="2953512"/>
        </p:xfrm>
        <a:graphic>
          <a:graphicData uri="http://schemas.openxmlformats.org/drawingml/2006/table">
            <a:tbl>
              <a:tblPr firstRow="0" firstCol="0" lastRow="0" lastCol="0" bandRow="0" bandCol="0"/>
              <a:tblGrid>
                <a:gridCol w="347472"/>
                <a:gridCol w="3794760"/>
                <a:gridCol w="2395727"/>
                <a:gridCol w="4617720"/>
              </a:tblGrid>
              <a:tr h="347472">
                <a:tc>
                  <a:txBody>
                    <a:bodyPr/>
                    <a:p>
                      <a:pPr marL="0" indent="0">
                        <a:buNone/>
                        <a:defRPr/>
                      </a:pPr>
                      <a:r>
                        <a:rPr lang="en-US" sz="1050" b="1">
                          <a:solidFill>
                            <a:srgbClr val="FFFFFF"/>
                          </a:solidFill>
                          <a:latin typeface="Calibri"/>
                          <a:ea typeface="Calibri"/>
                          <a:cs typeface="Calibri"/>
                        </a:rPr>
                        <a:t>#</a:t>
                      </a:r>
                      <a:endParaRPr lang="en-US" sz="1050">
                        <a:latin typeface="Calibri"/>
                        <a:ea typeface="Calibri"/>
                        <a:cs typeface="Calibri"/>
                      </a:endParaRPr>
                    </a:p>
                  </a:txBody>
                  <a:tcPr marL="63500" marR="63500" marT="50800" marB="50800" anchor="ctr">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14509B"/>
                    </a:solidFill>
                  </a:tcPr>
                </a:tc>
                <a:tc>
                  <a:txBody>
                    <a:bodyPr/>
                    <a:p>
                      <a:pPr marL="0" indent="0">
                        <a:buNone/>
                        <a:defRPr/>
                      </a:pPr>
                      <a:r>
                        <a:rPr lang="en-US" sz="1050" b="1">
                          <a:solidFill>
                            <a:srgbClr val="FFFFFF"/>
                          </a:solidFill>
                          <a:latin typeface="Calibri"/>
                          <a:ea typeface="Calibri"/>
                          <a:cs typeface="Calibri"/>
                        </a:rPr>
                        <a:t>Paper / Year</a:t>
                      </a:r>
                      <a:endParaRPr lang="en-US" sz="1050">
                        <a:latin typeface="Calibri"/>
                        <a:ea typeface="Calibri"/>
                        <a:cs typeface="Calibri"/>
                      </a:endParaRPr>
                    </a:p>
                  </a:txBody>
                  <a:tcPr marL="63500" marR="63500" marT="50800" marB="50800" anchor="ctr">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14509B"/>
                    </a:solidFill>
                  </a:tcPr>
                </a:tc>
                <a:tc>
                  <a:txBody>
                    <a:bodyPr/>
                    <a:p>
                      <a:pPr marL="0" indent="0">
                        <a:buNone/>
                        <a:defRPr/>
                      </a:pPr>
                      <a:r>
                        <a:rPr lang="en-US" sz="1050" b="1">
                          <a:solidFill>
                            <a:srgbClr val="FFFFFF"/>
                          </a:solidFill>
                          <a:latin typeface="Calibri"/>
                          <a:ea typeface="Calibri"/>
                          <a:cs typeface="Calibri"/>
                        </a:rPr>
                        <a:t>Author(s)</a:t>
                      </a:r>
                      <a:endParaRPr lang="en-US" sz="1050">
                        <a:latin typeface="Calibri"/>
                        <a:ea typeface="Calibri"/>
                        <a:cs typeface="Calibri"/>
                      </a:endParaRPr>
                    </a:p>
                  </a:txBody>
                  <a:tcPr marL="63500" marR="63500" marT="50800" marB="50800" anchor="ctr">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14509B"/>
                    </a:solidFill>
                  </a:tcPr>
                </a:tc>
                <a:tc>
                  <a:txBody>
                    <a:bodyPr/>
                    <a:p>
                      <a:pPr marL="0" indent="0">
                        <a:buNone/>
                        <a:defRPr/>
                      </a:pPr>
                      <a:r>
                        <a:rPr lang="en-US" sz="1050" b="1">
                          <a:solidFill>
                            <a:srgbClr val="FFFFFF"/>
                          </a:solidFill>
                          <a:latin typeface="Calibri"/>
                          <a:ea typeface="Calibri"/>
                          <a:cs typeface="Calibri"/>
                        </a:rPr>
                        <a:t>Contribution</a:t>
                      </a:r>
                      <a:endParaRPr lang="en-US" sz="1050">
                        <a:latin typeface="Calibri"/>
                        <a:ea typeface="Calibri"/>
                        <a:cs typeface="Calibri"/>
                      </a:endParaRPr>
                    </a:p>
                  </a:txBody>
                  <a:tcPr marL="63500" marR="63500" marT="50800" marB="50800" anchor="ctr">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14509B"/>
                    </a:solidFill>
                  </a:tcPr>
                </a:tc>
              </a:tr>
              <a:tr h="868680">
                <a:tc>
                  <a:txBody>
                    <a:bodyPr/>
                    <a:p>
                      <a:pPr marL="0" indent="0">
                        <a:buNone/>
                        <a:defRPr/>
                      </a:pPr>
                      <a:r>
                        <a:rPr lang="en-US" sz="1000">
                          <a:solidFill>
                            <a:srgbClr val="1A1A1A"/>
                          </a:solidFill>
                          <a:latin typeface="Calibri"/>
                          <a:ea typeface="Calibri"/>
                          <a:cs typeface="Calibri"/>
                        </a:rPr>
                        <a:t>1</a:t>
                      </a:r>
                      <a:endParaRPr lang="en-US" sz="100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tcPr>
                </a:tc>
                <a:tc>
                  <a:txBody>
                    <a:bodyPr/>
                    <a:p>
                      <a:pPr marL="0" indent="0">
                        <a:buNone/>
                        <a:defRPr/>
                      </a:pPr>
                      <a:r>
                        <a:rPr lang="en-US" sz="1000">
                          <a:solidFill>
                            <a:srgbClr val="1A1A1A"/>
                          </a:solidFill>
                          <a:latin typeface="Calibri"/>
                          <a:ea typeface="Calibri"/>
                          <a:cs typeface="Calibri"/>
                        </a:rPr>
                        <a:t>On the (in)security of secure ROS 2</a:t>
                      </a:r>
                      <a:endParaRPr lang="en-US" sz="1000">
                        <a:latin typeface="Calibri"/>
                        <a:ea typeface="Calibri"/>
                        <a:cs typeface="Calibri"/>
                      </a:endParaRPr>
                    </a:p>
                    <a:p>
                      <a:pPr marL="0" indent="0">
                        <a:buNone/>
                        <a:defRPr/>
                      </a:pPr>
                      <a:r>
                        <a:rPr lang="en-US" sz="1000">
                          <a:solidFill>
                            <a:srgbClr val="1A1A1A"/>
                          </a:solidFill>
                          <a:latin typeface="Calibri"/>
                          <a:ea typeface="Calibri"/>
                          <a:cs typeface="Calibri"/>
                        </a:rPr>
                        <a:t>ACM CCS, 2022</a:t>
                      </a:r>
                      <a:endParaRPr lang="en-US" sz="100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tcPr>
                </a:tc>
                <a:tc>
                  <a:txBody>
                    <a:bodyPr/>
                    <a:p>
                      <a:pPr marL="0" indent="0">
                        <a:buNone/>
                        <a:defRPr/>
                      </a:pPr>
                      <a:r>
                        <a:rPr lang="en-US" sz="1000">
                          <a:solidFill>
                            <a:srgbClr val="1A1A1A"/>
                          </a:solidFill>
                          <a:latin typeface="Calibri"/>
                          <a:ea typeface="Calibri"/>
                          <a:cs typeface="Calibri"/>
                        </a:rPr>
                        <a:t>G. Deng, G. Xu, Y. Zhou, T. Zhang, Y. Liu</a:t>
                      </a:r>
                      <a:endParaRPr lang="en-US" sz="100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tcPr>
                </a:tc>
                <a:tc>
                  <a:txBody>
                    <a:bodyPr/>
                    <a:p>
                      <a:pPr marL="0" indent="0">
                        <a:buNone/>
                        <a:defRPr/>
                      </a:pPr>
                      <a:r>
                        <a:rPr lang="en-US" sz="1000">
                          <a:solidFill>
                            <a:srgbClr val="1A1A1A"/>
                          </a:solidFill>
                          <a:latin typeface="Calibri"/>
                          <a:ea typeface="Calibri"/>
                          <a:cs typeface="Calibri"/>
                        </a:rPr>
                        <a:t>Systematic security analysis of SROS 2; identifies three design vulnerabilities allowing unauthorized access to persist even when DDS security is enabled.</a:t>
                      </a:r>
                      <a:endParaRPr lang="en-US" sz="100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tcPr>
                </a:tc>
              </a:tr>
              <a:tr h="868680">
                <a:tc>
                  <a:txBody>
                    <a:bodyPr/>
                    <a:p>
                      <a:pPr marL="0" indent="0">
                        <a:buNone/>
                        <a:defRPr/>
                      </a:pPr>
                      <a:r>
                        <a:rPr lang="en-US" sz="1000">
                          <a:solidFill>
                            <a:srgbClr val="1A1A1A"/>
                          </a:solidFill>
                          <a:latin typeface="Calibri"/>
                          <a:ea typeface="Calibri"/>
                          <a:cs typeface="Calibri"/>
                        </a:rPr>
                        <a:t>2</a:t>
                      </a:r>
                      <a:endParaRPr lang="en-US" sz="100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EEF3F8"/>
                    </a:solidFill>
                  </a:tcPr>
                </a:tc>
                <a:tc>
                  <a:txBody>
                    <a:bodyPr/>
                    <a:p>
                      <a:pPr marL="0" indent="0">
                        <a:buNone/>
                        <a:defRPr/>
                      </a:pPr>
                      <a:r>
                        <a:rPr lang="en-US" sz="1000">
                          <a:solidFill>
                            <a:srgbClr val="1A1A1A"/>
                          </a:solidFill>
                          <a:latin typeface="Calibri"/>
                          <a:ea typeface="Calibri"/>
                          <a:cs typeface="Calibri"/>
                        </a:rPr>
                        <a:t>SROS2: Usable Cyber Security Tools for ROS 2</a:t>
                      </a:r>
                      <a:endParaRPr lang="en-US" sz="1000">
                        <a:latin typeface="Calibri"/>
                        <a:ea typeface="Calibri"/>
                        <a:cs typeface="Calibri"/>
                      </a:endParaRPr>
                    </a:p>
                    <a:p>
                      <a:pPr marL="0" indent="0">
                        <a:buNone/>
                        <a:defRPr/>
                      </a:pPr>
                      <a:r>
                        <a:rPr lang="en-US" sz="1000">
                          <a:solidFill>
                            <a:srgbClr val="1A1A1A"/>
                          </a:solidFill>
                          <a:latin typeface="Calibri"/>
                          <a:ea typeface="Calibri"/>
                          <a:cs typeface="Calibri"/>
                        </a:rPr>
                        <a:t>2022</a:t>
                      </a:r>
                      <a:endParaRPr lang="en-US" sz="100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EEF3F8"/>
                    </a:solidFill>
                  </a:tcPr>
                </a:tc>
                <a:tc>
                  <a:txBody>
                    <a:bodyPr/>
                    <a:p>
                      <a:pPr marL="0" indent="0">
                        <a:buNone/>
                        <a:defRPr/>
                      </a:pPr>
                      <a:r>
                        <a:rPr lang="en-US" sz="1000">
                          <a:solidFill>
                            <a:srgbClr val="1A1A1A"/>
                          </a:solidFill>
                          <a:latin typeface="Calibri"/>
                          <a:ea typeface="Calibri"/>
                          <a:cs typeface="Calibri"/>
                        </a:rPr>
                        <a:t>V. Mayoral-Vilches, R. White, G. Caiazza, M. Arguedas</a:t>
                      </a:r>
                      <a:endParaRPr lang="en-US" sz="100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EEF3F8"/>
                    </a:solidFill>
                  </a:tcPr>
                </a:tc>
                <a:tc>
                  <a:txBody>
                    <a:bodyPr/>
                    <a:p>
                      <a:pPr marL="0" indent="0">
                        <a:buNone/>
                        <a:defRPr/>
                      </a:pPr>
                      <a:r>
                        <a:rPr lang="en-US" sz="1000">
                          <a:solidFill>
                            <a:srgbClr val="1A1A1A"/>
                          </a:solidFill>
                          <a:latin typeface="Calibri"/>
                          <a:ea typeface="Calibri"/>
                          <a:cs typeface="Calibri"/>
                        </a:rPr>
                        <a:t>Provides the practical tooling for authentication, encryption and access control in ROS 2 via DDS-Security plugins.</a:t>
                      </a:r>
                      <a:endParaRPr lang="en-US" sz="100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EEF3F8"/>
                    </a:solidFill>
                  </a:tcPr>
                </a:tc>
              </a:tr>
              <a:tr h="868680">
                <a:tc>
                  <a:txBody>
                    <a:bodyPr/>
                    <a:p>
                      <a:pPr marL="0" indent="0">
                        <a:buNone/>
                        <a:defRPr/>
                      </a:pPr>
                      <a:r>
                        <a:rPr lang="en-US" sz="1000">
                          <a:solidFill>
                            <a:srgbClr val="1A1A1A"/>
                          </a:solidFill>
                          <a:latin typeface="Calibri"/>
                          <a:ea typeface="Calibri"/>
                          <a:cs typeface="Calibri"/>
                        </a:rPr>
                        <a:t>3</a:t>
                      </a:r>
                      <a:endParaRPr lang="en-US" sz="100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tcPr>
                </a:tc>
                <a:tc>
                  <a:txBody>
                    <a:bodyPr/>
                    <a:p>
                      <a:pPr marL="0" indent="0">
                        <a:buNone/>
                        <a:defRPr/>
                      </a:pPr>
                      <a:r>
                        <a:rPr lang="en-US" sz="1000">
                          <a:solidFill>
                            <a:srgbClr val="1A1A1A"/>
                          </a:solidFill>
                          <a:latin typeface="Calibri"/>
                          <a:ea typeface="Calibri"/>
                          <a:cs typeface="Calibri"/>
                        </a:rPr>
                        <a:t>ROSPaCe: Intrusion Detection Dataset for a ROS2-Based CPS</a:t>
                      </a:r>
                      <a:endParaRPr lang="en-US" sz="1000">
                        <a:latin typeface="Calibri"/>
                        <a:ea typeface="Calibri"/>
                        <a:cs typeface="Calibri"/>
                      </a:endParaRPr>
                    </a:p>
                    <a:p>
                      <a:pPr marL="0" indent="0">
                        <a:buNone/>
                        <a:defRPr/>
                      </a:pPr>
                      <a:r>
                        <a:rPr lang="en-US" sz="1000">
                          <a:solidFill>
                            <a:srgbClr val="1A1A1A"/>
                          </a:solidFill>
                          <a:latin typeface="Calibri"/>
                          <a:ea typeface="Calibri"/>
                          <a:cs typeface="Calibri"/>
                        </a:rPr>
                        <a:t>Scientific Data, 2024</a:t>
                      </a:r>
                      <a:endParaRPr lang="en-US" sz="100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tcPr>
                </a:tc>
                <a:tc>
                  <a:txBody>
                    <a:bodyPr/>
                    <a:p>
                      <a:pPr marL="0" indent="0">
                        <a:buNone/>
                        <a:defRPr/>
                      </a:pPr>
                      <a:r>
                        <a:rPr lang="en-US" sz="1000">
                          <a:solidFill>
                            <a:srgbClr val="1A1A1A"/>
                          </a:solidFill>
                          <a:latin typeface="Calibri"/>
                          <a:ea typeface="Calibri"/>
                          <a:cs typeface="Calibri"/>
                        </a:rPr>
                        <a:t>T. Puccetti, S. Nardi, C. Cinquilli, T. Zoppi, A. Ceccarelli</a:t>
                      </a:r>
                      <a:endParaRPr lang="en-US" sz="100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tcPr>
                </a:tc>
                <a:tc>
                  <a:txBody>
                    <a:bodyPr/>
                    <a:p>
                      <a:pPr marL="0" indent="0">
                        <a:buNone/>
                        <a:defRPr/>
                      </a:pPr>
                      <a:r>
                        <a:rPr lang="en-US" sz="1000">
                          <a:solidFill>
                            <a:srgbClr val="1A1A1A"/>
                          </a:solidFill>
                          <a:latin typeface="Calibri"/>
                          <a:ea typeface="Calibri"/>
                          <a:cs typeface="Calibri"/>
                        </a:rPr>
                        <a:t>First intrusion-detection dataset for ROS 2; monitors three architectural layers - operating system, network, and ROS 2 services - under penetration testing.</a:t>
                      </a:r>
                      <a:endParaRPr lang="en-US" sz="100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tcPr>
                </a:tc>
              </a:tr>
            </a:tbl>
          </a:graphicData>
        </a:graphic>
      </p:graphicFrame>
      <p:sp>
        <p:nvSpPr>
          <p:cNvPr id="1148128768" name="Text 2"/>
          <p:cNvSpPr txBox="1"/>
          <p:nvPr/>
        </p:nvSpPr>
        <p:spPr bwMode="auto">
          <a:xfrm>
            <a:off x="502920" y="6419088"/>
            <a:ext cx="7315200" cy="256032"/>
          </a:xfrm>
          <a:prstGeom prst="rect">
            <a:avLst/>
          </a:prstGeom>
          <a:noFill/>
          <a:ln/>
        </p:spPr>
        <p:txBody>
          <a:bodyPr wrap="square" lIns="0" tIns="0" rIns="0" bIns="0" rtlCol="0" anchor="ctr"/>
          <a:lstStyle/>
          <a:p>
            <a:pPr marL="0" indent="0">
              <a:buNone/>
              <a:defRPr/>
            </a:pPr>
            <a:r>
              <a:rPr lang="en-US" sz="900">
                <a:solidFill>
                  <a:srgbClr val="5A6672"/>
                </a:solidFill>
                <a:latin typeface="Calibri"/>
                <a:ea typeface="Calibri"/>
                <a:cs typeface="Calibri"/>
              </a:rPr>
              <a:t>21ECC402P  |  Shyam Rithin S  |  RA2311004010308</a:t>
            </a:r>
            <a:endParaRPr lang="en-US" sz="900"/>
          </a:p>
        </p:txBody>
      </p:sp>
      <p:sp>
        <p:nvSpPr>
          <p:cNvPr id="2030115157" name="Text 3"/>
          <p:cNvSpPr txBox="1"/>
          <p:nvPr/>
        </p:nvSpPr>
        <p:spPr bwMode="auto">
          <a:xfrm>
            <a:off x="11247120" y="6419088"/>
            <a:ext cx="457200" cy="256032"/>
          </a:xfrm>
          <a:prstGeom prst="rect">
            <a:avLst/>
          </a:prstGeom>
          <a:noFill/>
          <a:ln/>
        </p:spPr>
        <p:txBody>
          <a:bodyPr wrap="square" lIns="0" tIns="0" rIns="0" bIns="0" rtlCol="0" anchor="ctr"/>
          <a:lstStyle/>
          <a:p>
            <a:pPr marL="0" indent="0" algn="r">
              <a:buNone/>
              <a:defRPr/>
            </a:pPr>
            <a:r>
              <a:rPr lang="en-US" sz="900">
                <a:solidFill>
                  <a:srgbClr val="5A6672"/>
                </a:solidFill>
                <a:latin typeface="Calibri"/>
                <a:ea typeface="Calibri"/>
                <a:cs typeface="Calibri"/>
              </a:rPr>
              <a:t>4</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
    <p:bg>
      <p:bgPr shadeToTitle="0">
        <a:solidFill>
          <a:srgbClr val="FFFFFF"/>
        </a:solidFill>
      </p:bgPr>
    </p:bg>
    <p:spTree>
      <p:nvGrpSpPr>
        <p:cNvPr id="1" name=""/>
        <p:cNvGrpSpPr/>
        <p:nvPr/>
      </p:nvGrpSpPr>
      <p:grpSpPr bwMode="auto">
        <a:xfrm>
          <a:off x="0" y="0"/>
          <a:ext cx="0" cy="0"/>
          <a:chOff x="0" y="0"/>
          <a:chExt cx="0" cy="0"/>
        </a:xfrm>
      </p:grpSpPr>
      <p:pic>
        <p:nvPicPr>
          <p:cNvPr id="793257558" name="Image 0" descr="/home/claude/deck/srm_logo.png"/>
          <p:cNvPicPr>
            <a:picLocks noChangeAspect="1"/>
          </p:cNvPicPr>
          <p:nvPr/>
        </p:nvPicPr>
        <p:blipFill rotWithShape="1">
          <a:blip r:embed="rId3"/>
          <a:stretch/>
        </p:blipFill>
        <p:spPr bwMode="auto">
          <a:xfrm>
            <a:off x="10195560" y="256032"/>
            <a:ext cx="1572768" cy="530352"/>
          </a:xfrm>
          <a:prstGeom prst="rect">
            <a:avLst/>
          </a:prstGeom>
        </p:spPr>
      </p:pic>
      <p:sp>
        <p:nvSpPr>
          <p:cNvPr id="1766618504" name="Text 0"/>
          <p:cNvSpPr txBox="1"/>
          <p:nvPr/>
        </p:nvSpPr>
        <p:spPr bwMode="auto">
          <a:xfrm>
            <a:off x="502920" y="274320"/>
            <a:ext cx="9418320" cy="475488"/>
          </a:xfrm>
          <a:prstGeom prst="rect">
            <a:avLst/>
          </a:prstGeom>
          <a:noFill/>
          <a:ln/>
        </p:spPr>
        <p:txBody>
          <a:bodyPr wrap="square" lIns="0" tIns="0" rIns="0" bIns="0" rtlCol="0" anchor="ctr"/>
          <a:lstStyle/>
          <a:p>
            <a:pPr marL="0" indent="0" algn="l">
              <a:buNone/>
              <a:defRPr/>
            </a:pPr>
            <a:r>
              <a:rPr lang="en-US" sz="2700" b="1">
                <a:solidFill>
                  <a:srgbClr val="14509B"/>
                </a:solidFill>
                <a:latin typeface="Cambria"/>
                <a:ea typeface="Cambria"/>
                <a:cs typeface="Cambria"/>
              </a:rPr>
              <a:t>Literature Review</a:t>
            </a:r>
            <a:endParaRPr lang="en-US" sz="2700"/>
          </a:p>
        </p:txBody>
      </p:sp>
      <p:sp>
        <p:nvSpPr>
          <p:cNvPr id="2128649421" name="Text 1"/>
          <p:cNvSpPr txBox="1"/>
          <p:nvPr/>
        </p:nvSpPr>
        <p:spPr bwMode="auto">
          <a:xfrm>
            <a:off x="502920" y="749808"/>
            <a:ext cx="9418320" cy="292608"/>
          </a:xfrm>
          <a:prstGeom prst="rect">
            <a:avLst/>
          </a:prstGeom>
          <a:noFill/>
          <a:ln/>
        </p:spPr>
        <p:txBody>
          <a:bodyPr wrap="square" lIns="0" tIns="0" rIns="0" bIns="0" rtlCol="0" anchor="ctr"/>
          <a:lstStyle/>
          <a:p>
            <a:pPr marL="0" indent="0" algn="l">
              <a:buNone/>
              <a:defRPr/>
            </a:pPr>
            <a:r>
              <a:rPr lang="en-US" sz="1300">
                <a:solidFill>
                  <a:srgbClr val="5A6672"/>
                </a:solidFill>
                <a:latin typeface="Calibri"/>
                <a:ea typeface="Calibri"/>
                <a:cs typeface="Calibri"/>
              </a:rPr>
              <a:t>Group A continued - detection and exploitation on ROS 2</a:t>
            </a:r>
            <a:endParaRPr lang="en-US" sz="1300"/>
          </a:p>
        </p:txBody>
      </p:sp>
      <p:graphicFrame>
        <p:nvGraphicFramePr>
          <p:cNvPr id="1709570631" name="Table 0"/>
          <p:cNvGraphicFramePr>
            <a:graphicFrameLocks xmlns:a="http://schemas.openxmlformats.org/drawingml/2006/main" noGrp="1"/>
          </p:cNvGraphicFramePr>
          <p:nvPr/>
        </p:nvGraphicFramePr>
        <p:xfrm rot="0">
          <a:off x="502920" y="1207008"/>
          <a:ext cx="11155679" cy="2953512"/>
        </p:xfrm>
        <a:graphic>
          <a:graphicData uri="http://schemas.openxmlformats.org/drawingml/2006/table">
            <a:tbl>
              <a:tblPr firstRow="0" firstCol="0" lastRow="0" lastCol="0" bandRow="0" bandCol="0"/>
              <a:tblGrid>
                <a:gridCol w="347472"/>
                <a:gridCol w="3794760"/>
                <a:gridCol w="2395727"/>
                <a:gridCol w="4617720"/>
              </a:tblGrid>
              <a:tr h="347472">
                <a:tc>
                  <a:txBody>
                    <a:bodyPr/>
                    <a:p>
                      <a:pPr marL="0" indent="0">
                        <a:buNone/>
                        <a:defRPr/>
                      </a:pPr>
                      <a:r>
                        <a:rPr lang="en-US" sz="1050" b="1">
                          <a:solidFill>
                            <a:srgbClr val="FFFFFF"/>
                          </a:solidFill>
                          <a:latin typeface="Calibri"/>
                          <a:ea typeface="Calibri"/>
                          <a:cs typeface="Calibri"/>
                        </a:rPr>
                        <a:t>#</a:t>
                      </a:r>
                      <a:endParaRPr lang="en-US" sz="1050">
                        <a:latin typeface="Calibri"/>
                        <a:ea typeface="Calibri"/>
                        <a:cs typeface="Calibri"/>
                      </a:endParaRPr>
                    </a:p>
                  </a:txBody>
                  <a:tcPr marL="63500" marR="63500" marT="50800" marB="50800" anchor="ctr">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14509B"/>
                    </a:solidFill>
                  </a:tcPr>
                </a:tc>
                <a:tc>
                  <a:txBody>
                    <a:bodyPr/>
                    <a:p>
                      <a:pPr marL="0" indent="0">
                        <a:buNone/>
                        <a:defRPr/>
                      </a:pPr>
                      <a:r>
                        <a:rPr lang="en-US" sz="1050" b="1">
                          <a:solidFill>
                            <a:srgbClr val="FFFFFF"/>
                          </a:solidFill>
                          <a:latin typeface="Calibri"/>
                          <a:ea typeface="Calibri"/>
                          <a:cs typeface="Calibri"/>
                        </a:rPr>
                        <a:t>Paper / Year</a:t>
                      </a:r>
                      <a:endParaRPr lang="en-US" sz="1050">
                        <a:latin typeface="Calibri"/>
                        <a:ea typeface="Calibri"/>
                        <a:cs typeface="Calibri"/>
                      </a:endParaRPr>
                    </a:p>
                  </a:txBody>
                  <a:tcPr marL="63500" marR="63500" marT="50800" marB="50800" anchor="ctr">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14509B"/>
                    </a:solidFill>
                  </a:tcPr>
                </a:tc>
                <a:tc>
                  <a:txBody>
                    <a:bodyPr/>
                    <a:p>
                      <a:pPr marL="0" indent="0">
                        <a:buNone/>
                        <a:defRPr/>
                      </a:pPr>
                      <a:r>
                        <a:rPr lang="en-US" sz="1050" b="1">
                          <a:solidFill>
                            <a:srgbClr val="FFFFFF"/>
                          </a:solidFill>
                          <a:latin typeface="Calibri"/>
                          <a:ea typeface="Calibri"/>
                          <a:cs typeface="Calibri"/>
                        </a:rPr>
                        <a:t>Author(s)</a:t>
                      </a:r>
                      <a:endParaRPr lang="en-US" sz="1050">
                        <a:latin typeface="Calibri"/>
                        <a:ea typeface="Calibri"/>
                        <a:cs typeface="Calibri"/>
                      </a:endParaRPr>
                    </a:p>
                  </a:txBody>
                  <a:tcPr marL="63500" marR="63500" marT="50800" marB="50800" anchor="ctr">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14509B"/>
                    </a:solidFill>
                  </a:tcPr>
                </a:tc>
                <a:tc>
                  <a:txBody>
                    <a:bodyPr/>
                    <a:p>
                      <a:pPr marL="0" indent="0">
                        <a:buNone/>
                        <a:defRPr/>
                      </a:pPr>
                      <a:r>
                        <a:rPr lang="en-US" sz="1050" b="1">
                          <a:solidFill>
                            <a:srgbClr val="FFFFFF"/>
                          </a:solidFill>
                          <a:latin typeface="Calibri"/>
                          <a:ea typeface="Calibri"/>
                          <a:cs typeface="Calibri"/>
                        </a:rPr>
                        <a:t>Contribution</a:t>
                      </a:r>
                      <a:endParaRPr lang="en-US" sz="1050">
                        <a:latin typeface="Calibri"/>
                        <a:ea typeface="Calibri"/>
                        <a:cs typeface="Calibri"/>
                      </a:endParaRPr>
                    </a:p>
                  </a:txBody>
                  <a:tcPr marL="63500" marR="63500" marT="50800" marB="50800" anchor="ctr">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14509B"/>
                    </a:solidFill>
                  </a:tcPr>
                </a:tc>
              </a:tr>
              <a:tr h="868680">
                <a:tc>
                  <a:txBody>
                    <a:bodyPr/>
                    <a:p>
                      <a:pPr marL="0" indent="0">
                        <a:buNone/>
                        <a:defRPr/>
                      </a:pPr>
                      <a:r>
                        <a:rPr lang="en-US" sz="1000">
                          <a:solidFill>
                            <a:srgbClr val="1A1A1A"/>
                          </a:solidFill>
                          <a:latin typeface="Calibri"/>
                          <a:ea typeface="Calibri"/>
                          <a:cs typeface="Calibri"/>
                        </a:rPr>
                        <a:t>4</a:t>
                      </a:r>
                      <a:endParaRPr lang="en-US" sz="100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tcPr>
                </a:tc>
                <a:tc>
                  <a:txBody>
                    <a:bodyPr/>
                    <a:p>
                      <a:pPr marL="0" indent="0">
                        <a:buNone/>
                        <a:defRPr/>
                      </a:pPr>
                      <a:r>
                        <a:rPr lang="en-US" sz="1000">
                          <a:solidFill>
                            <a:srgbClr val="1A1A1A"/>
                          </a:solidFill>
                          <a:latin typeface="Calibri"/>
                          <a:ea typeface="Calibri"/>
                          <a:cs typeface="Calibri"/>
                        </a:rPr>
                        <a:t>Implementing a Robot Intrusion Prevention System (RIPS) for ROS 2</a:t>
                      </a:r>
                      <a:endParaRPr lang="en-US" sz="1000">
                        <a:latin typeface="Calibri"/>
                        <a:ea typeface="Calibri"/>
                        <a:cs typeface="Calibri"/>
                      </a:endParaRPr>
                    </a:p>
                    <a:p>
                      <a:pPr marL="0" indent="0">
                        <a:buNone/>
                        <a:defRPr/>
                      </a:pPr>
                      <a:r>
                        <a:rPr lang="en-US" sz="1000">
                          <a:solidFill>
                            <a:srgbClr val="1A1A1A"/>
                          </a:solidFill>
                          <a:latin typeface="Calibri"/>
                          <a:ea typeface="Calibri"/>
                          <a:cs typeface="Calibri"/>
                        </a:rPr>
                        <a:t>2024</a:t>
                      </a:r>
                      <a:endParaRPr lang="en-US" sz="100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tcPr>
                </a:tc>
                <a:tc>
                  <a:txBody>
                    <a:bodyPr/>
                    <a:p>
                      <a:pPr marL="0" indent="0">
                        <a:buNone/>
                        <a:defRPr/>
                      </a:pPr>
                      <a:r>
                        <a:rPr lang="en-US" sz="1000">
                          <a:solidFill>
                            <a:srgbClr val="1A1A1A"/>
                          </a:solidFill>
                          <a:latin typeface="Calibri"/>
                          <a:ea typeface="Calibri"/>
                          <a:cs typeface="Calibri"/>
                        </a:rPr>
                        <a:t>E. Soriano-Salvador, F. Martin-Rico, G. Guardiola Muzquiz</a:t>
                      </a:r>
                      <a:endParaRPr lang="en-US" sz="100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tcPr>
                </a:tc>
                <a:tc>
                  <a:txBody>
                    <a:bodyPr/>
                    <a:p>
                      <a:pPr marL="0" indent="0">
                        <a:buNone/>
                        <a:defRPr/>
                      </a:pPr>
                      <a:r>
                        <a:rPr lang="en-US" sz="1000">
                          <a:solidFill>
                            <a:srgbClr val="1A1A1A"/>
                          </a:solidFill>
                          <a:latin typeface="Calibri"/>
                          <a:ea typeface="Calibri"/>
                          <a:cs typeface="Calibri"/>
                        </a:rPr>
                        <a:t>A working intrusion prevention system for ROS 2 that monitors the computational graph and blocks unauthorized activity at runtime.</a:t>
                      </a:r>
                      <a:endParaRPr lang="en-US" sz="100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tcPr>
                </a:tc>
              </a:tr>
              <a:tr h="868680">
                <a:tc>
                  <a:txBody>
                    <a:bodyPr/>
                    <a:p>
                      <a:pPr marL="0" indent="0">
                        <a:buNone/>
                        <a:defRPr/>
                      </a:pPr>
                      <a:r>
                        <a:rPr lang="en-US" sz="1000">
                          <a:solidFill>
                            <a:srgbClr val="1A1A1A"/>
                          </a:solidFill>
                          <a:latin typeface="Calibri"/>
                          <a:ea typeface="Calibri"/>
                          <a:cs typeface="Calibri"/>
                        </a:rPr>
                        <a:t>5</a:t>
                      </a:r>
                      <a:endParaRPr lang="en-US" sz="100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EEF3F8"/>
                    </a:solidFill>
                  </a:tcPr>
                </a:tc>
                <a:tc>
                  <a:txBody>
                    <a:bodyPr/>
                    <a:p>
                      <a:pPr marL="0" indent="0">
                        <a:buNone/>
                        <a:defRPr/>
                      </a:pPr>
                      <a:r>
                        <a:rPr lang="en-US" sz="1000">
                          <a:solidFill>
                            <a:srgbClr val="1A1A1A"/>
                          </a:solidFill>
                          <a:latin typeface="Calibri"/>
                          <a:ea typeface="Calibri"/>
                          <a:cs typeface="Calibri"/>
                        </a:rPr>
                        <a:t>Supply Chain Exploitation of Secure ROS 2 Systems</a:t>
                      </a:r>
                      <a:endParaRPr lang="en-US" sz="1000">
                        <a:latin typeface="Calibri"/>
                        <a:ea typeface="Calibri"/>
                        <a:cs typeface="Calibri"/>
                      </a:endParaRPr>
                    </a:p>
                    <a:p>
                      <a:pPr marL="0" indent="0">
                        <a:buNone/>
                        <a:defRPr/>
                      </a:pPr>
                      <a:r>
                        <a:rPr lang="en-US" sz="1000">
                          <a:solidFill>
                            <a:srgbClr val="1A1A1A"/>
                          </a:solidFill>
                          <a:latin typeface="Calibri"/>
                          <a:ea typeface="Calibri"/>
                          <a:cs typeface="Calibri"/>
                        </a:rPr>
                        <a:t>2025</a:t>
                      </a:r>
                      <a:endParaRPr lang="en-US" sz="100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EEF3F8"/>
                    </a:solidFill>
                  </a:tcPr>
                </a:tc>
                <a:tc>
                  <a:txBody>
                    <a:bodyPr/>
                    <a:p>
                      <a:pPr marL="0" indent="0">
                        <a:buNone/>
                        <a:defRPr/>
                      </a:pPr>
                      <a:r>
                        <a:rPr lang="en-US" sz="1000">
                          <a:solidFill>
                            <a:srgbClr val="1A1A1A"/>
                          </a:solidFill>
                          <a:latin typeface="Calibri"/>
                          <a:ea typeface="Calibri"/>
                          <a:cs typeface="Calibri"/>
                        </a:rPr>
                        <a:t>T. H. Sakib, Y. Romano Martinez, C. Brady, S. R. Hasan, T. N. Guo</a:t>
                      </a:r>
                      <a:endParaRPr lang="en-US" sz="100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EEF3F8"/>
                    </a:solidFill>
                  </a:tcPr>
                </a:tc>
                <a:tc>
                  <a:txBody>
                    <a:bodyPr/>
                    <a:p>
                      <a:pPr marL="0" indent="0">
                        <a:buNone/>
                        <a:defRPr/>
                      </a:pPr>
                      <a:r>
                        <a:rPr lang="en-US" sz="1000">
                          <a:solidFill>
                            <a:srgbClr val="1A1A1A"/>
                          </a:solidFill>
                          <a:latin typeface="Calibri"/>
                          <a:ea typeface="Calibri"/>
                          <a:cs typeface="Calibri"/>
                        </a:rPr>
                        <a:t>Demonstrates keystore exfiltration allowing an attacker to rejoin an SROS 2 network as an authenticated participant and publish spoofed control messages, causing forced braking and unwanted acceleration.</a:t>
                      </a:r>
                      <a:endParaRPr lang="en-US" sz="100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EEF3F8"/>
                    </a:solidFill>
                  </a:tcPr>
                </a:tc>
              </a:tr>
              <a:tr h="868680">
                <a:tc>
                  <a:txBody>
                    <a:bodyPr/>
                    <a:p>
                      <a:pPr marL="0" indent="0">
                        <a:buNone/>
                        <a:defRPr/>
                      </a:pPr>
                      <a:r>
                        <a:rPr lang="en-US" sz="1000">
                          <a:solidFill>
                            <a:srgbClr val="1A1A1A"/>
                          </a:solidFill>
                          <a:latin typeface="Calibri"/>
                          <a:ea typeface="Calibri"/>
                          <a:cs typeface="Calibri"/>
                        </a:rPr>
                        <a:t>6</a:t>
                      </a:r>
                      <a:endParaRPr lang="en-US" sz="100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tcPr>
                </a:tc>
                <a:tc>
                  <a:txBody>
                    <a:bodyPr/>
                    <a:p>
                      <a:pPr marL="0" indent="0">
                        <a:buNone/>
                        <a:defRPr/>
                      </a:pPr>
                      <a:r>
                        <a:rPr lang="en-US" sz="1000">
                          <a:solidFill>
                            <a:srgbClr val="1A1A1A"/>
                          </a:solidFill>
                          <a:latin typeface="Calibri"/>
                          <a:ea typeface="Calibri"/>
                          <a:cs typeface="Calibri"/>
                        </a:rPr>
                        <a:t>Performance Evaluation of Cyber-Physical Intrusion Detection on a Robotic Vehicle</a:t>
                      </a:r>
                      <a:endParaRPr lang="en-US" sz="1000">
                        <a:latin typeface="Calibri"/>
                        <a:ea typeface="Calibri"/>
                        <a:cs typeface="Calibri"/>
                      </a:endParaRPr>
                    </a:p>
                    <a:p>
                      <a:pPr marL="0" indent="0">
                        <a:buNone/>
                        <a:defRPr/>
                      </a:pPr>
                      <a:r>
                        <a:rPr lang="en-US" sz="1000">
                          <a:solidFill>
                            <a:srgbClr val="1A1A1A"/>
                          </a:solidFill>
                          <a:latin typeface="Calibri"/>
                          <a:ea typeface="Calibri"/>
                          <a:cs typeface="Calibri"/>
                        </a:rPr>
                        <a:t>IEEE CIT, 2016</a:t>
                      </a:r>
                      <a:endParaRPr lang="en-US" sz="100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tcPr>
                </a:tc>
                <a:tc>
                  <a:txBody>
                    <a:bodyPr/>
                    <a:p>
                      <a:pPr marL="0" indent="0">
                        <a:buNone/>
                        <a:defRPr/>
                      </a:pPr>
                      <a:r>
                        <a:rPr lang="en-US" sz="1000">
                          <a:solidFill>
                            <a:srgbClr val="1A1A1A"/>
                          </a:solidFill>
                          <a:latin typeface="Calibri"/>
                          <a:ea typeface="Calibri"/>
                          <a:cs typeface="Calibri"/>
                        </a:rPr>
                        <a:t>A. Bezemskij et al.</a:t>
                      </a:r>
                      <a:endParaRPr lang="en-US" sz="100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tcPr>
                </a:tc>
                <a:tc>
                  <a:txBody>
                    <a:bodyPr/>
                    <a:p>
                      <a:pPr marL="0" indent="0">
                        <a:buNone/>
                        <a:defRPr/>
                      </a:pPr>
                      <a:r>
                        <a:rPr lang="en-US" sz="1000">
                          <a:solidFill>
                            <a:srgbClr val="1A1A1A"/>
                          </a:solidFill>
                          <a:latin typeface="Calibri"/>
                          <a:ea typeface="Calibri"/>
                          <a:cs typeface="Calibri"/>
                        </a:rPr>
                        <a:t>Early demonstration that combining cyber features with physical sensor features improves intrusion detection on a robotic vehicle.</a:t>
                      </a:r>
                      <a:endParaRPr lang="en-US" sz="100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tcPr>
                </a:tc>
              </a:tr>
            </a:tbl>
          </a:graphicData>
        </a:graphic>
      </p:graphicFrame>
      <p:sp>
        <p:nvSpPr>
          <p:cNvPr id="2003437756" name="Text 2"/>
          <p:cNvSpPr txBox="1"/>
          <p:nvPr/>
        </p:nvSpPr>
        <p:spPr bwMode="auto">
          <a:xfrm>
            <a:off x="502920" y="6419088"/>
            <a:ext cx="7315200" cy="256032"/>
          </a:xfrm>
          <a:prstGeom prst="rect">
            <a:avLst/>
          </a:prstGeom>
          <a:noFill/>
          <a:ln/>
        </p:spPr>
        <p:txBody>
          <a:bodyPr wrap="square" lIns="0" tIns="0" rIns="0" bIns="0" rtlCol="0" anchor="ctr"/>
          <a:lstStyle/>
          <a:p>
            <a:pPr marL="0" indent="0">
              <a:buNone/>
              <a:defRPr/>
            </a:pPr>
            <a:r>
              <a:rPr lang="en-US" sz="900">
                <a:solidFill>
                  <a:srgbClr val="5A6672"/>
                </a:solidFill>
                <a:latin typeface="Calibri"/>
                <a:ea typeface="Calibri"/>
                <a:cs typeface="Calibri"/>
              </a:rPr>
              <a:t>21ECC402P  |  Shyam Rithin S  |  RA2311004010308</a:t>
            </a:r>
            <a:endParaRPr lang="en-US" sz="900"/>
          </a:p>
        </p:txBody>
      </p:sp>
      <p:sp>
        <p:nvSpPr>
          <p:cNvPr id="2083892888" name="Text 3"/>
          <p:cNvSpPr txBox="1"/>
          <p:nvPr/>
        </p:nvSpPr>
        <p:spPr bwMode="auto">
          <a:xfrm>
            <a:off x="11247120" y="6419088"/>
            <a:ext cx="457200" cy="256032"/>
          </a:xfrm>
          <a:prstGeom prst="rect">
            <a:avLst/>
          </a:prstGeom>
          <a:noFill/>
          <a:ln/>
        </p:spPr>
        <p:txBody>
          <a:bodyPr wrap="square" lIns="0" tIns="0" rIns="0" bIns="0" rtlCol="0" anchor="ctr"/>
          <a:lstStyle/>
          <a:p>
            <a:pPr marL="0" indent="0" algn="r">
              <a:buNone/>
              <a:defRPr/>
            </a:pPr>
            <a:r>
              <a:rPr lang="en-US" sz="900">
                <a:solidFill>
                  <a:srgbClr val="5A6672"/>
                </a:solidFill>
                <a:latin typeface="Calibri"/>
                <a:ea typeface="Calibri"/>
                <a:cs typeface="Calibri"/>
              </a:rPr>
              <a:t>5</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7">
    <p:bg>
      <p:bgPr shadeToTitle="0">
        <a:solidFill>
          <a:srgbClr val="FFFFFF"/>
        </a:solidFill>
      </p:bgPr>
    </p:bg>
    <p:spTree>
      <p:nvGrpSpPr>
        <p:cNvPr id="1" name=""/>
        <p:cNvGrpSpPr/>
        <p:nvPr/>
      </p:nvGrpSpPr>
      <p:grpSpPr bwMode="auto">
        <a:xfrm>
          <a:off x="0" y="0"/>
          <a:ext cx="0" cy="0"/>
          <a:chOff x="0" y="0"/>
          <a:chExt cx="0" cy="0"/>
        </a:xfrm>
      </p:grpSpPr>
      <p:pic>
        <p:nvPicPr>
          <p:cNvPr id="1789754982" name="Image 0" descr="/home/claude/deck/srm_logo.png"/>
          <p:cNvPicPr>
            <a:picLocks noChangeAspect="1"/>
          </p:cNvPicPr>
          <p:nvPr/>
        </p:nvPicPr>
        <p:blipFill rotWithShape="1">
          <a:blip r:embed="rId3"/>
          <a:stretch/>
        </p:blipFill>
        <p:spPr bwMode="auto">
          <a:xfrm>
            <a:off x="10195560" y="256032"/>
            <a:ext cx="1572768" cy="530352"/>
          </a:xfrm>
          <a:prstGeom prst="rect">
            <a:avLst/>
          </a:prstGeom>
        </p:spPr>
      </p:pic>
      <p:sp>
        <p:nvSpPr>
          <p:cNvPr id="407136094" name="Text 0"/>
          <p:cNvSpPr txBox="1"/>
          <p:nvPr/>
        </p:nvSpPr>
        <p:spPr bwMode="auto">
          <a:xfrm>
            <a:off x="502920" y="274320"/>
            <a:ext cx="9418320" cy="475488"/>
          </a:xfrm>
          <a:prstGeom prst="rect">
            <a:avLst/>
          </a:prstGeom>
          <a:noFill/>
          <a:ln/>
        </p:spPr>
        <p:txBody>
          <a:bodyPr wrap="square" lIns="0" tIns="0" rIns="0" bIns="0" rtlCol="0" anchor="ctr"/>
          <a:lstStyle/>
          <a:p>
            <a:pPr marL="0" indent="0" algn="l">
              <a:buNone/>
              <a:defRPr/>
            </a:pPr>
            <a:r>
              <a:rPr lang="en-US" sz="2700" b="1">
                <a:solidFill>
                  <a:srgbClr val="14509B"/>
                </a:solidFill>
                <a:latin typeface="Cambria"/>
                <a:ea typeface="Cambria"/>
                <a:cs typeface="Cambria"/>
              </a:rPr>
              <a:t>Literature Review</a:t>
            </a:r>
            <a:endParaRPr lang="en-US" sz="2700"/>
          </a:p>
        </p:txBody>
      </p:sp>
      <p:sp>
        <p:nvSpPr>
          <p:cNvPr id="604532085" name="Text 1"/>
          <p:cNvSpPr txBox="1"/>
          <p:nvPr/>
        </p:nvSpPr>
        <p:spPr bwMode="auto">
          <a:xfrm>
            <a:off x="502920" y="749808"/>
            <a:ext cx="9418320" cy="292608"/>
          </a:xfrm>
          <a:prstGeom prst="rect">
            <a:avLst/>
          </a:prstGeom>
          <a:noFill/>
          <a:ln/>
        </p:spPr>
        <p:txBody>
          <a:bodyPr wrap="square" lIns="0" tIns="0" rIns="0" bIns="0" rtlCol="0" anchor="ctr"/>
          <a:lstStyle/>
          <a:p>
            <a:pPr marL="0" indent="0" algn="l">
              <a:buNone/>
              <a:defRPr/>
            </a:pPr>
            <a:r>
              <a:rPr lang="en-US" sz="1300">
                <a:solidFill>
                  <a:srgbClr val="5A6672"/>
                </a:solidFill>
                <a:latin typeface="Calibri"/>
                <a:ea typeface="Calibri"/>
                <a:cs typeface="Calibri"/>
              </a:rPr>
              <a:t>Group B - control-theoretic attack detection  (physics-layer work)</a:t>
            </a:r>
            <a:endParaRPr lang="en-US" sz="1300"/>
          </a:p>
        </p:txBody>
      </p:sp>
      <p:graphicFrame>
        <p:nvGraphicFramePr>
          <p:cNvPr id="182176464" name="Table 0"/>
          <p:cNvGraphicFramePr>
            <a:graphicFrameLocks xmlns:a="http://schemas.openxmlformats.org/drawingml/2006/main" noGrp="1"/>
          </p:cNvGraphicFramePr>
          <p:nvPr/>
        </p:nvGraphicFramePr>
        <p:xfrm rot="0">
          <a:off x="502920" y="1207008"/>
          <a:ext cx="11155679" cy="2084832"/>
        </p:xfrm>
        <a:graphic>
          <a:graphicData uri="http://schemas.openxmlformats.org/drawingml/2006/table">
            <a:tbl>
              <a:tblPr firstRow="0" firstCol="0" lastRow="0" lastCol="0" bandRow="0" bandCol="0"/>
              <a:tblGrid>
                <a:gridCol w="347472"/>
                <a:gridCol w="3794760"/>
                <a:gridCol w="2395727"/>
                <a:gridCol w="4617720"/>
              </a:tblGrid>
              <a:tr h="347472">
                <a:tc>
                  <a:txBody>
                    <a:bodyPr/>
                    <a:p>
                      <a:pPr marL="0" indent="0">
                        <a:buNone/>
                        <a:defRPr/>
                      </a:pPr>
                      <a:r>
                        <a:rPr lang="en-US" sz="1050" b="1">
                          <a:solidFill>
                            <a:srgbClr val="FFFFFF"/>
                          </a:solidFill>
                          <a:latin typeface="Calibri"/>
                          <a:ea typeface="Calibri"/>
                          <a:cs typeface="Calibri"/>
                        </a:rPr>
                        <a:t>#</a:t>
                      </a:r>
                      <a:endParaRPr lang="en-US" sz="1050">
                        <a:latin typeface="Calibri"/>
                        <a:ea typeface="Calibri"/>
                        <a:cs typeface="Calibri"/>
                      </a:endParaRPr>
                    </a:p>
                  </a:txBody>
                  <a:tcPr marL="63500" marR="63500" marT="50800" marB="50800" anchor="ctr">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14509B"/>
                    </a:solidFill>
                  </a:tcPr>
                </a:tc>
                <a:tc>
                  <a:txBody>
                    <a:bodyPr/>
                    <a:p>
                      <a:pPr marL="0" indent="0">
                        <a:buNone/>
                        <a:defRPr/>
                      </a:pPr>
                      <a:r>
                        <a:rPr lang="en-US" sz="1050" b="1">
                          <a:solidFill>
                            <a:srgbClr val="FFFFFF"/>
                          </a:solidFill>
                          <a:latin typeface="Calibri"/>
                          <a:ea typeface="Calibri"/>
                          <a:cs typeface="Calibri"/>
                        </a:rPr>
                        <a:t>Paper / Year</a:t>
                      </a:r>
                      <a:endParaRPr lang="en-US" sz="1050">
                        <a:latin typeface="Calibri"/>
                        <a:ea typeface="Calibri"/>
                        <a:cs typeface="Calibri"/>
                      </a:endParaRPr>
                    </a:p>
                  </a:txBody>
                  <a:tcPr marL="63500" marR="63500" marT="50800" marB="50800" anchor="ctr">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14509B"/>
                    </a:solidFill>
                  </a:tcPr>
                </a:tc>
                <a:tc>
                  <a:txBody>
                    <a:bodyPr/>
                    <a:p>
                      <a:pPr marL="0" indent="0">
                        <a:buNone/>
                        <a:defRPr/>
                      </a:pPr>
                      <a:r>
                        <a:rPr lang="en-US" sz="1050" b="1">
                          <a:solidFill>
                            <a:srgbClr val="FFFFFF"/>
                          </a:solidFill>
                          <a:latin typeface="Calibri"/>
                          <a:ea typeface="Calibri"/>
                          <a:cs typeface="Calibri"/>
                        </a:rPr>
                        <a:t>Author(s)</a:t>
                      </a:r>
                      <a:endParaRPr lang="en-US" sz="1050">
                        <a:latin typeface="Calibri"/>
                        <a:ea typeface="Calibri"/>
                        <a:cs typeface="Calibri"/>
                      </a:endParaRPr>
                    </a:p>
                  </a:txBody>
                  <a:tcPr marL="63500" marR="63500" marT="50800" marB="50800" anchor="ctr">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14509B"/>
                    </a:solidFill>
                  </a:tcPr>
                </a:tc>
                <a:tc>
                  <a:txBody>
                    <a:bodyPr/>
                    <a:p>
                      <a:pPr marL="0" indent="0">
                        <a:buNone/>
                        <a:defRPr/>
                      </a:pPr>
                      <a:r>
                        <a:rPr lang="en-US" sz="1050" b="1">
                          <a:solidFill>
                            <a:srgbClr val="FFFFFF"/>
                          </a:solidFill>
                          <a:latin typeface="Calibri"/>
                          <a:ea typeface="Calibri"/>
                          <a:cs typeface="Calibri"/>
                        </a:rPr>
                        <a:t>Contribution</a:t>
                      </a:r>
                      <a:endParaRPr lang="en-US" sz="1050">
                        <a:latin typeface="Calibri"/>
                        <a:ea typeface="Calibri"/>
                        <a:cs typeface="Calibri"/>
                      </a:endParaRPr>
                    </a:p>
                  </a:txBody>
                  <a:tcPr marL="63500" marR="63500" marT="50800" marB="50800" anchor="ctr">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14509B"/>
                    </a:solidFill>
                  </a:tcPr>
                </a:tc>
              </a:tr>
              <a:tr h="868680">
                <a:tc>
                  <a:txBody>
                    <a:bodyPr/>
                    <a:p>
                      <a:pPr marL="0" indent="0">
                        <a:buNone/>
                        <a:defRPr/>
                      </a:pPr>
                      <a:r>
                        <a:rPr lang="en-US" sz="1000">
                          <a:solidFill>
                            <a:srgbClr val="1A1A1A"/>
                          </a:solidFill>
                          <a:latin typeface="Calibri"/>
                          <a:ea typeface="Calibri"/>
                          <a:cs typeface="Calibri"/>
                        </a:rPr>
                        <a:t>7</a:t>
                      </a:r>
                      <a:endParaRPr lang="en-US" sz="100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tcPr>
                </a:tc>
                <a:tc>
                  <a:txBody>
                    <a:bodyPr/>
                    <a:p>
                      <a:pPr marL="0" indent="0">
                        <a:buNone/>
                        <a:defRPr/>
                      </a:pPr>
                      <a:r>
                        <a:rPr lang="en-US" sz="1000">
                          <a:solidFill>
                            <a:srgbClr val="1A1A1A"/>
                          </a:solidFill>
                          <a:latin typeface="Calibri"/>
                          <a:ea typeface="Calibri"/>
                          <a:cs typeface="Calibri"/>
                        </a:rPr>
                        <a:t>Simulation and Real-World Evaluation of Attack Detection Schemes</a:t>
                      </a:r>
                      <a:endParaRPr lang="en-US" sz="1000">
                        <a:latin typeface="Calibri"/>
                        <a:ea typeface="Calibri"/>
                        <a:cs typeface="Calibri"/>
                      </a:endParaRPr>
                    </a:p>
                    <a:p>
                      <a:pPr marL="0" indent="0">
                        <a:buNone/>
                        <a:defRPr/>
                      </a:pPr>
                      <a:r>
                        <a:rPr lang="en-US" sz="1000">
                          <a:solidFill>
                            <a:srgbClr val="1A1A1A"/>
                          </a:solidFill>
                          <a:latin typeface="Calibri"/>
                          <a:ea typeface="Calibri"/>
                          <a:cs typeface="Calibri"/>
                        </a:rPr>
                        <a:t>ACC, 2019</a:t>
                      </a:r>
                      <a:endParaRPr lang="en-US" sz="100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tcPr>
                </a:tc>
                <a:tc>
                  <a:txBody>
                    <a:bodyPr/>
                    <a:p>
                      <a:pPr marL="0" indent="0">
                        <a:buNone/>
                        <a:defRPr/>
                      </a:pPr>
                      <a:r>
                        <a:rPr lang="en-US" sz="1000">
                          <a:solidFill>
                            <a:srgbClr val="1A1A1A"/>
                          </a:solidFill>
                          <a:latin typeface="Calibri"/>
                          <a:ea typeface="Calibri"/>
                          <a:cs typeface="Calibri"/>
                        </a:rPr>
                        <a:t>M. Porter, A. Joshi, P. Hespanhol, A. Aswani, M. Johnson-Roberson, R. Vasudevan</a:t>
                      </a:r>
                      <a:endParaRPr lang="en-US" sz="100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tcPr>
                </a:tc>
                <a:tc>
                  <a:txBody>
                    <a:bodyPr/>
                    <a:p>
                      <a:pPr marL="0" indent="0">
                        <a:buNone/>
                        <a:defRPr/>
                      </a:pPr>
                      <a:r>
                        <a:rPr lang="en-US" sz="1000">
                          <a:solidFill>
                            <a:srgbClr val="1A1A1A"/>
                          </a:solidFill>
                          <a:latin typeface="Calibri"/>
                          <a:ea typeface="Calibri"/>
                          <a:cs typeface="Calibri"/>
                        </a:rPr>
                        <a:t>Compares chi-squared, CUSUM, MEWMA and Dynamic Watermarking detectors on a real Segway platform performing path following.</a:t>
                      </a:r>
                      <a:endParaRPr lang="en-US" sz="100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tcPr>
                </a:tc>
              </a:tr>
              <a:tr h="868680">
                <a:tc>
                  <a:txBody>
                    <a:bodyPr/>
                    <a:p>
                      <a:pPr marL="0" indent="0">
                        <a:buNone/>
                        <a:defRPr/>
                      </a:pPr>
                      <a:r>
                        <a:rPr lang="en-US" sz="1000">
                          <a:solidFill>
                            <a:srgbClr val="1A1A1A"/>
                          </a:solidFill>
                          <a:latin typeface="Calibri"/>
                          <a:ea typeface="Calibri"/>
                          <a:cs typeface="Calibri"/>
                        </a:rPr>
                        <a:t>8</a:t>
                      </a:r>
                      <a:endParaRPr lang="en-US" sz="100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EEF3F8"/>
                    </a:solidFill>
                  </a:tcPr>
                </a:tc>
                <a:tc>
                  <a:txBody>
                    <a:bodyPr/>
                    <a:p>
                      <a:pPr marL="0" indent="0">
                        <a:buNone/>
                        <a:defRPr/>
                      </a:pPr>
                      <a:r>
                        <a:rPr lang="en-US" sz="1000">
                          <a:solidFill>
                            <a:srgbClr val="1A1A1A"/>
                          </a:solidFill>
                          <a:latin typeface="Calibri"/>
                          <a:ea typeface="Calibri"/>
                          <a:cs typeface="Calibri"/>
                        </a:rPr>
                        <a:t>CUSUM and Chi-squared Attack Detection of Compromised Sensors</a:t>
                      </a:r>
                      <a:endParaRPr lang="en-US" sz="1000">
                        <a:latin typeface="Calibri"/>
                        <a:ea typeface="Calibri"/>
                        <a:cs typeface="Calibri"/>
                      </a:endParaRPr>
                    </a:p>
                    <a:p>
                      <a:pPr marL="0" indent="0">
                        <a:buNone/>
                        <a:defRPr/>
                      </a:pPr>
                      <a:r>
                        <a:rPr lang="en-US" sz="1000">
                          <a:solidFill>
                            <a:srgbClr val="1A1A1A"/>
                          </a:solidFill>
                          <a:latin typeface="Calibri"/>
                          <a:ea typeface="Calibri"/>
                          <a:cs typeface="Calibri"/>
                        </a:rPr>
                        <a:t>IEEE CCA, 2016</a:t>
                      </a:r>
                      <a:endParaRPr lang="en-US" sz="100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EEF3F8"/>
                    </a:solidFill>
                  </a:tcPr>
                </a:tc>
                <a:tc>
                  <a:txBody>
                    <a:bodyPr/>
                    <a:p>
                      <a:pPr marL="0" indent="0">
                        <a:buNone/>
                        <a:defRPr/>
                      </a:pPr>
                      <a:r>
                        <a:rPr lang="en-US" sz="1000">
                          <a:solidFill>
                            <a:srgbClr val="1A1A1A"/>
                          </a:solidFill>
                          <a:latin typeface="Calibri"/>
                          <a:ea typeface="Calibri"/>
                          <a:cs typeface="Calibri"/>
                        </a:rPr>
                        <a:t>C. Murguia, J. Ruths</a:t>
                      </a:r>
                      <a:endParaRPr lang="en-US" sz="100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EEF3F8"/>
                    </a:solidFill>
                  </a:tcPr>
                </a:tc>
                <a:tc>
                  <a:txBody>
                    <a:bodyPr/>
                    <a:p>
                      <a:pPr marL="0" indent="0">
                        <a:buNone/>
                        <a:defRPr/>
                      </a:pPr>
                      <a:r>
                        <a:rPr lang="en-US" sz="1000">
                          <a:solidFill>
                            <a:srgbClr val="1A1A1A"/>
                          </a:solidFill>
                          <a:latin typeface="Calibri"/>
                          <a:ea typeface="Calibri"/>
                          <a:cs typeface="Calibri"/>
                        </a:rPr>
                        <a:t>Formalises residual-based detection for cyber-physical systems and the trade-off between detection sensitivity and false-alarm rate.</a:t>
                      </a:r>
                      <a:endParaRPr lang="en-US" sz="100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EEF3F8"/>
                    </a:solidFill>
                  </a:tcPr>
                </a:tc>
              </a:tr>
            </a:tbl>
          </a:graphicData>
        </a:graphic>
      </p:graphicFrame>
      <p:sp>
        <p:nvSpPr>
          <p:cNvPr id="2054382963" name="Shape 2"/>
          <p:cNvSpPr/>
          <p:nvPr/>
        </p:nvSpPr>
        <p:spPr bwMode="auto">
          <a:xfrm>
            <a:off x="502920" y="3611880"/>
            <a:ext cx="11155680" cy="1325880"/>
          </a:xfrm>
          <a:prstGeom prst="roundRect">
            <a:avLst>
              <a:gd name="adj" fmla="val 2469"/>
            </a:avLst>
          </a:prstGeom>
          <a:solidFill>
            <a:srgbClr val="EEF3F8"/>
          </a:solidFill>
          <a:ln w="12700">
            <a:solidFill>
              <a:srgbClr val="14509B"/>
            </a:solidFill>
            <a:prstDash val="solid"/>
          </a:ln>
        </p:spPr>
      </p:sp>
      <p:sp>
        <p:nvSpPr>
          <p:cNvPr id="607386214" name="Text 3"/>
          <p:cNvSpPr txBox="1"/>
          <p:nvPr/>
        </p:nvSpPr>
        <p:spPr bwMode="auto">
          <a:xfrm>
            <a:off x="731520" y="3730752"/>
            <a:ext cx="10698480" cy="274320"/>
          </a:xfrm>
          <a:prstGeom prst="rect">
            <a:avLst/>
          </a:prstGeom>
          <a:noFill/>
          <a:ln/>
        </p:spPr>
        <p:txBody>
          <a:bodyPr wrap="square" lIns="0" tIns="0" rIns="0" bIns="0" rtlCol="0" anchor="ctr"/>
          <a:lstStyle/>
          <a:p>
            <a:pPr marL="0" indent="0">
              <a:buNone/>
              <a:defRPr/>
            </a:pPr>
            <a:r>
              <a:rPr lang="en-US" sz="1500" b="1">
                <a:solidFill>
                  <a:srgbClr val="14509B"/>
                </a:solidFill>
                <a:latin typeface="Cambria"/>
                <a:ea typeface="Cambria"/>
                <a:cs typeface="Cambria"/>
              </a:rPr>
              <a:t>Two communities, two blind spots</a:t>
            </a:r>
            <a:endParaRPr lang="en-US" sz="1500"/>
          </a:p>
        </p:txBody>
      </p:sp>
      <p:sp>
        <p:nvSpPr>
          <p:cNvPr id="1027925405" name="Text 4"/>
          <p:cNvSpPr txBox="1"/>
          <p:nvPr/>
        </p:nvSpPr>
        <p:spPr bwMode="auto">
          <a:xfrm>
            <a:off x="731520" y="4069080"/>
            <a:ext cx="10698480" cy="777240"/>
          </a:xfrm>
          <a:prstGeom prst="rect">
            <a:avLst/>
          </a:prstGeom>
          <a:noFill/>
          <a:ln/>
        </p:spPr>
        <p:txBody>
          <a:bodyPr wrap="square" lIns="0" tIns="0" rIns="0" bIns="0" rtlCol="0" anchor="ctr"/>
          <a:lstStyle/>
          <a:p>
            <a:pPr marL="0" indent="0">
              <a:spcAft>
                <a:spcPts val="600"/>
              </a:spcAft>
              <a:buNone/>
              <a:defRPr/>
            </a:pPr>
            <a:r>
              <a:rPr lang="en-US" sz="1300">
                <a:solidFill>
                  <a:srgbClr val="1A1A1A"/>
                </a:solidFill>
                <a:latin typeface="Calibri"/>
                <a:ea typeface="Calibri"/>
                <a:cs typeface="Calibri"/>
              </a:rPr>
              <a:t>Group A monitors the network but never the physical process; Group B monitors the physical process but never the network. The overall research gap follows.</a:t>
            </a:r>
            <a:endParaRPr lang="en-US" sz="1300"/>
          </a:p>
        </p:txBody>
      </p:sp>
      <p:sp>
        <p:nvSpPr>
          <p:cNvPr id="786343590" name="Text 5"/>
          <p:cNvSpPr txBox="1"/>
          <p:nvPr/>
        </p:nvSpPr>
        <p:spPr bwMode="auto">
          <a:xfrm>
            <a:off x="502920" y="6419088"/>
            <a:ext cx="7315200" cy="256032"/>
          </a:xfrm>
          <a:prstGeom prst="rect">
            <a:avLst/>
          </a:prstGeom>
          <a:noFill/>
          <a:ln/>
        </p:spPr>
        <p:txBody>
          <a:bodyPr wrap="square" lIns="0" tIns="0" rIns="0" bIns="0" rtlCol="0" anchor="ctr"/>
          <a:lstStyle/>
          <a:p>
            <a:pPr marL="0" indent="0">
              <a:buNone/>
              <a:defRPr/>
            </a:pPr>
            <a:r>
              <a:rPr lang="en-US" sz="900">
                <a:solidFill>
                  <a:srgbClr val="5A6672"/>
                </a:solidFill>
                <a:latin typeface="Calibri"/>
                <a:ea typeface="Calibri"/>
                <a:cs typeface="Calibri"/>
              </a:rPr>
              <a:t>21ECC402P  |  Shyam Rithin S  |  RA2311004010308</a:t>
            </a:r>
            <a:endParaRPr lang="en-US" sz="900"/>
          </a:p>
        </p:txBody>
      </p:sp>
      <p:sp>
        <p:nvSpPr>
          <p:cNvPr id="1299309251" name="Text 6"/>
          <p:cNvSpPr txBox="1"/>
          <p:nvPr/>
        </p:nvSpPr>
        <p:spPr bwMode="auto">
          <a:xfrm>
            <a:off x="11247120" y="6419088"/>
            <a:ext cx="457200" cy="256032"/>
          </a:xfrm>
          <a:prstGeom prst="rect">
            <a:avLst/>
          </a:prstGeom>
          <a:noFill/>
          <a:ln/>
        </p:spPr>
        <p:txBody>
          <a:bodyPr wrap="square" lIns="0" tIns="0" rIns="0" bIns="0" rtlCol="0" anchor="ctr"/>
          <a:lstStyle/>
          <a:p>
            <a:pPr marL="0" indent="0" algn="r">
              <a:buNone/>
              <a:defRPr/>
            </a:pPr>
            <a:r>
              <a:rPr lang="en-US" sz="900">
                <a:solidFill>
                  <a:srgbClr val="5A6672"/>
                </a:solidFill>
                <a:latin typeface="Calibri"/>
                <a:ea typeface="Calibri"/>
                <a:cs typeface="Calibri"/>
              </a:rPr>
              <a:t>6</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5">
    <p:bg>
      <p:bgPr shadeToTitle="0">
        <a:solidFill>
          <a:srgbClr val="FFFFFF"/>
        </a:solidFill>
      </p:bgPr>
    </p:bg>
    <p:spTree>
      <p:nvGrpSpPr>
        <p:cNvPr id="1" name=""/>
        <p:cNvGrpSpPr/>
        <p:nvPr/>
      </p:nvGrpSpPr>
      <p:grpSpPr bwMode="auto">
        <a:xfrm>
          <a:off x="0" y="0"/>
          <a:ext cx="0" cy="0"/>
          <a:chOff x="0" y="0"/>
          <a:chExt cx="0" cy="0"/>
        </a:xfrm>
      </p:grpSpPr>
      <p:pic>
        <p:nvPicPr>
          <p:cNvPr id="1760699557" name="Image 0" descr="/home/claude/deck/srm_logo.png"/>
          <p:cNvPicPr>
            <a:picLocks noChangeAspect="1"/>
          </p:cNvPicPr>
          <p:nvPr/>
        </p:nvPicPr>
        <p:blipFill rotWithShape="1">
          <a:blip r:embed="rId3"/>
          <a:stretch/>
        </p:blipFill>
        <p:spPr bwMode="auto">
          <a:xfrm>
            <a:off x="10195560" y="256032"/>
            <a:ext cx="1572768" cy="530352"/>
          </a:xfrm>
          <a:prstGeom prst="rect">
            <a:avLst/>
          </a:prstGeom>
        </p:spPr>
      </p:pic>
      <p:sp>
        <p:nvSpPr>
          <p:cNvPr id="2065494392" name="Text 0"/>
          <p:cNvSpPr txBox="1"/>
          <p:nvPr/>
        </p:nvSpPr>
        <p:spPr bwMode="auto">
          <a:xfrm>
            <a:off x="502920" y="274320"/>
            <a:ext cx="9418320" cy="475488"/>
          </a:xfrm>
          <a:prstGeom prst="rect">
            <a:avLst/>
          </a:prstGeom>
          <a:noFill/>
          <a:ln/>
        </p:spPr>
        <p:txBody>
          <a:bodyPr wrap="square" lIns="0" tIns="0" rIns="0" bIns="0" rtlCol="0" anchor="ctr"/>
          <a:lstStyle/>
          <a:p>
            <a:pPr marL="0" indent="0" algn="l">
              <a:buNone/>
              <a:defRPr/>
            </a:pPr>
            <a:r>
              <a:rPr lang="en-US" sz="2700" b="1">
                <a:solidFill>
                  <a:srgbClr val="14509B"/>
                </a:solidFill>
                <a:latin typeface="Cambria"/>
                <a:ea typeface="Cambria"/>
                <a:cs typeface="Cambria"/>
              </a:rPr>
              <a:t>Research Gap</a:t>
            </a:r>
            <a:endParaRPr lang="en-US" sz="2700"/>
          </a:p>
        </p:txBody>
      </p:sp>
      <p:sp>
        <p:nvSpPr>
          <p:cNvPr id="1438496714" name="Shape 5"/>
          <p:cNvSpPr/>
          <p:nvPr/>
        </p:nvSpPr>
        <p:spPr bwMode="auto">
          <a:xfrm>
            <a:off x="502920" y="4663440"/>
            <a:ext cx="11155680" cy="1325880"/>
          </a:xfrm>
          <a:prstGeom prst="roundRect">
            <a:avLst>
              <a:gd name="adj" fmla="val 2581"/>
            </a:avLst>
          </a:prstGeom>
          <a:solidFill>
            <a:srgbClr val="EEF3F8"/>
          </a:solidFill>
          <a:ln w="12700">
            <a:solidFill>
              <a:srgbClr val="14509B"/>
            </a:solidFill>
            <a:prstDash val="solid"/>
          </a:ln>
        </p:spPr>
      </p:sp>
      <p:sp>
        <p:nvSpPr>
          <p:cNvPr id="1465651949" name="Text 6"/>
          <p:cNvSpPr txBox="1"/>
          <p:nvPr/>
        </p:nvSpPr>
        <p:spPr bwMode="auto">
          <a:xfrm>
            <a:off x="731520" y="4773168"/>
            <a:ext cx="10698480" cy="292608"/>
          </a:xfrm>
          <a:prstGeom prst="rect">
            <a:avLst/>
          </a:prstGeom>
          <a:noFill/>
          <a:ln/>
        </p:spPr>
        <p:txBody>
          <a:bodyPr wrap="square" lIns="0" tIns="0" rIns="0" bIns="0" rtlCol="0" anchor="ctr"/>
          <a:lstStyle/>
          <a:p>
            <a:pPr marL="0" indent="0">
              <a:buNone/>
              <a:defRPr/>
            </a:pPr>
            <a:r>
              <a:rPr lang="en-US" sz="1500" b="1">
                <a:solidFill>
                  <a:srgbClr val="14509B"/>
                </a:solidFill>
                <a:latin typeface="Cambria"/>
                <a:ea typeface="Cambria"/>
                <a:cs typeface="Cambria"/>
              </a:rPr>
              <a:t>Gap addressed by this project</a:t>
            </a:r>
            <a:endParaRPr lang="en-US" sz="1500"/>
          </a:p>
        </p:txBody>
      </p:sp>
      <p:sp>
        <p:nvSpPr>
          <p:cNvPr id="727468570" name="Text 7"/>
          <p:cNvSpPr txBox="1"/>
          <p:nvPr/>
        </p:nvSpPr>
        <p:spPr bwMode="auto">
          <a:xfrm>
            <a:off x="731520" y="5102352"/>
            <a:ext cx="10698480" cy="822960"/>
          </a:xfrm>
          <a:prstGeom prst="rect">
            <a:avLst/>
          </a:prstGeom>
          <a:noFill/>
          <a:ln/>
        </p:spPr>
        <p:txBody>
          <a:bodyPr wrap="square" lIns="0" tIns="0" rIns="0" bIns="0" rtlCol="0" anchor="ctr"/>
          <a:lstStyle/>
          <a:p>
            <a:pPr marL="0" indent="0">
              <a:buNone/>
              <a:defRPr/>
            </a:pPr>
            <a:r>
              <a:rPr lang="en-US" sz="1300">
                <a:solidFill>
                  <a:srgbClr val="1A1A1A"/>
                </a:solidFill>
                <a:latin typeface="Calibri"/>
                <a:ea typeface="Calibri"/>
                <a:cs typeface="Calibri"/>
              </a:rPr>
              <a:t>Fusion of DDS network evidence with a physical-process consistency check on ROS 2, calibrated from benign data alone and acting inline through a safety filter - and an ablation showing that each layer detects attacks the other is blind to.</a:t>
            </a:r>
            <a:endParaRPr lang="en-US" sz="1300"/>
          </a:p>
        </p:txBody>
      </p:sp>
      <p:sp>
        <p:nvSpPr>
          <p:cNvPr id="327438025" name="Text 8"/>
          <p:cNvSpPr txBox="1"/>
          <p:nvPr/>
        </p:nvSpPr>
        <p:spPr bwMode="auto">
          <a:xfrm>
            <a:off x="502920" y="6419088"/>
            <a:ext cx="7315200" cy="256032"/>
          </a:xfrm>
          <a:prstGeom prst="rect">
            <a:avLst/>
          </a:prstGeom>
          <a:noFill/>
          <a:ln/>
        </p:spPr>
        <p:txBody>
          <a:bodyPr wrap="square" lIns="0" tIns="0" rIns="0" bIns="0" rtlCol="0" anchor="ctr"/>
          <a:lstStyle/>
          <a:p>
            <a:pPr marL="0" indent="0">
              <a:buNone/>
              <a:defRPr/>
            </a:pPr>
            <a:r>
              <a:rPr lang="en-US" sz="900">
                <a:solidFill>
                  <a:srgbClr val="5A6672"/>
                </a:solidFill>
                <a:latin typeface="Calibri"/>
                <a:ea typeface="Calibri"/>
                <a:cs typeface="Calibri"/>
              </a:rPr>
              <a:t>21ECC402P  |  Shyam Rithin S  |  RA2311004010308</a:t>
            </a:r>
            <a:endParaRPr lang="en-US" sz="900"/>
          </a:p>
        </p:txBody>
      </p:sp>
      <p:sp>
        <p:nvSpPr>
          <p:cNvPr id="574980374" name="Text 9"/>
          <p:cNvSpPr txBox="1"/>
          <p:nvPr/>
        </p:nvSpPr>
        <p:spPr bwMode="auto">
          <a:xfrm>
            <a:off x="11247120" y="6419088"/>
            <a:ext cx="457200" cy="256032"/>
          </a:xfrm>
          <a:prstGeom prst="rect">
            <a:avLst/>
          </a:prstGeom>
          <a:noFill/>
          <a:ln/>
        </p:spPr>
        <p:txBody>
          <a:bodyPr wrap="square" lIns="0" tIns="0" rIns="0" bIns="0" rtlCol="0" anchor="ctr"/>
          <a:lstStyle/>
          <a:p>
            <a:pPr marL="0" indent="0" algn="r">
              <a:buNone/>
              <a:defRPr/>
            </a:pPr>
            <a:r>
              <a:rPr lang="en-US" sz="900">
                <a:solidFill>
                  <a:srgbClr val="5A6672"/>
                </a:solidFill>
                <a:latin typeface="Calibri"/>
                <a:ea typeface="Calibri"/>
                <a:cs typeface="Calibri"/>
              </a:rPr>
              <a:t>7</a:t>
            </a:r>
            <a:endParaRPr lang="en-US" sz="900"/>
          </a:p>
        </p:txBody>
      </p:sp>
      <p:sp>
        <p:nvSpPr>
          <p:cNvPr id="2065494393" name="Subtitle"/>
          <p:cNvSpPr txBox="1"/>
          <p:nvPr/>
        </p:nvSpPr>
        <p:spPr>
          <a:xfrm>
            <a:off x="502920" y="749808"/>
            <a:ext cx="9418320" cy="292608"/>
          </a:xfrm>
          <a:prstGeom prst="rect">
            <a:avLst/>
          </a:prstGeom>
          <a:noFill/>
        </p:spPr>
        <p:txBody>
          <a:bodyPr wrap="square" anchor="t" lIns="45720" rIns="45720" tIns="27432" bIns="27432">
            <a:spAutoFit/>
          </a:bodyPr>
          <a:lstStyle/>
          <a:p>
            <a:pPr algn="l"/>
            <a:r>
              <a:rPr sz="1300">
                <a:solidFill>
                  <a:srgbClr val="5A6672"/>
                </a:solidFill>
                <a:latin typeface="Calibri"/>
              </a:rPr>
              <a:t>Where the existing work stops, taken across both research communities</a:t>
            </a:r>
          </a:p>
        </p:txBody>
      </p:sp>
      <p:sp>
        <p:nvSpPr>
          <p:cNvPr id="2065494394" name="Gap paragraph"/>
          <p:cNvSpPr txBox="1"/>
          <p:nvPr/>
        </p:nvSpPr>
        <p:spPr>
          <a:xfrm>
            <a:off x="502920" y="1188720"/>
            <a:ext cx="11155680" cy="1783080"/>
          </a:xfrm>
          <a:prstGeom prst="rect">
            <a:avLst/>
          </a:prstGeom>
          <a:noFill/>
        </p:spPr>
        <p:txBody>
          <a:bodyPr wrap="square" anchor="t" lIns="45720" rIns="45720" tIns="27432" bIns="27432">
            <a:spAutoFit/>
          </a:bodyPr>
          <a:lstStyle/>
          <a:p>
            <a:pPr algn="just">
              <a:lnSpc>
                <a:spcPct val="112000"/>
              </a:lnSpc>
            </a:pPr>
            <a:r>
              <a:rPr sz="1400">
                <a:solidFill>
                  <a:srgbClr val="1A1A1A"/>
                </a:solidFill>
                <a:latin typeface="Calibri"/>
              </a:rPr>
              <a:t>Command traffic in ROS 2 is protected, if at all, at the network and middleware layer, while the robot's physical behaviour is checked only by control-theoretic detectors that know nothing about the network. The two communities have developed separately: network-layer work cannot tell whether a perfectly valid command is physically plausible, and physics-layer work cannot tell who sent it. A stolen credential, a spoofed node name or a discovery flood therefore defeats one side or the other. What is missing is a single runtime detector that fuses DDS network evidence with a physical-process consistency check on ROS 2, needs no labelled attack data, and acts on its verdict inline, before a command reaches the motors.</a:t>
            </a:r>
          </a:p>
        </p:txBody>
      </p:sp>
      <p:sp>
        <p:nvSpPr>
          <p:cNvPr id="2065494395" name="Gap card 1"/>
          <p:cNvSpPr/>
          <p:nvPr/>
        </p:nvSpPr>
        <p:spPr>
          <a:xfrm>
            <a:off x="502920" y="3017520"/>
            <a:ext cx="3566160" cy="1417320"/>
          </a:xfrm>
          <a:prstGeom prst="roundRect">
            <a:avLst>
              <a:gd name="adj" fmla="val 6000"/>
            </a:avLst>
          </a:prstGeom>
          <a:solidFill>
            <a:srgbClr val="EEF3F8"/>
          </a:solidFill>
          <a:ln w="9525">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494396" name="Gap card text 1"/>
          <p:cNvSpPr txBox="1"/>
          <p:nvPr/>
        </p:nvSpPr>
        <p:spPr>
          <a:xfrm>
            <a:off x="640080" y="3090672"/>
            <a:ext cx="3291840" cy="1298448"/>
          </a:xfrm>
          <a:prstGeom prst="rect">
            <a:avLst/>
          </a:prstGeom>
          <a:noFill/>
        </p:spPr>
        <p:txBody>
          <a:bodyPr wrap="square" anchor="t" lIns="45720" rIns="45720" tIns="27432" bIns="27432">
            <a:spAutoFit/>
          </a:bodyPr>
          <a:lstStyle/>
          <a:p>
            <a:pPr algn="l">
              <a:spcAft>
                <a:spcPts val="400"/>
              </a:spcAft>
            </a:pPr>
            <a:r>
              <a:rPr sz="1300" b="1">
                <a:solidFill>
                  <a:srgbClr val="14509B"/>
                </a:solidFill>
                <a:latin typeface="Calibri"/>
              </a:rPr>
              <a:t>Network-layer security  [1-5]</a:t>
            </a:r>
          </a:p>
          <a:p>
            <a:pPr algn="l">
              <a:spcAft>
                <a:spcPts val="300"/>
              </a:spcAft>
            </a:pPr>
            <a:r>
              <a:rPr sz="1150">
                <a:solidFill>
                  <a:srgbClr val="1A1A1A"/>
                </a:solidFill>
                <a:latin typeface="Calibri"/>
              </a:rPr>
              <a:t>Sees participants, credentials and the ROS 2 graph.</a:t>
            </a:r>
          </a:p>
          <a:p>
            <a:pPr algn="l"/>
            <a:r>
              <a:rPr sz="1150" b="1">
                <a:solidFill>
                  <a:srgbClr val="B3261E"/>
                </a:solidFill>
                <a:latin typeface="Calibri"/>
              </a:rPr>
              <a:t>Blind spot:  </a:t>
            </a:r>
            <a:r>
              <a:rPr sz="1150">
                <a:solidFill>
                  <a:srgbClr val="1A1A1A"/>
                </a:solidFill>
                <a:latin typeface="Calibri"/>
              </a:rPr>
              <a:t>Never sees what the robot physically does; an authenticated but compromised node goes unnoticed.</a:t>
            </a:r>
          </a:p>
        </p:txBody>
      </p:sp>
      <p:sp>
        <p:nvSpPr>
          <p:cNvPr id="2065494397" name="Gap card 2"/>
          <p:cNvSpPr/>
          <p:nvPr/>
        </p:nvSpPr>
        <p:spPr>
          <a:xfrm>
            <a:off x="4297680" y="3017520"/>
            <a:ext cx="3566160" cy="1417320"/>
          </a:xfrm>
          <a:prstGeom prst="roundRect">
            <a:avLst>
              <a:gd name="adj" fmla="val 6000"/>
            </a:avLst>
          </a:prstGeom>
          <a:solidFill>
            <a:srgbClr val="EEF3F8"/>
          </a:solidFill>
          <a:ln w="9525">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494398" name="Gap card text 2"/>
          <p:cNvSpPr txBox="1"/>
          <p:nvPr/>
        </p:nvSpPr>
        <p:spPr>
          <a:xfrm>
            <a:off x="4434840" y="3090672"/>
            <a:ext cx="3291840" cy="1298448"/>
          </a:xfrm>
          <a:prstGeom prst="rect">
            <a:avLst/>
          </a:prstGeom>
          <a:noFill/>
        </p:spPr>
        <p:txBody>
          <a:bodyPr wrap="square" anchor="t" lIns="45720" rIns="45720" tIns="27432" bIns="27432">
            <a:spAutoFit/>
          </a:bodyPr>
          <a:lstStyle/>
          <a:p>
            <a:pPr algn="l">
              <a:spcAft>
                <a:spcPts val="400"/>
              </a:spcAft>
            </a:pPr>
            <a:r>
              <a:rPr sz="1300" b="1">
                <a:solidFill>
                  <a:srgbClr val="14509B"/>
                </a:solidFill>
                <a:latin typeface="Calibri"/>
              </a:rPr>
              <a:t>Control-theoretic detection  [7, 8]</a:t>
            </a:r>
          </a:p>
          <a:p>
            <a:pPr algn="l">
              <a:spcAft>
                <a:spcPts val="300"/>
              </a:spcAft>
            </a:pPr>
            <a:r>
              <a:rPr sz="1150">
                <a:solidFill>
                  <a:srgbClr val="1A1A1A"/>
                </a:solidFill>
                <a:latin typeface="Calibri"/>
              </a:rPr>
              <a:t>Sees the physical residual of the controlled process.</a:t>
            </a:r>
          </a:p>
          <a:p>
            <a:pPr algn="l"/>
            <a:r>
              <a:rPr sz="1150" b="1">
                <a:solidFill>
                  <a:srgbClr val="B3261E"/>
                </a:solidFill>
                <a:latin typeface="Calibri"/>
              </a:rPr>
              <a:t>Blind spot:  </a:t>
            </a:r>
            <a:r>
              <a:rPr sz="1150">
                <a:solidFill>
                  <a:srgbClr val="1A1A1A"/>
                </a:solidFill>
                <a:latin typeface="Calibri"/>
              </a:rPr>
              <a:t>No notion of publishers, topics or discovery traffic; evaded by residual-preserving attacks.</a:t>
            </a:r>
          </a:p>
        </p:txBody>
      </p:sp>
      <p:sp>
        <p:nvSpPr>
          <p:cNvPr id="2065494399" name="Gap card 3"/>
          <p:cNvSpPr/>
          <p:nvPr/>
        </p:nvSpPr>
        <p:spPr>
          <a:xfrm>
            <a:off x="8092440" y="3017520"/>
            <a:ext cx="3566160" cy="1417320"/>
          </a:xfrm>
          <a:prstGeom prst="roundRect">
            <a:avLst>
              <a:gd name="adj" fmla="val 6000"/>
            </a:avLst>
          </a:prstGeom>
          <a:solidFill>
            <a:srgbClr val="EEF3F8"/>
          </a:solidFill>
          <a:ln w="9525">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494400" name="Gap card text 3"/>
          <p:cNvSpPr txBox="1"/>
          <p:nvPr/>
        </p:nvSpPr>
        <p:spPr>
          <a:xfrm>
            <a:off x="8229600" y="3090672"/>
            <a:ext cx="3291840" cy="1298448"/>
          </a:xfrm>
          <a:prstGeom prst="rect">
            <a:avLst/>
          </a:prstGeom>
          <a:noFill/>
        </p:spPr>
        <p:txBody>
          <a:bodyPr wrap="square" anchor="t" lIns="45720" rIns="45720" tIns="27432" bIns="27432">
            <a:spAutoFit/>
          </a:bodyPr>
          <a:lstStyle/>
          <a:p>
            <a:pPr algn="l">
              <a:spcAft>
                <a:spcPts val="400"/>
              </a:spcAft>
            </a:pPr>
            <a:r>
              <a:rPr sz="1300" b="1">
                <a:solidFill>
                  <a:srgbClr val="14509B"/>
                </a:solidFill>
                <a:latin typeface="Calibri"/>
              </a:rPr>
              <a:t>Cyber-physical learning  [6]</a:t>
            </a:r>
          </a:p>
          <a:p>
            <a:pPr algn="l">
              <a:spcAft>
                <a:spcPts val="300"/>
              </a:spcAft>
            </a:pPr>
            <a:r>
              <a:rPr sz="1150">
                <a:solidFill>
                  <a:srgbClr val="1A1A1A"/>
                </a:solidFill>
                <a:latin typeface="Calibri"/>
              </a:rPr>
              <a:t>Combines cyber and physical features.</a:t>
            </a:r>
          </a:p>
          <a:p>
            <a:pPr algn="l"/>
            <a:r>
              <a:rPr sz="1150" b="1">
                <a:solidFill>
                  <a:srgbClr val="B3261E"/>
                </a:solidFill>
                <a:latin typeface="Calibri"/>
              </a:rPr>
              <a:t>Blind spot:  </a:t>
            </a:r>
            <a:r>
              <a:rPr sz="1150">
                <a:solidFill>
                  <a:srgbClr val="1A1A1A"/>
                </a:solidFill>
                <a:latin typeface="Calibri"/>
              </a:rPr>
              <a:t>Needs labelled attack data for training and predates ROS 2 and DDS.</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8">
    <p:bg>
      <p:bgPr shadeToTitle="0">
        <a:solidFill>
          <a:srgbClr val="FFFFFF"/>
        </a:solidFill>
      </p:bgPr>
    </p:bg>
    <p:spTree>
      <p:nvGrpSpPr>
        <p:cNvPr id="1" name=""/>
        <p:cNvGrpSpPr/>
        <p:nvPr/>
      </p:nvGrpSpPr>
      <p:grpSpPr bwMode="auto">
        <a:xfrm>
          <a:off x="0" y="0"/>
          <a:ext cx="0" cy="0"/>
          <a:chOff x="0" y="0"/>
          <a:chExt cx="0" cy="0"/>
        </a:xfrm>
      </p:grpSpPr>
      <p:pic>
        <p:nvPicPr>
          <p:cNvPr id="1635604017" name="Image 0" descr="/home/claude/deck/srm_logo.png"/>
          <p:cNvPicPr>
            <a:picLocks noChangeAspect="1"/>
          </p:cNvPicPr>
          <p:nvPr/>
        </p:nvPicPr>
        <p:blipFill rotWithShape="1">
          <a:blip r:embed="rId3"/>
          <a:stretch/>
        </p:blipFill>
        <p:spPr bwMode="auto">
          <a:xfrm>
            <a:off x="10195560" y="256032"/>
            <a:ext cx="1572768" cy="530352"/>
          </a:xfrm>
          <a:prstGeom prst="rect">
            <a:avLst/>
          </a:prstGeom>
        </p:spPr>
      </p:pic>
      <p:sp>
        <p:nvSpPr>
          <p:cNvPr id="556486829" name="Text 0"/>
          <p:cNvSpPr txBox="1"/>
          <p:nvPr/>
        </p:nvSpPr>
        <p:spPr bwMode="auto">
          <a:xfrm>
            <a:off x="502920" y="274320"/>
            <a:ext cx="9418320" cy="475488"/>
          </a:xfrm>
          <a:prstGeom prst="rect">
            <a:avLst/>
          </a:prstGeom>
          <a:noFill/>
          <a:ln/>
        </p:spPr>
        <p:txBody>
          <a:bodyPr wrap="square" lIns="0" tIns="0" rIns="0" bIns="0" rtlCol="0" anchor="ctr"/>
          <a:lstStyle/>
          <a:p>
            <a:pPr marL="0" indent="0" algn="l">
              <a:buNone/>
              <a:defRPr/>
            </a:pPr>
            <a:r>
              <a:rPr lang="en-US" sz="2700" b="1">
                <a:solidFill>
                  <a:srgbClr val="14509B"/>
                </a:solidFill>
                <a:latin typeface="Cambria"/>
                <a:ea typeface="Cambria"/>
                <a:cs typeface="Cambria"/>
              </a:rPr>
              <a:t>Objectives</a:t>
            </a:r>
            <a:endParaRPr lang="en-US" sz="2700"/>
          </a:p>
        </p:txBody>
      </p:sp>
      <p:sp>
        <p:nvSpPr>
          <p:cNvPr id="1022415683" name="Shape 1"/>
          <p:cNvSpPr/>
          <p:nvPr/>
        </p:nvSpPr>
        <p:spPr bwMode="auto">
          <a:xfrm>
            <a:off x="530352" y="1207008"/>
            <a:ext cx="384048" cy="384048"/>
          </a:xfrm>
          <a:prstGeom prst="ellipse">
            <a:avLst/>
          </a:prstGeom>
          <a:solidFill>
            <a:srgbClr val="EEF3F8"/>
          </a:solidFill>
          <a:ln w="12700">
            <a:solidFill>
              <a:srgbClr val="14509B"/>
            </a:solidFill>
            <a:prstDash val="solid"/>
          </a:ln>
        </p:spPr>
      </p:sp>
      <p:sp>
        <p:nvSpPr>
          <p:cNvPr id="306717417" name="Text 2"/>
          <p:cNvSpPr txBox="1"/>
          <p:nvPr/>
        </p:nvSpPr>
        <p:spPr bwMode="auto">
          <a:xfrm>
            <a:off x="530352" y="1207008"/>
            <a:ext cx="384048" cy="384048"/>
          </a:xfrm>
          <a:prstGeom prst="rect">
            <a:avLst/>
          </a:prstGeom>
          <a:noFill/>
          <a:ln/>
        </p:spPr>
        <p:txBody>
          <a:bodyPr wrap="square" lIns="0" tIns="0" rIns="0" bIns="0" rtlCol="0" anchor="ctr"/>
          <a:lstStyle/>
          <a:p>
            <a:pPr marL="0" indent="0" algn="ctr">
              <a:buNone/>
              <a:defRPr/>
            </a:pPr>
            <a:r>
              <a:rPr lang="en-US" sz="1300" b="1">
                <a:solidFill>
                  <a:srgbClr val="14509B"/>
                </a:solidFill>
                <a:latin typeface="Calibri"/>
                <a:ea typeface="Calibri"/>
                <a:cs typeface="Calibri"/>
              </a:rPr>
              <a:t>1</a:t>
            </a:r>
            <a:endParaRPr lang="en-US" sz="1300"/>
          </a:p>
        </p:txBody>
      </p:sp>
      <p:sp>
        <p:nvSpPr>
          <p:cNvPr id="263142161" name="Text 3"/>
          <p:cNvSpPr txBox="1"/>
          <p:nvPr/>
        </p:nvSpPr>
        <p:spPr bwMode="auto">
          <a:xfrm>
            <a:off x="1078992" y="1179576"/>
            <a:ext cx="10515600" cy="841248"/>
          </a:xfrm>
          <a:prstGeom prst="rect">
            <a:avLst/>
          </a:prstGeom>
          <a:noFill/>
          <a:ln/>
        </p:spPr>
        <p:txBody>
          <a:bodyPr wrap="square" lIns="0" tIns="0" rIns="0" bIns="0" rtlCol="0" anchor="t"/>
          <a:lstStyle/>
          <a:p>
            <a:pPr marL="0" indent="0">
              <a:buNone/>
              <a:defRPr/>
            </a:pPr>
            <a:r>
              <a:rPr lang="en-US" sz="1450" b="1">
                <a:solidFill>
                  <a:srgbClr val="14509B"/>
                </a:solidFill>
                <a:latin typeface="Calibri"/>
                <a:ea typeface="Calibri"/>
                <a:cs typeface="Calibri"/>
              </a:rPr>
              <a:t>To study </a:t>
            </a:r>
            <a:r>
              <a:rPr lang="en-US" sz="1450">
                <a:solidFill>
                  <a:srgbClr val="1A1A1A"/>
                </a:solidFill>
                <a:latin typeface="Calibri"/>
                <a:ea typeface="Calibri"/>
                <a:cs typeface="Calibri"/>
              </a:rPr>
              <a:t>the ROS 2 and DDS attack surface and to formulate a threat model covering command injection, node and topic spoofing, and discovery-flood denial of service.</a:t>
            </a:r>
            <a:endParaRPr lang="en-US" sz="1450"/>
          </a:p>
        </p:txBody>
      </p:sp>
      <p:sp>
        <p:nvSpPr>
          <p:cNvPr id="101833689" name="Shape 4"/>
          <p:cNvSpPr/>
          <p:nvPr/>
        </p:nvSpPr>
        <p:spPr bwMode="auto">
          <a:xfrm>
            <a:off x="530352" y="2139696"/>
            <a:ext cx="384048" cy="384048"/>
          </a:xfrm>
          <a:prstGeom prst="ellipse">
            <a:avLst/>
          </a:prstGeom>
          <a:solidFill>
            <a:srgbClr val="EEF3F8"/>
          </a:solidFill>
          <a:ln w="12700">
            <a:solidFill>
              <a:srgbClr val="14509B"/>
            </a:solidFill>
            <a:prstDash val="solid"/>
          </a:ln>
        </p:spPr>
      </p:sp>
      <p:sp>
        <p:nvSpPr>
          <p:cNvPr id="1444148896" name="Text 5"/>
          <p:cNvSpPr txBox="1"/>
          <p:nvPr/>
        </p:nvSpPr>
        <p:spPr bwMode="auto">
          <a:xfrm>
            <a:off x="530352" y="2139696"/>
            <a:ext cx="384048" cy="384048"/>
          </a:xfrm>
          <a:prstGeom prst="rect">
            <a:avLst/>
          </a:prstGeom>
          <a:noFill/>
          <a:ln/>
        </p:spPr>
        <p:txBody>
          <a:bodyPr wrap="square" lIns="0" tIns="0" rIns="0" bIns="0" rtlCol="0" anchor="ctr"/>
          <a:lstStyle/>
          <a:p>
            <a:pPr marL="0" indent="0" algn="ctr">
              <a:buNone/>
              <a:defRPr/>
            </a:pPr>
            <a:r>
              <a:rPr lang="en-US" sz="1300" b="1">
                <a:solidFill>
                  <a:srgbClr val="14509B"/>
                </a:solidFill>
                <a:latin typeface="Calibri"/>
                <a:ea typeface="Calibri"/>
                <a:cs typeface="Calibri"/>
              </a:rPr>
              <a:t>2</a:t>
            </a:r>
            <a:endParaRPr lang="en-US" sz="1300"/>
          </a:p>
        </p:txBody>
      </p:sp>
      <p:sp>
        <p:nvSpPr>
          <p:cNvPr id="1512258190" name="Text 6"/>
          <p:cNvSpPr txBox="1"/>
          <p:nvPr/>
        </p:nvSpPr>
        <p:spPr bwMode="auto">
          <a:xfrm>
            <a:off x="1078992" y="2112264"/>
            <a:ext cx="10515600" cy="841248"/>
          </a:xfrm>
          <a:prstGeom prst="rect">
            <a:avLst/>
          </a:prstGeom>
          <a:noFill/>
          <a:ln/>
        </p:spPr>
        <p:txBody>
          <a:bodyPr wrap="square" lIns="0" tIns="0" rIns="0" bIns="0" rtlCol="0" anchor="t"/>
          <a:lstStyle/>
          <a:p>
            <a:pPr marL="0" indent="0">
              <a:buNone/>
              <a:defRPr/>
            </a:pPr>
            <a:r>
              <a:rPr lang="en-US" sz="1450" b="1">
                <a:solidFill>
                  <a:srgbClr val="14509B"/>
                </a:solidFill>
                <a:latin typeface="Calibri"/>
                <a:ea typeface="Calibri"/>
                <a:cs typeface="Calibri"/>
              </a:rPr>
              <a:t>To develop </a:t>
            </a:r>
            <a:r>
              <a:rPr lang="en-US" sz="1450">
                <a:solidFill>
                  <a:srgbClr val="1A1A1A"/>
                </a:solidFill>
                <a:latin typeface="Calibri"/>
                <a:ea typeface="Calibri"/>
                <a:cs typeface="Calibri"/>
              </a:rPr>
              <a:t>an attack toolkit that reproducibly generates each attack class against a ROS 2 robot on an isolated laboratory domain.</a:t>
            </a:r>
            <a:endParaRPr lang="en-US" sz="1450"/>
          </a:p>
        </p:txBody>
      </p:sp>
      <p:sp>
        <p:nvSpPr>
          <p:cNvPr id="324585464" name="Shape 7"/>
          <p:cNvSpPr/>
          <p:nvPr/>
        </p:nvSpPr>
        <p:spPr bwMode="auto">
          <a:xfrm>
            <a:off x="530352" y="3072384"/>
            <a:ext cx="384048" cy="384048"/>
          </a:xfrm>
          <a:prstGeom prst="ellipse">
            <a:avLst/>
          </a:prstGeom>
          <a:solidFill>
            <a:srgbClr val="EEF3F8"/>
          </a:solidFill>
          <a:ln w="12700">
            <a:solidFill>
              <a:srgbClr val="14509B"/>
            </a:solidFill>
            <a:prstDash val="solid"/>
          </a:ln>
        </p:spPr>
      </p:sp>
      <p:sp>
        <p:nvSpPr>
          <p:cNvPr id="1941767097" name="Text 8"/>
          <p:cNvSpPr txBox="1"/>
          <p:nvPr/>
        </p:nvSpPr>
        <p:spPr bwMode="auto">
          <a:xfrm>
            <a:off x="530352" y="3072384"/>
            <a:ext cx="384048" cy="384048"/>
          </a:xfrm>
          <a:prstGeom prst="rect">
            <a:avLst/>
          </a:prstGeom>
          <a:noFill/>
          <a:ln/>
        </p:spPr>
        <p:txBody>
          <a:bodyPr wrap="square" lIns="0" tIns="0" rIns="0" bIns="0" rtlCol="0" anchor="ctr"/>
          <a:lstStyle/>
          <a:p>
            <a:pPr marL="0" indent="0" algn="ctr">
              <a:buNone/>
              <a:defRPr/>
            </a:pPr>
            <a:r>
              <a:rPr lang="en-US" sz="1300" b="1">
                <a:solidFill>
                  <a:srgbClr val="14509B"/>
                </a:solidFill>
                <a:latin typeface="Calibri"/>
                <a:ea typeface="Calibri"/>
                <a:cs typeface="Calibri"/>
              </a:rPr>
              <a:t>3</a:t>
            </a:r>
            <a:endParaRPr lang="en-US" sz="1300"/>
          </a:p>
        </p:txBody>
      </p:sp>
      <p:sp>
        <p:nvSpPr>
          <p:cNvPr id="2093916345" name="Text 9"/>
          <p:cNvSpPr txBox="1"/>
          <p:nvPr/>
        </p:nvSpPr>
        <p:spPr bwMode="auto">
          <a:xfrm>
            <a:off x="1078992" y="3044952"/>
            <a:ext cx="10515600" cy="841248"/>
          </a:xfrm>
          <a:prstGeom prst="rect">
            <a:avLst/>
          </a:prstGeom>
          <a:noFill/>
          <a:ln/>
        </p:spPr>
        <p:txBody>
          <a:bodyPr wrap="square" lIns="0" tIns="0" rIns="0" bIns="0" rtlCol="0" anchor="t"/>
          <a:lstStyle/>
          <a:p>
            <a:pPr marL="0" indent="0">
              <a:buNone/>
              <a:defRPr/>
            </a:pPr>
            <a:r>
              <a:rPr lang="en-US" sz="1450" b="1">
                <a:solidFill>
                  <a:srgbClr val="14509B"/>
                </a:solidFill>
                <a:latin typeface="Calibri"/>
                <a:ea typeface="Calibri"/>
                <a:cs typeface="Calibri"/>
              </a:rPr>
              <a:t>To formulate </a:t>
            </a:r>
            <a:r>
              <a:rPr lang="en-US" sz="1450">
                <a:solidFill>
                  <a:srgbClr val="1A1A1A"/>
                </a:solidFill>
                <a:latin typeface="Calibri"/>
                <a:ea typeface="Calibri"/>
                <a:cs typeface="Calibri"/>
              </a:rPr>
              <a:t>a closed-form differential-drive feasibility and consistency test whose detection threshold is calibrated from benign data alone, requiring no labelled attack dataset.</a:t>
            </a:r>
            <a:endParaRPr lang="en-US" sz="1450"/>
          </a:p>
        </p:txBody>
      </p:sp>
      <p:sp>
        <p:nvSpPr>
          <p:cNvPr id="1771846475" name="Shape 10"/>
          <p:cNvSpPr/>
          <p:nvPr/>
        </p:nvSpPr>
        <p:spPr bwMode="auto">
          <a:xfrm>
            <a:off x="530352" y="4005072"/>
            <a:ext cx="384048" cy="384048"/>
          </a:xfrm>
          <a:prstGeom prst="ellipse">
            <a:avLst/>
          </a:prstGeom>
          <a:solidFill>
            <a:srgbClr val="EEF3F8"/>
          </a:solidFill>
          <a:ln w="12700">
            <a:solidFill>
              <a:srgbClr val="14509B"/>
            </a:solidFill>
            <a:prstDash val="solid"/>
          </a:ln>
        </p:spPr>
      </p:sp>
      <p:sp>
        <p:nvSpPr>
          <p:cNvPr id="2329833" name="Text 11"/>
          <p:cNvSpPr txBox="1"/>
          <p:nvPr/>
        </p:nvSpPr>
        <p:spPr bwMode="auto">
          <a:xfrm>
            <a:off x="530352" y="4005072"/>
            <a:ext cx="384048" cy="384048"/>
          </a:xfrm>
          <a:prstGeom prst="rect">
            <a:avLst/>
          </a:prstGeom>
          <a:noFill/>
          <a:ln/>
        </p:spPr>
        <p:txBody>
          <a:bodyPr wrap="square" lIns="0" tIns="0" rIns="0" bIns="0" rtlCol="0" anchor="ctr"/>
          <a:lstStyle/>
          <a:p>
            <a:pPr marL="0" indent="0" algn="ctr">
              <a:buNone/>
              <a:defRPr/>
            </a:pPr>
            <a:r>
              <a:rPr lang="en-US" sz="1300" b="1">
                <a:solidFill>
                  <a:srgbClr val="14509B"/>
                </a:solidFill>
                <a:latin typeface="Calibri"/>
                <a:ea typeface="Calibri"/>
                <a:cs typeface="Calibri"/>
              </a:rPr>
              <a:t>4</a:t>
            </a:r>
            <a:endParaRPr lang="en-US" sz="1300"/>
          </a:p>
        </p:txBody>
      </p:sp>
      <p:sp>
        <p:nvSpPr>
          <p:cNvPr id="907814362" name="Text 12"/>
          <p:cNvSpPr txBox="1"/>
          <p:nvPr/>
        </p:nvSpPr>
        <p:spPr bwMode="auto">
          <a:xfrm>
            <a:off x="1078992" y="3977639"/>
            <a:ext cx="10515600" cy="841248"/>
          </a:xfrm>
          <a:prstGeom prst="rect">
            <a:avLst/>
          </a:prstGeom>
          <a:noFill/>
          <a:ln/>
        </p:spPr>
        <p:txBody>
          <a:bodyPr wrap="square" lIns="0" tIns="0" rIns="0" bIns="0" rtlCol="0" anchor="t"/>
          <a:lstStyle/>
          <a:p>
            <a:pPr marL="0" indent="0">
              <a:buNone/>
              <a:defRPr/>
            </a:pPr>
            <a:r>
              <a:rPr lang="en-US" sz="1450" b="1">
                <a:solidFill>
                  <a:srgbClr val="14509B"/>
                </a:solidFill>
                <a:latin typeface="Calibri"/>
                <a:ea typeface="Calibri"/>
                <a:cs typeface="Calibri"/>
              </a:rPr>
              <a:t>To realise</a:t>
            </a:r>
            <a:r>
              <a:rPr lang="en-US" sz="1450">
                <a:solidFill>
                  <a:srgbClr val="1A1A1A"/>
                </a:solidFill>
                <a:latin typeface="Calibri"/>
                <a:ea typeface="Calibri"/>
                <a:cs typeface="Calibri"/>
              </a:rPr>
              <a:t> a cross-layer detector that fuses the physics-layer residual with live network-layer evidence from the ROS 2 computational graph, together with an inline safety layer that rejects commands flagged as malicious and holds the robot on its authorized trajectory.</a:t>
            </a:r>
            <a:endParaRPr lang="en-US" sz="1450"/>
          </a:p>
        </p:txBody>
      </p:sp>
      <p:sp>
        <p:nvSpPr>
          <p:cNvPr id="1916690979" name="Shape 16"/>
          <p:cNvSpPr/>
          <p:nvPr/>
        </p:nvSpPr>
        <p:spPr bwMode="auto">
          <a:xfrm>
            <a:off x="530352" y="4937760"/>
            <a:ext cx="384048" cy="384048"/>
          </a:xfrm>
          <a:prstGeom prst="ellipse">
            <a:avLst/>
          </a:prstGeom>
          <a:solidFill>
            <a:srgbClr val="EEF3F8"/>
          </a:solidFill>
          <a:ln w="12700">
            <a:solidFill>
              <a:srgbClr val="14509B"/>
            </a:solidFill>
            <a:prstDash val="solid"/>
          </a:ln>
        </p:spPr>
      </p:sp>
      <p:sp>
        <p:nvSpPr>
          <p:cNvPr id="744373155" name="Text 17"/>
          <p:cNvSpPr txBox="1"/>
          <p:nvPr/>
        </p:nvSpPr>
        <p:spPr bwMode="auto">
          <a:xfrm>
            <a:off x="530352" y="4937760"/>
            <a:ext cx="384048" cy="384048"/>
          </a:xfrm>
          <a:prstGeom prst="rect">
            <a:avLst/>
          </a:prstGeom>
          <a:noFill/>
          <a:ln/>
        </p:spPr>
        <p:txBody>
          <a:bodyPr wrap="square" lIns="0" tIns="0" rIns="0" bIns="0" rtlCol="0" anchor="ctr"/>
          <a:lstStyle/>
          <a:p>
            <a:pPr marL="0" indent="0" algn="ctr">
              <a:buNone/>
              <a:defRPr/>
            </a:pPr>
            <a:r>
              <a:rPr lang="en-US" sz="1300" b="1">
                <a:solidFill>
                  <a:srgbClr val="14509B"/>
                </a:solidFill>
                <a:latin typeface="Calibri"/>
                <a:ea typeface="Calibri"/>
                <a:cs typeface="Calibri"/>
              </a:rPr>
              <a:t>5</a:t>
            </a:r>
            <a:endParaRPr lang="en-US" sz="1300"/>
          </a:p>
        </p:txBody>
      </p:sp>
      <p:sp>
        <p:nvSpPr>
          <p:cNvPr id="1869265683" name="Text 18"/>
          <p:cNvSpPr txBox="1"/>
          <p:nvPr/>
        </p:nvSpPr>
        <p:spPr bwMode="auto">
          <a:xfrm>
            <a:off x="1078992" y="4910328"/>
            <a:ext cx="10515600" cy="841248"/>
          </a:xfrm>
          <a:prstGeom prst="rect">
            <a:avLst/>
          </a:prstGeom>
          <a:noFill/>
          <a:ln/>
        </p:spPr>
        <p:txBody>
          <a:bodyPr wrap="square" lIns="0" tIns="0" rIns="0" bIns="0" rtlCol="0" anchor="t"/>
          <a:lstStyle/>
          <a:p>
            <a:pPr marL="0" indent="0">
              <a:buNone/>
              <a:defRPr/>
            </a:pPr>
            <a:r>
              <a:rPr lang="en-US" sz="1450" b="1">
                <a:solidFill>
                  <a:srgbClr val="14509B"/>
                </a:solidFill>
                <a:latin typeface="Calibri"/>
                <a:ea typeface="Calibri"/>
                <a:cs typeface="Calibri"/>
              </a:rPr>
              <a:t>To evaluate </a:t>
            </a:r>
            <a:r>
              <a:rPr lang="en-US" sz="1450">
                <a:solidFill>
                  <a:srgbClr val="1A1A1A"/>
                </a:solidFill>
                <a:latin typeface="Calibri"/>
                <a:ea typeface="Calibri"/>
                <a:cs typeface="Calibri"/>
              </a:rPr>
              <a:t>detection rate, false-alarm rate, detection latency and computational overhead, with an ablation isolating the contribution of each layer.</a:t>
            </a:r>
            <a:endParaRPr lang="en-US" sz="1450"/>
          </a:p>
        </p:txBody>
      </p:sp>
      <p:sp>
        <p:nvSpPr>
          <p:cNvPr id="468145653" name="Text 19"/>
          <p:cNvSpPr txBox="1"/>
          <p:nvPr/>
        </p:nvSpPr>
        <p:spPr bwMode="auto">
          <a:xfrm>
            <a:off x="530352" y="5961888"/>
            <a:ext cx="11155680" cy="274320"/>
          </a:xfrm>
          <a:prstGeom prst="rect">
            <a:avLst/>
          </a:prstGeom>
          <a:noFill/>
          <a:ln/>
        </p:spPr>
        <p:txBody>
          <a:bodyPr wrap="square" lIns="0" tIns="0" rIns="0" bIns="0" rtlCol="0" anchor="ctr"/>
          <a:lstStyle/>
          <a:p>
            <a:pPr marL="0" indent="0">
              <a:buNone/>
              <a:defRPr/>
            </a:pPr>
            <a:endParaRPr lang="en-US" sz="1100"/>
          </a:p>
        </p:txBody>
      </p:sp>
      <p:sp>
        <p:nvSpPr>
          <p:cNvPr id="1566388878" name="Text 20"/>
          <p:cNvSpPr txBox="1"/>
          <p:nvPr/>
        </p:nvSpPr>
        <p:spPr bwMode="auto">
          <a:xfrm>
            <a:off x="502920" y="6419088"/>
            <a:ext cx="7315200" cy="256032"/>
          </a:xfrm>
          <a:prstGeom prst="rect">
            <a:avLst/>
          </a:prstGeom>
          <a:noFill/>
          <a:ln/>
        </p:spPr>
        <p:txBody>
          <a:bodyPr wrap="square" lIns="0" tIns="0" rIns="0" bIns="0" rtlCol="0" anchor="ctr"/>
          <a:lstStyle/>
          <a:p>
            <a:pPr marL="0" indent="0">
              <a:buNone/>
              <a:defRPr/>
            </a:pPr>
            <a:r>
              <a:rPr lang="en-US" sz="900">
                <a:solidFill>
                  <a:srgbClr val="5A6672"/>
                </a:solidFill>
                <a:latin typeface="Calibri"/>
                <a:ea typeface="Calibri"/>
                <a:cs typeface="Calibri"/>
              </a:rPr>
              <a:t>21ECC402P  |  Shyam Rithin S  |  RA2311004010308</a:t>
            </a:r>
            <a:endParaRPr lang="en-US" sz="900"/>
          </a:p>
        </p:txBody>
      </p:sp>
      <p:sp>
        <p:nvSpPr>
          <p:cNvPr id="761700418" name="Text 21"/>
          <p:cNvSpPr txBox="1"/>
          <p:nvPr/>
        </p:nvSpPr>
        <p:spPr bwMode="auto">
          <a:xfrm>
            <a:off x="11247120" y="6419088"/>
            <a:ext cx="457200" cy="256032"/>
          </a:xfrm>
          <a:prstGeom prst="rect">
            <a:avLst/>
          </a:prstGeom>
          <a:noFill/>
          <a:ln/>
        </p:spPr>
        <p:txBody>
          <a:bodyPr wrap="square" lIns="0" tIns="0" rIns="0" bIns="0" rtlCol="0" anchor="ctr"/>
          <a:lstStyle/>
          <a:p>
            <a:pPr marL="0" indent="0" algn="r">
              <a:buNone/>
              <a:defRPr/>
            </a:pPr>
            <a:r>
              <a:rPr lang="en-US" sz="900">
                <a:solidFill>
                  <a:srgbClr val="5A6672"/>
                </a:solidFill>
                <a:latin typeface="Calibri"/>
                <a:ea typeface="Calibri"/>
                <a:cs typeface="Calibri"/>
              </a:rPr>
              <a:t>8</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9">
    <p:bg>
      <p:bgPr shadeToTitle="0">
        <a:solidFill>
          <a:srgbClr val="FFFFFF"/>
        </a:solidFill>
      </p:bgPr>
    </p:bg>
    <p:spTree>
      <p:nvGrpSpPr>
        <p:cNvPr id="1" name=""/>
        <p:cNvGrpSpPr/>
        <p:nvPr/>
      </p:nvGrpSpPr>
      <p:grpSpPr bwMode="auto">
        <a:xfrm>
          <a:off x="0" y="0"/>
          <a:ext cx="0" cy="0"/>
          <a:chOff x="0" y="0"/>
          <a:chExt cx="0" cy="0"/>
        </a:xfrm>
      </p:grpSpPr>
      <p:pic>
        <p:nvPicPr>
          <p:cNvPr id="612192849" name="Image 0" descr="/home/claude/deck/srm_logo.png"/>
          <p:cNvPicPr>
            <a:picLocks noChangeAspect="1"/>
          </p:cNvPicPr>
          <p:nvPr/>
        </p:nvPicPr>
        <p:blipFill rotWithShape="1">
          <a:blip r:embed="rId3"/>
          <a:stretch/>
        </p:blipFill>
        <p:spPr bwMode="auto">
          <a:xfrm>
            <a:off x="10195560" y="256032"/>
            <a:ext cx="1572768" cy="530352"/>
          </a:xfrm>
          <a:prstGeom prst="rect">
            <a:avLst/>
          </a:prstGeom>
        </p:spPr>
      </p:pic>
      <p:sp>
        <p:nvSpPr>
          <p:cNvPr id="222638344" name="Text 0"/>
          <p:cNvSpPr txBox="1"/>
          <p:nvPr/>
        </p:nvSpPr>
        <p:spPr bwMode="auto">
          <a:xfrm>
            <a:off x="502920" y="274320"/>
            <a:ext cx="9418320" cy="475488"/>
          </a:xfrm>
          <a:prstGeom prst="rect">
            <a:avLst/>
          </a:prstGeom>
          <a:noFill/>
          <a:ln/>
        </p:spPr>
        <p:txBody>
          <a:bodyPr wrap="square" lIns="0" tIns="0" rIns="0" bIns="0" rtlCol="0" anchor="ctr"/>
          <a:lstStyle/>
          <a:p>
            <a:pPr marL="0" indent="0" algn="l">
              <a:buNone/>
              <a:defRPr/>
            </a:pPr>
            <a:r>
              <a:rPr lang="en-US" sz="2700" b="1">
                <a:solidFill>
                  <a:srgbClr val="14509B"/>
                </a:solidFill>
                <a:latin typeface="Cambria"/>
                <a:ea typeface="Cambria"/>
                <a:cs typeface="Cambria"/>
              </a:rPr>
              <a:t>Proposed Model</a:t>
            </a:r>
            <a:endParaRPr lang="en-US" sz="2700"/>
          </a:p>
        </p:txBody>
      </p:sp>
      <p:sp>
        <p:nvSpPr>
          <p:cNvPr id="1476389772" name="Text 1"/>
          <p:cNvSpPr txBox="1"/>
          <p:nvPr/>
        </p:nvSpPr>
        <p:spPr bwMode="auto">
          <a:xfrm>
            <a:off x="502920" y="749808"/>
            <a:ext cx="9418320" cy="292608"/>
          </a:xfrm>
          <a:prstGeom prst="rect">
            <a:avLst/>
          </a:prstGeom>
          <a:noFill/>
          <a:ln/>
        </p:spPr>
        <p:txBody>
          <a:bodyPr wrap="square" lIns="0" tIns="0" rIns="0" bIns="0" rtlCol="0" anchor="ctr"/>
          <a:lstStyle/>
          <a:p>
            <a:pPr marL="0" indent="0" algn="l">
              <a:buNone/>
              <a:defRPr/>
            </a:pPr>
            <a:r>
              <a:rPr lang="en-US" sz="1300">
                <a:solidFill>
                  <a:srgbClr val="5A6672"/>
                </a:solidFill>
                <a:latin typeface="Calibri"/>
                <a:ea typeface="Calibri"/>
                <a:cs typeface="Calibri"/>
              </a:rPr>
              <a:t>Cross-layer architecture: the detector sits inline, not alongside</a:t>
            </a:r>
            <a:endParaRPr lang="en-US" sz="1300"/>
          </a:p>
        </p:txBody>
      </p:sp>
      <p:pic>
        <p:nvPicPr>
          <p:cNvPr id="1181503520" name="Image 1" descr="/home/claude/deck/illus_model.png"/>
          <p:cNvPicPr>
            <a:picLocks noChangeAspect="1"/>
          </p:cNvPicPr>
          <p:nvPr/>
        </p:nvPicPr>
        <p:blipFill rotWithShape="1">
          <a:blip r:embed="rId4"/>
          <a:stretch/>
        </p:blipFill>
        <p:spPr bwMode="auto">
          <a:xfrm>
            <a:off x="566928" y="1097280"/>
            <a:ext cx="6986016" cy="4956048"/>
          </a:xfrm>
          <a:prstGeom prst="rect">
            <a:avLst/>
          </a:prstGeom>
        </p:spPr>
      </p:pic>
      <p:sp>
        <p:nvSpPr>
          <p:cNvPr id="1185765633" name="Text 2"/>
          <p:cNvSpPr txBox="1"/>
          <p:nvPr/>
        </p:nvSpPr>
        <p:spPr bwMode="auto">
          <a:xfrm>
            <a:off x="566928" y="6089904"/>
            <a:ext cx="6986016" cy="292608"/>
          </a:xfrm>
          <a:prstGeom prst="rect">
            <a:avLst/>
          </a:prstGeom>
          <a:noFill/>
          <a:ln/>
        </p:spPr>
        <p:txBody>
          <a:bodyPr wrap="square" lIns="0" tIns="0" rIns="0" bIns="0" rtlCol="0" anchor="ctr"/>
          <a:lstStyle/>
          <a:p>
            <a:pPr marL="0" indent="0">
              <a:buNone/>
              <a:defRPr/>
            </a:pPr>
            <a:r>
              <a:rPr lang="en-US" sz="1050" i="1">
                <a:solidFill>
                  <a:srgbClr val="5A6672"/>
                </a:solidFill>
                <a:latin typeface="Calibri"/>
                <a:ea typeface="Calibri"/>
                <a:cs typeface="Calibri"/>
              </a:rPr>
              <a:t>Fig. 3  -  System architecture. The detector is placed inline on the command path, so detection can act as prevention.</a:t>
            </a:r>
            <a:endParaRPr lang="en-US" sz="1050"/>
          </a:p>
        </p:txBody>
      </p:sp>
      <p:sp>
        <p:nvSpPr>
          <p:cNvPr id="807547920" name="Text 3"/>
          <p:cNvSpPr txBox="1"/>
          <p:nvPr/>
        </p:nvSpPr>
        <p:spPr bwMode="auto">
          <a:xfrm>
            <a:off x="8458200" y="1188720"/>
            <a:ext cx="3200400" cy="310896"/>
          </a:xfrm>
          <a:prstGeom prst="rect">
            <a:avLst/>
          </a:prstGeom>
          <a:noFill/>
          <a:ln/>
        </p:spPr>
        <p:txBody>
          <a:bodyPr wrap="square" lIns="0" tIns="0" rIns="0" bIns="0" rtlCol="0" anchor="ctr"/>
          <a:lstStyle/>
          <a:p>
            <a:pPr marL="0" indent="0">
              <a:buNone/>
              <a:defRPr/>
            </a:pPr>
            <a:r>
              <a:rPr lang="en-US" sz="1600" b="1">
                <a:solidFill>
                  <a:srgbClr val="14509B"/>
                </a:solidFill>
                <a:latin typeface="Cambria"/>
                <a:ea typeface="Cambria"/>
                <a:cs typeface="Cambria"/>
              </a:rPr>
              <a:t>Two design decisions</a:t>
            </a:r>
            <a:endParaRPr lang="en-US" sz="1600"/>
          </a:p>
        </p:txBody>
      </p:sp>
      <p:sp>
        <p:nvSpPr>
          <p:cNvPr id="1274137646" name="Shape 4"/>
          <p:cNvSpPr/>
          <p:nvPr/>
        </p:nvSpPr>
        <p:spPr bwMode="auto">
          <a:xfrm>
            <a:off x="8458200" y="1536192"/>
            <a:ext cx="3200400" cy="0"/>
          </a:xfrm>
          <a:prstGeom prst="line">
            <a:avLst/>
          </a:prstGeom>
          <a:noFill/>
          <a:ln w="12700">
            <a:solidFill>
              <a:srgbClr val="C9D2DC"/>
            </a:solidFill>
            <a:prstDash val="solid"/>
          </a:ln>
        </p:spPr>
      </p:sp>
      <p:sp>
        <p:nvSpPr>
          <p:cNvPr id="743658012" name="Shape 5"/>
          <p:cNvSpPr/>
          <p:nvPr/>
        </p:nvSpPr>
        <p:spPr bwMode="auto">
          <a:xfrm>
            <a:off x="8476488" y="1746504"/>
            <a:ext cx="109728" cy="109728"/>
          </a:xfrm>
          <a:prstGeom prst="ellipse">
            <a:avLst/>
          </a:prstGeom>
          <a:solidFill>
            <a:srgbClr val="14509B"/>
          </a:solidFill>
          <a:ln w="12700">
            <a:solidFill>
              <a:srgbClr val="14509B"/>
            </a:solidFill>
            <a:prstDash val="solid"/>
          </a:ln>
        </p:spPr>
      </p:sp>
      <p:sp>
        <p:nvSpPr>
          <p:cNvPr id="50878678" name="Text 6"/>
          <p:cNvSpPr txBox="1"/>
          <p:nvPr/>
        </p:nvSpPr>
        <p:spPr bwMode="auto">
          <a:xfrm>
            <a:off x="8732520" y="1682496"/>
            <a:ext cx="2926080" cy="274320"/>
          </a:xfrm>
          <a:prstGeom prst="rect">
            <a:avLst/>
          </a:prstGeom>
          <a:noFill/>
          <a:ln/>
        </p:spPr>
        <p:txBody>
          <a:bodyPr wrap="square" lIns="0" tIns="0" rIns="0" bIns="0" rtlCol="0" anchor="t"/>
          <a:lstStyle/>
          <a:p>
            <a:pPr marL="0" indent="0">
              <a:buNone/>
              <a:defRPr/>
            </a:pPr>
            <a:r>
              <a:rPr lang="en-US" sz="1350" b="1">
                <a:solidFill>
                  <a:srgbClr val="14509B"/>
                </a:solidFill>
                <a:latin typeface="Calibri"/>
                <a:ea typeface="Calibri"/>
                <a:cs typeface="Calibri"/>
              </a:rPr>
              <a:t>Two command topics</a:t>
            </a:r>
            <a:endParaRPr lang="en-US" sz="1350"/>
          </a:p>
        </p:txBody>
      </p:sp>
      <p:sp>
        <p:nvSpPr>
          <p:cNvPr id="1231983105" name="Text 7"/>
          <p:cNvSpPr txBox="1"/>
          <p:nvPr/>
        </p:nvSpPr>
        <p:spPr bwMode="auto">
          <a:xfrm>
            <a:off x="8732520" y="1975104"/>
            <a:ext cx="2926080" cy="1828800"/>
          </a:xfrm>
          <a:prstGeom prst="rect">
            <a:avLst/>
          </a:prstGeom>
          <a:noFill/>
          <a:ln/>
        </p:spPr>
        <p:txBody>
          <a:bodyPr wrap="square" lIns="0" tIns="0" rIns="0" bIns="0" rtlCol="0" anchor="t"/>
          <a:lstStyle/>
          <a:p>
            <a:pPr marL="0" indent="0">
              <a:buNone/>
              <a:defRPr/>
            </a:pPr>
            <a:r>
              <a:rPr lang="en-US" sz="1200">
                <a:solidFill>
                  <a:srgbClr val="1A1A1A"/>
                </a:solidFill>
                <a:latin typeface="Calibri"/>
                <a:ea typeface="Calibri"/>
                <a:cs typeface="Calibri"/>
              </a:rPr>
              <a:t>/cmd_vel_auth carries only the authorized stream; /cmd_vel_raw is the wire the attacker also publishes on. The detector compares measured motion against what the authorized stream predicts, so an injected command is caught even though its packet is perfectly valid.</a:t>
            </a:r>
            <a:endParaRPr lang="en-US" sz="1200"/>
          </a:p>
        </p:txBody>
      </p:sp>
      <p:sp>
        <p:nvSpPr>
          <p:cNvPr id="2099747611" name="Shape 8"/>
          <p:cNvSpPr/>
          <p:nvPr/>
        </p:nvSpPr>
        <p:spPr bwMode="auto">
          <a:xfrm>
            <a:off x="8476488" y="3849624"/>
            <a:ext cx="109728" cy="109728"/>
          </a:xfrm>
          <a:prstGeom prst="ellipse">
            <a:avLst/>
          </a:prstGeom>
          <a:solidFill>
            <a:srgbClr val="14509B"/>
          </a:solidFill>
          <a:ln w="12700">
            <a:solidFill>
              <a:srgbClr val="14509B"/>
            </a:solidFill>
            <a:prstDash val="solid"/>
          </a:ln>
        </p:spPr>
      </p:sp>
      <p:sp>
        <p:nvSpPr>
          <p:cNvPr id="1727885623" name="Text 9"/>
          <p:cNvSpPr txBox="1"/>
          <p:nvPr/>
        </p:nvSpPr>
        <p:spPr bwMode="auto">
          <a:xfrm>
            <a:off x="8732520" y="3785616"/>
            <a:ext cx="2926080" cy="274320"/>
          </a:xfrm>
          <a:prstGeom prst="rect">
            <a:avLst/>
          </a:prstGeom>
          <a:noFill/>
          <a:ln/>
        </p:spPr>
        <p:txBody>
          <a:bodyPr wrap="square" lIns="0" tIns="0" rIns="0" bIns="0" rtlCol="0" anchor="t"/>
          <a:lstStyle/>
          <a:p>
            <a:pPr marL="0" indent="0">
              <a:buNone/>
              <a:defRPr/>
            </a:pPr>
            <a:r>
              <a:rPr lang="en-US" sz="1350" b="1">
                <a:solidFill>
                  <a:srgbClr val="14509B"/>
                </a:solidFill>
                <a:latin typeface="Calibri"/>
                <a:ea typeface="Calibri"/>
                <a:cs typeface="Calibri"/>
              </a:rPr>
              <a:t>The detector is inline</a:t>
            </a:r>
            <a:endParaRPr lang="en-US" sz="1350"/>
          </a:p>
        </p:txBody>
      </p:sp>
      <p:sp>
        <p:nvSpPr>
          <p:cNvPr id="95268388" name="Text 10"/>
          <p:cNvSpPr txBox="1"/>
          <p:nvPr/>
        </p:nvSpPr>
        <p:spPr bwMode="auto">
          <a:xfrm>
            <a:off x="8732520" y="4078224"/>
            <a:ext cx="2926080" cy="1828800"/>
          </a:xfrm>
          <a:prstGeom prst="rect">
            <a:avLst/>
          </a:prstGeom>
          <a:noFill/>
          <a:ln/>
        </p:spPr>
        <p:txBody>
          <a:bodyPr wrap="square" lIns="0" tIns="0" rIns="0" bIns="0" rtlCol="0" anchor="t"/>
          <a:lstStyle/>
          <a:p>
            <a:pPr marL="0" indent="0">
              <a:buNone/>
              <a:defRPr/>
            </a:pPr>
            <a:r>
              <a:rPr lang="en-US" sz="1200">
                <a:solidFill>
                  <a:srgbClr val="1A1A1A"/>
                </a:solidFill>
                <a:latin typeface="Calibri"/>
                <a:ea typeface="Calibri"/>
                <a:cs typeface="Calibri"/>
              </a:rPr>
              <a:t>Nothing reaches the motors except through it. A flagged command is replaced by the last authorized command, so the robot holds its trajectory instead of merely raising an alarm.</a:t>
            </a:r>
            <a:endParaRPr lang="en-US" sz="1200"/>
          </a:p>
        </p:txBody>
      </p:sp>
      <p:sp>
        <p:nvSpPr>
          <p:cNvPr id="570280862" name="Text 11"/>
          <p:cNvSpPr txBox="1"/>
          <p:nvPr/>
        </p:nvSpPr>
        <p:spPr bwMode="auto">
          <a:xfrm>
            <a:off x="502920" y="6419088"/>
            <a:ext cx="7315200" cy="256032"/>
          </a:xfrm>
          <a:prstGeom prst="rect">
            <a:avLst/>
          </a:prstGeom>
          <a:noFill/>
          <a:ln/>
        </p:spPr>
        <p:txBody>
          <a:bodyPr wrap="square" lIns="0" tIns="0" rIns="0" bIns="0" rtlCol="0" anchor="ctr"/>
          <a:lstStyle/>
          <a:p>
            <a:pPr marL="0" indent="0">
              <a:buNone/>
              <a:defRPr/>
            </a:pPr>
            <a:r>
              <a:rPr lang="en-US" sz="900">
                <a:solidFill>
                  <a:srgbClr val="5A6672"/>
                </a:solidFill>
                <a:latin typeface="Calibri"/>
                <a:ea typeface="Calibri"/>
                <a:cs typeface="Calibri"/>
              </a:rPr>
              <a:t>21ECC402P  |  Shyam Rithin S  |  RA2311004010308</a:t>
            </a:r>
            <a:endParaRPr lang="en-US" sz="900"/>
          </a:p>
        </p:txBody>
      </p:sp>
      <p:sp>
        <p:nvSpPr>
          <p:cNvPr id="207336437" name="Text 12"/>
          <p:cNvSpPr txBox="1"/>
          <p:nvPr/>
        </p:nvSpPr>
        <p:spPr bwMode="auto">
          <a:xfrm>
            <a:off x="11247120" y="6419088"/>
            <a:ext cx="457200" cy="256032"/>
          </a:xfrm>
          <a:prstGeom prst="rect">
            <a:avLst/>
          </a:prstGeom>
          <a:noFill/>
          <a:ln/>
        </p:spPr>
        <p:txBody>
          <a:bodyPr wrap="square" lIns="0" tIns="0" rIns="0" bIns="0" rtlCol="0" anchor="ctr"/>
          <a:lstStyle/>
          <a:p>
            <a:pPr marL="0" indent="0" algn="r">
              <a:buNone/>
              <a:defRPr/>
            </a:pPr>
            <a:r>
              <a:rPr lang="en-US" sz="900">
                <a:solidFill>
                  <a:srgbClr val="5A6672"/>
                </a:solidFill>
                <a:latin typeface="Calibri"/>
                <a:ea typeface="Calibri"/>
                <a:cs typeface="Calibri"/>
              </a:rPr>
              <a:t>9</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0">
    <p:bg>
      <p:bgPr shadeToTitle="0">
        <a:solidFill>
          <a:srgbClr val="FFFFFF"/>
        </a:solidFill>
      </p:bgPr>
    </p:bg>
    <p:spTree>
      <p:nvGrpSpPr>
        <p:cNvPr id="1" name=""/>
        <p:cNvGrpSpPr/>
        <p:nvPr/>
      </p:nvGrpSpPr>
      <p:grpSpPr bwMode="auto">
        <a:xfrm>
          <a:off x="0" y="0"/>
          <a:ext cx="0" cy="0"/>
          <a:chOff x="0" y="0"/>
          <a:chExt cx="0" cy="0"/>
        </a:xfrm>
      </p:grpSpPr>
      <p:pic>
        <p:nvPicPr>
          <p:cNvPr id="1281669193" name="Image 0" descr="/home/claude/deck/srm_logo.png"/>
          <p:cNvPicPr>
            <a:picLocks noChangeAspect="1"/>
          </p:cNvPicPr>
          <p:nvPr/>
        </p:nvPicPr>
        <p:blipFill rotWithShape="1">
          <a:blip r:embed="rId3"/>
          <a:stretch/>
        </p:blipFill>
        <p:spPr bwMode="auto">
          <a:xfrm>
            <a:off x="10195560" y="256032"/>
            <a:ext cx="1572768" cy="530352"/>
          </a:xfrm>
          <a:prstGeom prst="rect">
            <a:avLst/>
          </a:prstGeom>
        </p:spPr>
      </p:pic>
      <p:sp>
        <p:nvSpPr>
          <p:cNvPr id="1229286811" name="Text 0"/>
          <p:cNvSpPr txBox="1"/>
          <p:nvPr/>
        </p:nvSpPr>
        <p:spPr bwMode="auto">
          <a:xfrm>
            <a:off x="502920" y="274320"/>
            <a:ext cx="9418320" cy="475488"/>
          </a:xfrm>
          <a:prstGeom prst="rect">
            <a:avLst/>
          </a:prstGeom>
          <a:noFill/>
          <a:ln/>
        </p:spPr>
        <p:txBody>
          <a:bodyPr wrap="square" lIns="0" tIns="0" rIns="0" bIns="0" rtlCol="0" anchor="ctr"/>
          <a:lstStyle/>
          <a:p>
            <a:pPr marL="0" indent="0" algn="l">
              <a:buNone/>
              <a:defRPr/>
            </a:pPr>
            <a:r>
              <a:rPr lang="en-US" sz="2700" b="1">
                <a:solidFill>
                  <a:srgbClr val="14509B"/>
                </a:solidFill>
                <a:latin typeface="Cambria"/>
                <a:ea typeface="Cambria"/>
                <a:cs typeface="Cambria"/>
              </a:rPr>
              <a:t>Proposed Model</a:t>
            </a:r>
            <a:endParaRPr lang="en-US" sz="2700"/>
          </a:p>
        </p:txBody>
      </p:sp>
      <p:sp>
        <p:nvSpPr>
          <p:cNvPr id="1520066392" name="Text 1"/>
          <p:cNvSpPr txBox="1"/>
          <p:nvPr/>
        </p:nvSpPr>
        <p:spPr bwMode="auto">
          <a:xfrm>
            <a:off x="502920" y="749808"/>
            <a:ext cx="9418320" cy="292608"/>
          </a:xfrm>
          <a:prstGeom prst="rect">
            <a:avLst/>
          </a:prstGeom>
          <a:noFill/>
          <a:ln/>
        </p:spPr>
        <p:txBody>
          <a:bodyPr wrap="square" lIns="0" tIns="0" rIns="0" bIns="0" rtlCol="0" anchor="ctr"/>
          <a:lstStyle/>
          <a:p>
            <a:pPr marL="0" indent="0" algn="l">
              <a:buNone/>
              <a:defRPr/>
            </a:pPr>
            <a:r>
              <a:rPr lang="en-US" sz="1300">
                <a:solidFill>
                  <a:srgbClr val="5A6672"/>
                </a:solidFill>
                <a:latin typeface="Calibri"/>
                <a:ea typeface="Calibri"/>
                <a:cs typeface="Calibri"/>
              </a:rPr>
              <a:t>The two detection layers and their fusion</a:t>
            </a:r>
            <a:endParaRPr lang="en-US" sz="1300"/>
          </a:p>
        </p:txBody>
      </p:sp>
      <p:sp>
        <p:nvSpPr>
          <p:cNvPr id="1537364103" name="Shape 2"/>
          <p:cNvSpPr/>
          <p:nvPr/>
        </p:nvSpPr>
        <p:spPr bwMode="auto">
          <a:xfrm>
            <a:off x="502920" y="1188720"/>
            <a:ext cx="5349240" cy="2880360"/>
          </a:xfrm>
          <a:prstGeom prst="roundRect">
            <a:avLst>
              <a:gd name="adj" fmla="val 952"/>
            </a:avLst>
          </a:prstGeom>
          <a:solidFill>
            <a:srgbClr val="FFFFFF"/>
          </a:solidFill>
          <a:ln w="15875">
            <a:solidFill>
              <a:srgbClr val="14509B"/>
            </a:solidFill>
            <a:prstDash val="solid"/>
          </a:ln>
        </p:spPr>
        <p:txBody>
          <a:bodyPr/>
          <a:p/>
        </p:txBody>
      </p:sp>
      <p:sp>
        <p:nvSpPr>
          <p:cNvPr id="1976216964" name="Shape 3"/>
          <p:cNvSpPr/>
          <p:nvPr/>
        </p:nvSpPr>
        <p:spPr bwMode="auto">
          <a:xfrm>
            <a:off x="502920" y="1188720"/>
            <a:ext cx="5349240" cy="475488"/>
          </a:xfrm>
          <a:prstGeom prst="roundRect">
            <a:avLst>
              <a:gd name="adj" fmla="val 5769"/>
            </a:avLst>
          </a:prstGeom>
          <a:solidFill>
            <a:srgbClr val="DCE7F4"/>
          </a:solidFill>
          <a:ln w="15875">
            <a:solidFill>
              <a:srgbClr val="14509B"/>
            </a:solidFill>
            <a:prstDash val="solid"/>
          </a:ln>
        </p:spPr>
        <p:txBody>
          <a:bodyPr/>
          <a:p/>
        </p:txBody>
      </p:sp>
      <p:sp>
        <p:nvSpPr>
          <p:cNvPr id="822308492" name="Text 4"/>
          <p:cNvSpPr txBox="1"/>
          <p:nvPr/>
        </p:nvSpPr>
        <p:spPr bwMode="auto">
          <a:xfrm>
            <a:off x="704088" y="1243584"/>
            <a:ext cx="4937760" cy="365760"/>
          </a:xfrm>
          <a:prstGeom prst="rect">
            <a:avLst/>
          </a:prstGeom>
          <a:noFill/>
          <a:ln/>
        </p:spPr>
        <p:txBody>
          <a:bodyPr wrap="square" lIns="0" tIns="0" rIns="0" bIns="0" rtlCol="0" anchor="ctr"/>
          <a:lstStyle/>
          <a:p>
            <a:pPr marL="0" indent="0">
              <a:buNone/>
              <a:defRPr/>
            </a:pPr>
            <a:r>
              <a:rPr lang="en-US" sz="1600" b="1">
                <a:solidFill>
                  <a:srgbClr val="14509B"/>
                </a:solidFill>
                <a:latin typeface="Cambria"/>
                <a:ea typeface="Cambria"/>
                <a:cs typeface="Cambria"/>
              </a:rPr>
              <a:t>Network layer</a:t>
            </a:r>
            <a:endParaRPr lang="en-US" sz="1600"/>
          </a:p>
        </p:txBody>
      </p:sp>
      <p:sp>
        <p:nvSpPr>
          <p:cNvPr id="1221590465" name="Text 5"/>
          <p:cNvSpPr txBox="1"/>
          <p:nvPr/>
        </p:nvSpPr>
        <p:spPr bwMode="auto">
          <a:xfrm>
            <a:off x="758952" y="1783080"/>
            <a:ext cx="4846320" cy="2148840"/>
          </a:xfrm>
          <a:prstGeom prst="rect">
            <a:avLst/>
          </a:prstGeom>
          <a:noFill/>
          <a:ln/>
        </p:spPr>
        <p:txBody>
          <a:bodyPr wrap="square" lIns="0" tIns="0" rIns="0" bIns="0" rtlCol="0" anchor="t"/>
          <a:lstStyle/>
          <a:p>
            <a:pPr marL="342900" indent="-342900">
              <a:spcAft>
                <a:spcPts val="1000"/>
              </a:spcAft>
              <a:buSzPct val="100000"/>
              <a:buChar char="•"/>
              <a:defRPr/>
            </a:pPr>
            <a:r>
              <a:rPr lang="en-US" sz="1250">
                <a:solidFill>
                  <a:srgbClr val="1A1A1A"/>
                </a:solidFill>
                <a:latin typeface="Calibri"/>
                <a:ea typeface="Calibri"/>
                <a:cs typeface="Calibri"/>
              </a:rPr>
              <a:t>Publisher identity checked against an allowlist, read live from the ROS 2 computational graph.</a:t>
            </a:r>
            <a:endParaRPr lang="en-US" sz="1250"/>
          </a:p>
          <a:p>
            <a:pPr marL="342900" indent="-342900">
              <a:spcAft>
                <a:spcPts val="1000"/>
              </a:spcAft>
              <a:buSzPct val="100000"/>
              <a:buChar char="•"/>
              <a:defRPr/>
            </a:pPr>
            <a:r>
              <a:rPr lang="en-US" sz="1250">
                <a:solidFill>
                  <a:srgbClr val="1A1A1A"/>
                </a:solidFill>
                <a:latin typeface="Calibri"/>
                <a:ea typeface="Calibri"/>
                <a:cs typeface="Calibri"/>
              </a:rPr>
              <a:t>Publisher churn on the command topic; DDS discovery and traffic rates observed on the wire with tshark / Wireshark.</a:t>
            </a:r>
            <a:endParaRPr lang="en-US" sz="1250"/>
          </a:p>
          <a:p>
            <a:pPr marL="342900" indent="-342900">
              <a:spcAft>
                <a:spcPts val="1000"/>
              </a:spcAft>
              <a:buSzPct val="100000"/>
              <a:buChar char="•"/>
              <a:defRPr/>
            </a:pPr>
            <a:r>
              <a:rPr lang="en-US" sz="1250">
                <a:solidFill>
                  <a:srgbClr val="1A1A1A"/>
                </a:solidFill>
                <a:latin typeface="Calibri"/>
                <a:ea typeface="Calibri"/>
                <a:cs typeface="Calibri"/>
              </a:rPr>
              <a:t>Catches rogue publishers, node and topic spoofing, and discovery-flood denial of service.</a:t>
            </a:r>
            <a:endParaRPr lang="en-US" sz="1250"/>
          </a:p>
        </p:txBody>
      </p:sp>
      <p:sp>
        <p:nvSpPr>
          <p:cNvPr id="576069789" name="Shape 6"/>
          <p:cNvSpPr/>
          <p:nvPr/>
        </p:nvSpPr>
        <p:spPr bwMode="auto">
          <a:xfrm>
            <a:off x="6309360" y="1188720"/>
            <a:ext cx="5349240" cy="2880360"/>
          </a:xfrm>
          <a:prstGeom prst="roundRect">
            <a:avLst>
              <a:gd name="adj" fmla="val 952"/>
            </a:avLst>
          </a:prstGeom>
          <a:solidFill>
            <a:srgbClr val="FFFFFF"/>
          </a:solidFill>
          <a:ln w="15875">
            <a:solidFill>
              <a:srgbClr val="8A5A0B"/>
            </a:solidFill>
            <a:prstDash val="solid"/>
          </a:ln>
        </p:spPr>
        <p:txBody>
          <a:bodyPr/>
          <a:p/>
        </p:txBody>
      </p:sp>
      <p:sp>
        <p:nvSpPr>
          <p:cNvPr id="2723766" name="Shape 7"/>
          <p:cNvSpPr/>
          <p:nvPr/>
        </p:nvSpPr>
        <p:spPr bwMode="auto">
          <a:xfrm>
            <a:off x="6309360" y="1188720"/>
            <a:ext cx="5349240" cy="475488"/>
          </a:xfrm>
          <a:prstGeom prst="roundRect">
            <a:avLst>
              <a:gd name="adj" fmla="val 5769"/>
            </a:avLst>
          </a:prstGeom>
          <a:solidFill>
            <a:srgbClr val="FBF1DE"/>
          </a:solidFill>
          <a:ln w="15875">
            <a:solidFill>
              <a:srgbClr val="8A5A0B"/>
            </a:solidFill>
            <a:prstDash val="solid"/>
          </a:ln>
        </p:spPr>
        <p:txBody>
          <a:bodyPr/>
          <a:p/>
        </p:txBody>
      </p:sp>
      <p:sp>
        <p:nvSpPr>
          <p:cNvPr id="487440790" name="Text 8"/>
          <p:cNvSpPr txBox="1"/>
          <p:nvPr/>
        </p:nvSpPr>
        <p:spPr bwMode="auto">
          <a:xfrm>
            <a:off x="6510528" y="1243584"/>
            <a:ext cx="4937760" cy="365760"/>
          </a:xfrm>
          <a:prstGeom prst="rect">
            <a:avLst/>
          </a:prstGeom>
          <a:noFill/>
          <a:ln/>
        </p:spPr>
        <p:txBody>
          <a:bodyPr wrap="square" lIns="0" tIns="0" rIns="0" bIns="0" rtlCol="0" anchor="ctr"/>
          <a:lstStyle/>
          <a:p>
            <a:pPr marL="0" indent="0">
              <a:buNone/>
              <a:defRPr/>
            </a:pPr>
            <a:r>
              <a:rPr lang="en-US" sz="1600" b="1">
                <a:solidFill>
                  <a:srgbClr val="8A5A0B"/>
                </a:solidFill>
                <a:latin typeface="Cambria"/>
                <a:ea typeface="Cambria"/>
                <a:cs typeface="Cambria"/>
              </a:rPr>
              <a:t>Physics layer</a:t>
            </a:r>
            <a:endParaRPr lang="en-US" sz="1600"/>
          </a:p>
        </p:txBody>
      </p:sp>
      <p:sp>
        <p:nvSpPr>
          <p:cNvPr id="843796128" name="Text 9"/>
          <p:cNvSpPr txBox="1"/>
          <p:nvPr/>
        </p:nvSpPr>
        <p:spPr bwMode="auto">
          <a:xfrm>
            <a:off x="6565392" y="1783080"/>
            <a:ext cx="4846320" cy="2148840"/>
          </a:xfrm>
          <a:prstGeom prst="rect">
            <a:avLst/>
          </a:prstGeom>
          <a:noFill/>
          <a:ln/>
        </p:spPr>
        <p:txBody>
          <a:bodyPr wrap="square" lIns="0" tIns="0" rIns="0" bIns="0" rtlCol="0" anchor="t"/>
          <a:lstStyle/>
          <a:p>
            <a:pPr marL="342900" indent="-342900">
              <a:spcAft>
                <a:spcPts val="1000"/>
              </a:spcAft>
              <a:buSzPct val="100000"/>
              <a:buChar char="•"/>
              <a:defRPr/>
            </a:pPr>
            <a:r>
              <a:rPr lang="en-US" sz="1250">
                <a:solidFill>
                  <a:srgbClr val="1A1A1A"/>
                </a:solidFill>
                <a:latin typeface="Calibri"/>
                <a:ea typeface="Calibri"/>
                <a:cs typeface="Calibri"/>
              </a:rPr>
              <a:t>Feasibility: is the command finite and inside the velocity and acceleration envelope of the robot?</a:t>
            </a:r>
            <a:endParaRPr lang="en-US" sz="1250"/>
          </a:p>
          <a:p>
            <a:pPr marL="342900" indent="-342900">
              <a:spcAft>
                <a:spcPts val="1000"/>
              </a:spcAft>
              <a:buSzPct val="100000"/>
              <a:buChar char="•"/>
              <a:defRPr/>
            </a:pPr>
            <a:r>
              <a:rPr lang="en-US" sz="1250">
                <a:solidFill>
                  <a:srgbClr val="1A1A1A"/>
                </a:solidFill>
                <a:latin typeface="Calibri"/>
                <a:ea typeface="Calibri"/>
                <a:cs typeface="Calibri"/>
              </a:rPr>
              <a:t>Consistency: residual between measured odometry and the motion predicted by the authorized command stream.</a:t>
            </a:r>
            <a:endParaRPr lang="en-US" sz="1250"/>
          </a:p>
          <a:p>
            <a:pPr marL="342900" indent="-342900">
              <a:spcAft>
                <a:spcPts val="1000"/>
              </a:spcAft>
              <a:buSzPct val="100000"/>
              <a:buChar char="•"/>
              <a:defRPr/>
            </a:pPr>
            <a:r>
              <a:rPr lang="en-US" sz="1250">
                <a:solidFill>
                  <a:srgbClr val="1A1A1A"/>
                </a:solidFill>
                <a:latin typeface="Calibri"/>
                <a:ea typeface="Calibri"/>
                <a:cs typeface="Calibri"/>
              </a:rPr>
              <a:t>A CUSUM statistic accumulates the residual, exposing stealthy attacks that stay feasible.</a:t>
            </a:r>
            <a:endParaRPr lang="en-US" sz="1250"/>
          </a:p>
        </p:txBody>
      </p:sp>
      <p:sp>
        <p:nvSpPr>
          <p:cNvPr id="1879841120" name="Shape 10"/>
          <p:cNvSpPr/>
          <p:nvPr/>
        </p:nvSpPr>
        <p:spPr bwMode="auto">
          <a:xfrm>
            <a:off x="502920" y="4279392"/>
            <a:ext cx="11155680" cy="777240"/>
          </a:xfrm>
          <a:prstGeom prst="roundRect">
            <a:avLst>
              <a:gd name="adj" fmla="val 3529"/>
            </a:avLst>
          </a:prstGeom>
          <a:solidFill>
            <a:srgbClr val="EEF3F8"/>
          </a:solidFill>
          <a:ln w="15875">
            <a:solidFill>
              <a:srgbClr val="14509B"/>
            </a:solidFill>
            <a:prstDash val="solid"/>
          </a:ln>
        </p:spPr>
        <p:txBody>
          <a:bodyPr/>
          <a:p/>
        </p:txBody>
      </p:sp>
      <p:sp>
        <p:nvSpPr>
          <p:cNvPr id="1127928106" name="Text 11"/>
          <p:cNvSpPr txBox="1"/>
          <p:nvPr/>
        </p:nvSpPr>
        <p:spPr bwMode="auto">
          <a:xfrm>
            <a:off x="777240" y="4443984"/>
            <a:ext cx="10607040" cy="457200"/>
          </a:xfrm>
          <a:prstGeom prst="rect">
            <a:avLst/>
          </a:prstGeom>
          <a:noFill/>
          <a:ln/>
        </p:spPr>
        <p:txBody>
          <a:bodyPr wrap="square" lIns="0" tIns="0" rIns="0" bIns="0" rtlCol="0" anchor="ctr"/>
          <a:lstStyle/>
          <a:p>
            <a:pPr marL="0" indent="0">
              <a:buNone/>
              <a:defRPr/>
            </a:pPr>
            <a:r>
              <a:rPr lang="en-US" sz="1400" b="1">
                <a:solidFill>
                  <a:srgbClr val="14509B"/>
                </a:solidFill>
                <a:latin typeface="Calibri"/>
                <a:ea typeface="Calibri"/>
                <a:cs typeface="Calibri"/>
              </a:rPr>
              <a:t>Fusion:  </a:t>
            </a:r>
            <a:r>
              <a:rPr lang="en-US" sz="1400">
                <a:solidFill>
                  <a:srgbClr val="1A1A1A"/>
                </a:solidFill>
                <a:latin typeface="Calibri"/>
                <a:ea typeface="Calibri"/>
                <a:cs typeface="Calibri"/>
              </a:rPr>
              <a:t>an alarm is raised if either enabled layer fires, and each layer can be disabled at runtime, which is exactly the ablation experiment reported in the results.</a:t>
            </a:r>
            <a:endParaRPr lang="en-US" sz="1400"/>
          </a:p>
        </p:txBody>
      </p:sp>
      <p:sp>
        <p:nvSpPr>
          <p:cNvPr id="1220817728" name="Shape 12"/>
          <p:cNvSpPr/>
          <p:nvPr/>
        </p:nvSpPr>
        <p:spPr bwMode="auto">
          <a:xfrm>
            <a:off x="502920" y="5212080"/>
            <a:ext cx="11155680" cy="841248"/>
          </a:xfrm>
          <a:prstGeom prst="roundRect">
            <a:avLst>
              <a:gd name="adj" fmla="val 3261"/>
            </a:avLst>
          </a:prstGeom>
          <a:solidFill>
            <a:srgbClr val="FFFFFF"/>
          </a:solidFill>
          <a:ln w="12700">
            <a:solidFill>
              <a:srgbClr val="C9D2DC"/>
            </a:solidFill>
            <a:prstDash val="solid"/>
          </a:ln>
        </p:spPr>
        <p:txBody>
          <a:bodyPr/>
          <a:p/>
        </p:txBody>
      </p:sp>
      <p:sp>
        <p:nvSpPr>
          <p:cNvPr id="365625867" name="Text 13"/>
          <p:cNvSpPr txBox="1"/>
          <p:nvPr/>
        </p:nvSpPr>
        <p:spPr bwMode="auto">
          <a:xfrm>
            <a:off x="777240" y="5394960"/>
            <a:ext cx="10607040" cy="548640"/>
          </a:xfrm>
          <a:prstGeom prst="rect">
            <a:avLst/>
          </a:prstGeom>
          <a:noFill/>
          <a:ln/>
        </p:spPr>
        <p:txBody>
          <a:bodyPr wrap="square" lIns="0" tIns="0" rIns="0" bIns="0" rtlCol="0" anchor="ctr"/>
          <a:lstStyle/>
          <a:p>
            <a:pPr marL="0" indent="0">
              <a:buNone/>
              <a:defRPr/>
            </a:pPr>
            <a:r>
              <a:rPr lang="en-US" sz="1350" b="1">
                <a:solidFill>
                  <a:srgbClr val="14509B"/>
                </a:solidFill>
                <a:latin typeface="Calibri"/>
                <a:ea typeface="Calibri"/>
                <a:cs typeface="Calibri"/>
              </a:rPr>
              <a:t>Attack-data-free:  </a:t>
            </a:r>
            <a:r>
              <a:rPr lang="en-US" sz="1350">
                <a:solidFill>
                  <a:srgbClr val="1A1A1A"/>
                </a:solidFill>
                <a:latin typeface="Calibri"/>
                <a:ea typeface="Calibri"/>
                <a:cs typeface="Calibri"/>
              </a:rPr>
              <a:t>the threshold is calibrated as mean + 3 sigma of the residual under benign operation only. No labelled attack dataset is required, so attack types never seen during design are still detected.</a:t>
            </a:r>
            <a:endParaRPr lang="en-US" sz="1350"/>
          </a:p>
        </p:txBody>
      </p:sp>
      <p:sp>
        <p:nvSpPr>
          <p:cNvPr id="2065439034" name="Text 14"/>
          <p:cNvSpPr txBox="1"/>
          <p:nvPr/>
        </p:nvSpPr>
        <p:spPr bwMode="auto">
          <a:xfrm>
            <a:off x="502920" y="6419088"/>
            <a:ext cx="7315200" cy="256032"/>
          </a:xfrm>
          <a:prstGeom prst="rect">
            <a:avLst/>
          </a:prstGeom>
          <a:noFill/>
          <a:ln/>
        </p:spPr>
        <p:txBody>
          <a:bodyPr wrap="square" lIns="0" tIns="0" rIns="0" bIns="0" rtlCol="0" anchor="ctr"/>
          <a:lstStyle/>
          <a:p>
            <a:pPr marL="0" indent="0">
              <a:buNone/>
              <a:defRPr/>
            </a:pPr>
            <a:r>
              <a:rPr lang="en-US" sz="900">
                <a:solidFill>
                  <a:srgbClr val="5A6672"/>
                </a:solidFill>
                <a:latin typeface="Calibri"/>
                <a:ea typeface="Calibri"/>
                <a:cs typeface="Calibri"/>
              </a:rPr>
              <a:t>21ECC402P  |  Shyam Rithin S  |  RA2311004010308</a:t>
            </a:r>
            <a:endParaRPr lang="en-US" sz="900"/>
          </a:p>
        </p:txBody>
      </p:sp>
      <p:sp>
        <p:nvSpPr>
          <p:cNvPr id="303581467" name="Text 15"/>
          <p:cNvSpPr txBox="1"/>
          <p:nvPr/>
        </p:nvSpPr>
        <p:spPr bwMode="auto">
          <a:xfrm>
            <a:off x="11247120" y="6419088"/>
            <a:ext cx="457200" cy="256032"/>
          </a:xfrm>
          <a:prstGeom prst="rect">
            <a:avLst/>
          </a:prstGeom>
          <a:noFill/>
          <a:ln/>
        </p:spPr>
        <p:txBody>
          <a:bodyPr wrap="square" lIns="0" tIns="0" rIns="0" bIns="0" rtlCol="0" anchor="ctr"/>
          <a:lstStyle/>
          <a:p>
            <a:pPr marL="0" indent="0" algn="r">
              <a:buNone/>
              <a:defRPr/>
            </a:pPr>
            <a:r>
              <a:rPr lang="en-US" sz="900">
                <a:solidFill>
                  <a:srgbClr val="5A6672"/>
                </a:solidFill>
                <a:latin typeface="Calibri"/>
                <a:ea typeface="Calibri"/>
                <a:cs typeface="Calibri"/>
              </a:rPr>
              <a:t>10</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1">
    <p:bg>
      <p:bgPr shadeToTitle="0">
        <a:solidFill>
          <a:srgbClr val="FFFFFF"/>
        </a:solidFill>
      </p:bgPr>
    </p:bg>
    <p:spTree>
      <p:nvGrpSpPr>
        <p:cNvPr id="1" name=""/>
        <p:cNvGrpSpPr/>
        <p:nvPr/>
      </p:nvGrpSpPr>
      <p:grpSpPr bwMode="auto">
        <a:xfrm>
          <a:off x="0" y="0"/>
          <a:ext cx="0" cy="0"/>
          <a:chOff x="0" y="0"/>
          <a:chExt cx="0" cy="0"/>
        </a:xfrm>
      </p:grpSpPr>
      <p:pic>
        <p:nvPicPr>
          <p:cNvPr id="1665441824" name="Image 0" descr="/home/claude/deck/srm_logo.png"/>
          <p:cNvPicPr>
            <a:picLocks noChangeAspect="1"/>
          </p:cNvPicPr>
          <p:nvPr/>
        </p:nvPicPr>
        <p:blipFill rotWithShape="1">
          <a:blip r:embed="rId3"/>
          <a:stretch/>
        </p:blipFill>
        <p:spPr bwMode="auto">
          <a:xfrm>
            <a:off x="10195560" y="256032"/>
            <a:ext cx="1572768" cy="530352"/>
          </a:xfrm>
          <a:prstGeom prst="rect">
            <a:avLst/>
          </a:prstGeom>
        </p:spPr>
      </p:pic>
      <p:sp>
        <p:nvSpPr>
          <p:cNvPr id="812613475" name="Text 0"/>
          <p:cNvSpPr txBox="1"/>
          <p:nvPr/>
        </p:nvSpPr>
        <p:spPr bwMode="auto">
          <a:xfrm>
            <a:off x="502920" y="274320"/>
            <a:ext cx="9418320" cy="475488"/>
          </a:xfrm>
          <a:prstGeom prst="rect">
            <a:avLst/>
          </a:prstGeom>
          <a:noFill/>
          <a:ln/>
        </p:spPr>
        <p:txBody>
          <a:bodyPr wrap="square" lIns="0" tIns="0" rIns="0" bIns="0" rtlCol="0" anchor="ctr"/>
          <a:lstStyle/>
          <a:p>
            <a:pPr marL="0" indent="0" algn="l">
              <a:buNone/>
              <a:defRPr/>
            </a:pPr>
            <a:r>
              <a:rPr lang="en-US" sz="2700" b="1">
                <a:solidFill>
                  <a:srgbClr val="14509B"/>
                </a:solidFill>
                <a:latin typeface="Cambria"/>
                <a:ea typeface="Cambria"/>
                <a:cs typeface="Cambria"/>
              </a:rPr>
              <a:t>Detection Algorithm</a:t>
            </a:r>
            <a:endParaRPr lang="en-US" sz="2700"/>
          </a:p>
        </p:txBody>
      </p:sp>
      <p:sp>
        <p:nvSpPr>
          <p:cNvPr id="1977546956" name="Text 1"/>
          <p:cNvSpPr txBox="1"/>
          <p:nvPr/>
        </p:nvSpPr>
        <p:spPr bwMode="auto">
          <a:xfrm>
            <a:off x="502920" y="749808"/>
            <a:ext cx="9418320" cy="292608"/>
          </a:xfrm>
          <a:prstGeom prst="rect">
            <a:avLst/>
          </a:prstGeom>
          <a:noFill/>
          <a:ln/>
        </p:spPr>
        <p:txBody>
          <a:bodyPr wrap="square" lIns="0" tIns="0" rIns="0" bIns="0" rtlCol="0" anchor="ctr"/>
          <a:lstStyle/>
          <a:p>
            <a:pPr marL="0" indent="0" algn="l">
              <a:buNone/>
              <a:defRPr/>
            </a:pPr>
            <a:r>
              <a:rPr lang="en-US" sz="1300">
                <a:solidFill>
                  <a:srgbClr val="5A6672"/>
                </a:solidFill>
                <a:latin typeface="Calibri"/>
                <a:ea typeface="Calibri"/>
                <a:cs typeface="Calibri"/>
              </a:rPr>
              <a:t>What the detector computes at every control step (20 Hz)</a:t>
            </a:r>
            <a:endParaRPr lang="en-US" sz="1300"/>
          </a:p>
        </p:txBody>
      </p:sp>
      <p:sp>
        <p:nvSpPr>
          <p:cNvPr id="931301021" name="Shape 2"/>
          <p:cNvSpPr/>
          <p:nvPr/>
        </p:nvSpPr>
        <p:spPr bwMode="auto">
          <a:xfrm>
            <a:off x="530352" y="1225296"/>
            <a:ext cx="365760" cy="365760"/>
          </a:xfrm>
          <a:prstGeom prst="ellipse">
            <a:avLst/>
          </a:prstGeom>
          <a:solidFill>
            <a:srgbClr val="14509B"/>
          </a:solidFill>
          <a:ln w="12700">
            <a:solidFill>
              <a:srgbClr val="14509B"/>
            </a:solidFill>
            <a:prstDash val="solid"/>
          </a:ln>
        </p:spPr>
      </p:sp>
      <p:sp>
        <p:nvSpPr>
          <p:cNvPr id="1897391781" name="Text 3"/>
          <p:cNvSpPr txBox="1"/>
          <p:nvPr/>
        </p:nvSpPr>
        <p:spPr bwMode="auto">
          <a:xfrm>
            <a:off x="530352" y="1225296"/>
            <a:ext cx="365760" cy="365760"/>
          </a:xfrm>
          <a:prstGeom prst="rect">
            <a:avLst/>
          </a:prstGeom>
          <a:noFill/>
          <a:ln/>
        </p:spPr>
        <p:txBody>
          <a:bodyPr wrap="square" lIns="0" tIns="0" rIns="0" bIns="0" rtlCol="0" anchor="ctr"/>
          <a:lstStyle/>
          <a:p>
            <a:pPr marL="0" indent="0" algn="ctr">
              <a:buNone/>
              <a:defRPr/>
            </a:pPr>
            <a:r>
              <a:rPr lang="en-US" sz="1300" b="1">
                <a:solidFill>
                  <a:srgbClr val="FFFFFF"/>
                </a:solidFill>
                <a:latin typeface="Calibri"/>
                <a:ea typeface="Calibri"/>
                <a:cs typeface="Calibri"/>
              </a:rPr>
              <a:t>1</a:t>
            </a:r>
            <a:endParaRPr lang="en-US" sz="1300"/>
          </a:p>
        </p:txBody>
      </p:sp>
      <p:sp>
        <p:nvSpPr>
          <p:cNvPr id="731254171" name="Text 4"/>
          <p:cNvSpPr txBox="1"/>
          <p:nvPr/>
        </p:nvSpPr>
        <p:spPr bwMode="auto">
          <a:xfrm>
            <a:off x="1051560" y="1207008"/>
            <a:ext cx="2331720" cy="292608"/>
          </a:xfrm>
          <a:prstGeom prst="rect">
            <a:avLst/>
          </a:prstGeom>
          <a:noFill/>
          <a:ln/>
        </p:spPr>
        <p:txBody>
          <a:bodyPr wrap="square" lIns="0" tIns="0" rIns="0" bIns="0" rtlCol="0" anchor="t"/>
          <a:lstStyle/>
          <a:p>
            <a:pPr marL="0" indent="0">
              <a:buNone/>
              <a:defRPr/>
            </a:pPr>
            <a:r>
              <a:rPr lang="en-US" sz="1400" b="1">
                <a:solidFill>
                  <a:srgbClr val="14509B"/>
                </a:solidFill>
                <a:latin typeface="Calibri"/>
                <a:ea typeface="Calibri"/>
                <a:cs typeface="Calibri"/>
              </a:rPr>
              <a:t>Feasibility test</a:t>
            </a:r>
            <a:endParaRPr lang="en-US" sz="1400"/>
          </a:p>
        </p:txBody>
      </p:sp>
      <p:sp>
        <p:nvSpPr>
          <p:cNvPr id="1179552839" name="Text 5"/>
          <p:cNvSpPr txBox="1"/>
          <p:nvPr/>
        </p:nvSpPr>
        <p:spPr bwMode="auto">
          <a:xfrm>
            <a:off x="3474720" y="1188720"/>
            <a:ext cx="5257800" cy="822960"/>
          </a:xfrm>
          <a:prstGeom prst="rect">
            <a:avLst/>
          </a:prstGeom>
          <a:noFill/>
          <a:ln/>
        </p:spPr>
        <p:txBody>
          <a:bodyPr wrap="square" lIns="0" tIns="0" rIns="0" bIns="0" rtlCol="0" anchor="t"/>
          <a:lstStyle/>
          <a:p>
            <a:pPr marL="0" indent="0">
              <a:buNone/>
              <a:defRPr/>
            </a:pPr>
            <a:r>
              <a:rPr lang="en-US" sz="1250">
                <a:solidFill>
                  <a:srgbClr val="1A1A1A"/>
                </a:solidFill>
                <a:latin typeface="Calibri"/>
                <a:ea typeface="Calibri"/>
                <a:cs typeface="Calibri"/>
              </a:rPr>
              <a:t>Reject any command that is non-finite or outside the robot's envelope:  |v| &gt; v_max,  |w| &gt; w_max,  or a step change larger than the acceleration limit allows.</a:t>
            </a:r>
            <a:endParaRPr lang="en-US" sz="1250"/>
          </a:p>
        </p:txBody>
      </p:sp>
      <p:sp>
        <p:nvSpPr>
          <p:cNvPr id="431939645" name="Text 6"/>
          <p:cNvSpPr txBox="1"/>
          <p:nvPr/>
        </p:nvSpPr>
        <p:spPr bwMode="auto">
          <a:xfrm>
            <a:off x="8915400" y="1207008"/>
            <a:ext cx="2788920" cy="822960"/>
          </a:xfrm>
          <a:prstGeom prst="rect">
            <a:avLst/>
          </a:prstGeom>
          <a:noFill/>
          <a:ln/>
        </p:spPr>
        <p:txBody>
          <a:bodyPr wrap="square" lIns="0" tIns="0" rIns="0" bIns="0" rtlCol="0" anchor="t"/>
          <a:lstStyle/>
          <a:p>
            <a:pPr marL="0" indent="0">
              <a:buNone/>
              <a:defRPr/>
            </a:pPr>
            <a:r>
              <a:rPr lang="en-US" sz="1150" i="1">
                <a:solidFill>
                  <a:srgbClr val="5A6672"/>
                </a:solidFill>
                <a:latin typeface="Calibri"/>
                <a:ea typeface="Calibri"/>
                <a:cs typeface="Calibri"/>
              </a:rPr>
              <a:t>catches garbage values and crude high-velocity takeover, instantly</a:t>
            </a:r>
            <a:endParaRPr lang="en-US" sz="1150"/>
          </a:p>
        </p:txBody>
      </p:sp>
      <p:sp>
        <p:nvSpPr>
          <p:cNvPr id="1824443441" name="Shape 7"/>
          <p:cNvSpPr/>
          <p:nvPr/>
        </p:nvSpPr>
        <p:spPr bwMode="auto">
          <a:xfrm>
            <a:off x="429768" y="2066544"/>
            <a:ext cx="11301984" cy="932688"/>
          </a:xfrm>
          <a:prstGeom prst="rect">
            <a:avLst/>
          </a:prstGeom>
          <a:solidFill>
            <a:srgbClr val="EEF3F8"/>
          </a:solidFill>
          <a:ln w="12700">
            <a:solidFill>
              <a:srgbClr val="EEF3F8"/>
            </a:solidFill>
            <a:prstDash val="solid"/>
          </a:ln>
        </p:spPr>
      </p:sp>
      <p:sp>
        <p:nvSpPr>
          <p:cNvPr id="1550785877" name="Shape 8"/>
          <p:cNvSpPr/>
          <p:nvPr/>
        </p:nvSpPr>
        <p:spPr bwMode="auto">
          <a:xfrm>
            <a:off x="530352" y="2157984"/>
            <a:ext cx="365760" cy="365760"/>
          </a:xfrm>
          <a:prstGeom prst="ellipse">
            <a:avLst/>
          </a:prstGeom>
          <a:solidFill>
            <a:srgbClr val="14509B"/>
          </a:solidFill>
          <a:ln w="12700">
            <a:solidFill>
              <a:srgbClr val="14509B"/>
            </a:solidFill>
            <a:prstDash val="solid"/>
          </a:ln>
        </p:spPr>
      </p:sp>
      <p:sp>
        <p:nvSpPr>
          <p:cNvPr id="570728231" name="Text 9"/>
          <p:cNvSpPr txBox="1"/>
          <p:nvPr/>
        </p:nvSpPr>
        <p:spPr bwMode="auto">
          <a:xfrm>
            <a:off x="530352" y="2157984"/>
            <a:ext cx="365760" cy="365760"/>
          </a:xfrm>
          <a:prstGeom prst="rect">
            <a:avLst/>
          </a:prstGeom>
          <a:noFill/>
          <a:ln/>
        </p:spPr>
        <p:txBody>
          <a:bodyPr wrap="square" lIns="0" tIns="0" rIns="0" bIns="0" rtlCol="0" anchor="ctr"/>
          <a:lstStyle/>
          <a:p>
            <a:pPr marL="0" indent="0" algn="ctr">
              <a:buNone/>
              <a:defRPr/>
            </a:pPr>
            <a:r>
              <a:rPr lang="en-US" sz="1300" b="1">
                <a:solidFill>
                  <a:srgbClr val="FFFFFF"/>
                </a:solidFill>
                <a:latin typeface="Calibri"/>
                <a:ea typeface="Calibri"/>
                <a:cs typeface="Calibri"/>
              </a:rPr>
              <a:t>2</a:t>
            </a:r>
            <a:endParaRPr lang="en-US" sz="1300"/>
          </a:p>
        </p:txBody>
      </p:sp>
      <p:sp>
        <p:nvSpPr>
          <p:cNvPr id="880917402" name="Text 10"/>
          <p:cNvSpPr txBox="1"/>
          <p:nvPr/>
        </p:nvSpPr>
        <p:spPr bwMode="auto">
          <a:xfrm>
            <a:off x="1051560" y="2139696"/>
            <a:ext cx="2331720" cy="292608"/>
          </a:xfrm>
          <a:prstGeom prst="rect">
            <a:avLst/>
          </a:prstGeom>
          <a:noFill/>
          <a:ln/>
        </p:spPr>
        <p:txBody>
          <a:bodyPr wrap="square" lIns="0" tIns="0" rIns="0" bIns="0" rtlCol="0" anchor="t"/>
          <a:lstStyle/>
          <a:p>
            <a:pPr marL="0" indent="0">
              <a:buNone/>
              <a:defRPr/>
            </a:pPr>
            <a:r>
              <a:rPr lang="en-US" sz="1400" b="1">
                <a:solidFill>
                  <a:srgbClr val="14509B"/>
                </a:solidFill>
                <a:latin typeface="Calibri"/>
                <a:ea typeface="Calibri"/>
                <a:cs typeface="Calibri"/>
              </a:rPr>
              <a:t>Motion prediction</a:t>
            </a:r>
            <a:endParaRPr lang="en-US" sz="1400"/>
          </a:p>
        </p:txBody>
      </p:sp>
      <p:sp>
        <p:nvSpPr>
          <p:cNvPr id="635135281" name="Text 11"/>
          <p:cNvSpPr txBox="1"/>
          <p:nvPr/>
        </p:nvSpPr>
        <p:spPr bwMode="auto">
          <a:xfrm>
            <a:off x="3474720" y="2121408"/>
            <a:ext cx="5257800" cy="822960"/>
          </a:xfrm>
          <a:prstGeom prst="rect">
            <a:avLst/>
          </a:prstGeom>
          <a:noFill/>
          <a:ln/>
        </p:spPr>
        <p:txBody>
          <a:bodyPr wrap="square" lIns="0" tIns="0" rIns="0" bIns="0" rtlCol="0" anchor="t"/>
          <a:lstStyle/>
          <a:p>
            <a:pPr marL="0" indent="0">
              <a:buNone/>
              <a:defRPr/>
            </a:pPr>
            <a:r>
              <a:rPr lang="en-US" sz="1250">
                <a:solidFill>
                  <a:srgbClr val="1A1A1A"/>
                </a:solidFill>
                <a:latin typeface="Calibri"/>
                <a:ea typeface="Calibri"/>
                <a:cs typeface="Calibri"/>
              </a:rPr>
              <a:t>Pass the AUTHORIZED command stream through a first-order drive model to predict what the robot should be doing now.</a:t>
            </a:r>
            <a:endParaRPr lang="en-US" sz="1250"/>
          </a:p>
        </p:txBody>
      </p:sp>
      <p:sp>
        <p:nvSpPr>
          <p:cNvPr id="540958058" name="Text 12"/>
          <p:cNvSpPr txBox="1"/>
          <p:nvPr/>
        </p:nvSpPr>
        <p:spPr bwMode="auto">
          <a:xfrm>
            <a:off x="8915400" y="2139696"/>
            <a:ext cx="2788920" cy="822960"/>
          </a:xfrm>
          <a:prstGeom prst="rect">
            <a:avLst/>
          </a:prstGeom>
          <a:noFill/>
          <a:ln/>
        </p:spPr>
        <p:txBody>
          <a:bodyPr wrap="square" lIns="0" tIns="0" rIns="0" bIns="0" rtlCol="0" anchor="t"/>
          <a:lstStyle/>
          <a:p>
            <a:pPr marL="0" indent="0">
              <a:buNone/>
              <a:defRPr/>
            </a:pPr>
            <a:r>
              <a:rPr lang="en-US" sz="1150" i="1">
                <a:solidFill>
                  <a:srgbClr val="5A6672"/>
                </a:solidFill>
                <a:latin typeface="Calibri"/>
                <a:ea typeface="Calibri"/>
                <a:cs typeface="Calibri"/>
              </a:rPr>
              <a:t>the reference the measurement is compared against</a:t>
            </a:r>
            <a:endParaRPr lang="en-US" sz="1150"/>
          </a:p>
        </p:txBody>
      </p:sp>
      <p:sp>
        <p:nvSpPr>
          <p:cNvPr id="1285370788" name="Shape 13"/>
          <p:cNvSpPr/>
          <p:nvPr/>
        </p:nvSpPr>
        <p:spPr bwMode="auto">
          <a:xfrm>
            <a:off x="530352" y="3090672"/>
            <a:ext cx="365760" cy="365760"/>
          </a:xfrm>
          <a:prstGeom prst="ellipse">
            <a:avLst/>
          </a:prstGeom>
          <a:solidFill>
            <a:srgbClr val="14509B"/>
          </a:solidFill>
          <a:ln w="12700">
            <a:solidFill>
              <a:srgbClr val="14509B"/>
            </a:solidFill>
            <a:prstDash val="solid"/>
          </a:ln>
        </p:spPr>
      </p:sp>
      <p:sp>
        <p:nvSpPr>
          <p:cNvPr id="935913731" name="Text 14"/>
          <p:cNvSpPr txBox="1"/>
          <p:nvPr/>
        </p:nvSpPr>
        <p:spPr bwMode="auto">
          <a:xfrm>
            <a:off x="530352" y="3090672"/>
            <a:ext cx="365760" cy="365760"/>
          </a:xfrm>
          <a:prstGeom prst="rect">
            <a:avLst/>
          </a:prstGeom>
          <a:noFill/>
          <a:ln/>
        </p:spPr>
        <p:txBody>
          <a:bodyPr wrap="square" lIns="0" tIns="0" rIns="0" bIns="0" rtlCol="0" anchor="ctr"/>
          <a:lstStyle/>
          <a:p>
            <a:pPr marL="0" indent="0" algn="ctr">
              <a:buNone/>
              <a:defRPr/>
            </a:pPr>
            <a:r>
              <a:rPr lang="en-US" sz="1300" b="1">
                <a:solidFill>
                  <a:srgbClr val="FFFFFF"/>
                </a:solidFill>
                <a:latin typeface="Calibri"/>
                <a:ea typeface="Calibri"/>
                <a:cs typeface="Calibri"/>
              </a:rPr>
              <a:t>3</a:t>
            </a:r>
            <a:endParaRPr lang="en-US" sz="1300"/>
          </a:p>
        </p:txBody>
      </p:sp>
      <p:sp>
        <p:nvSpPr>
          <p:cNvPr id="237764488" name="Text 15"/>
          <p:cNvSpPr txBox="1"/>
          <p:nvPr/>
        </p:nvSpPr>
        <p:spPr bwMode="auto">
          <a:xfrm>
            <a:off x="1051560" y="3072384"/>
            <a:ext cx="2331720" cy="292608"/>
          </a:xfrm>
          <a:prstGeom prst="rect">
            <a:avLst/>
          </a:prstGeom>
          <a:noFill/>
          <a:ln/>
        </p:spPr>
        <p:txBody>
          <a:bodyPr wrap="square" lIns="0" tIns="0" rIns="0" bIns="0" rtlCol="0" anchor="t"/>
          <a:lstStyle/>
          <a:p>
            <a:pPr marL="0" indent="0">
              <a:buNone/>
              <a:defRPr/>
            </a:pPr>
            <a:r>
              <a:rPr lang="en-US" sz="1400" b="1">
                <a:solidFill>
                  <a:srgbClr val="14509B"/>
                </a:solidFill>
                <a:latin typeface="Calibri"/>
                <a:ea typeface="Calibri"/>
                <a:cs typeface="Calibri"/>
              </a:rPr>
              <a:t>Consistency residual</a:t>
            </a:r>
            <a:endParaRPr lang="en-US" sz="1400"/>
          </a:p>
        </p:txBody>
      </p:sp>
      <p:sp>
        <p:nvSpPr>
          <p:cNvPr id="1959638610" name="Text 16"/>
          <p:cNvSpPr txBox="1"/>
          <p:nvPr/>
        </p:nvSpPr>
        <p:spPr bwMode="auto">
          <a:xfrm>
            <a:off x="3474720" y="3054096"/>
            <a:ext cx="5257800" cy="822960"/>
          </a:xfrm>
          <a:prstGeom prst="rect">
            <a:avLst/>
          </a:prstGeom>
          <a:noFill/>
          <a:ln/>
        </p:spPr>
        <p:txBody>
          <a:bodyPr wrap="square" lIns="0" tIns="0" rIns="0" bIns="0" rtlCol="0" anchor="t"/>
          <a:lstStyle/>
          <a:p>
            <a:pPr marL="0" indent="0">
              <a:buNone/>
              <a:defRPr/>
            </a:pPr>
            <a:r>
              <a:rPr lang="en-US" sz="1150">
                <a:solidFill>
                  <a:srgbClr val="1A1A1A"/>
                </a:solidFill>
                <a:latin typeface="Consolas"/>
                <a:ea typeface="Consolas"/>
                <a:cs typeface="Consolas"/>
              </a:rPr>
              <a:t>r(k)  =  || measured motion  -  predicted motion ||     using odometry from the wheel encoders.</a:t>
            </a:r>
            <a:endParaRPr lang="en-US" sz="1150"/>
          </a:p>
        </p:txBody>
      </p:sp>
      <p:sp>
        <p:nvSpPr>
          <p:cNvPr id="762966334" name="Text 17"/>
          <p:cNvSpPr txBox="1"/>
          <p:nvPr/>
        </p:nvSpPr>
        <p:spPr bwMode="auto">
          <a:xfrm>
            <a:off x="8915400" y="3072384"/>
            <a:ext cx="2788920" cy="822960"/>
          </a:xfrm>
          <a:prstGeom prst="rect">
            <a:avLst/>
          </a:prstGeom>
          <a:noFill/>
          <a:ln/>
        </p:spPr>
        <p:txBody>
          <a:bodyPr wrap="square" lIns="0" tIns="0" rIns="0" bIns="0" rtlCol="0" anchor="t"/>
          <a:lstStyle/>
          <a:p>
            <a:pPr marL="0" indent="0">
              <a:buNone/>
              <a:defRPr/>
            </a:pPr>
            <a:r>
              <a:rPr lang="en-US" sz="1150" i="1">
                <a:solidFill>
                  <a:srgbClr val="5A6672"/>
                </a:solidFill>
                <a:latin typeface="Calibri"/>
                <a:ea typeface="Calibri"/>
                <a:cs typeface="Calibri"/>
              </a:rPr>
              <a:t>grows whenever something other than the authorized controller is driving</a:t>
            </a:r>
            <a:endParaRPr lang="en-US" sz="1150"/>
          </a:p>
        </p:txBody>
      </p:sp>
      <p:sp>
        <p:nvSpPr>
          <p:cNvPr id="1979292592" name="Shape 18"/>
          <p:cNvSpPr/>
          <p:nvPr/>
        </p:nvSpPr>
        <p:spPr bwMode="auto">
          <a:xfrm>
            <a:off x="429768" y="3931920"/>
            <a:ext cx="11301984" cy="932688"/>
          </a:xfrm>
          <a:prstGeom prst="rect">
            <a:avLst/>
          </a:prstGeom>
          <a:solidFill>
            <a:srgbClr val="EEF3F8"/>
          </a:solidFill>
          <a:ln w="12700">
            <a:solidFill>
              <a:srgbClr val="EEF3F8"/>
            </a:solidFill>
            <a:prstDash val="solid"/>
          </a:ln>
        </p:spPr>
      </p:sp>
      <p:sp>
        <p:nvSpPr>
          <p:cNvPr id="2060450411" name="Shape 19"/>
          <p:cNvSpPr/>
          <p:nvPr/>
        </p:nvSpPr>
        <p:spPr bwMode="auto">
          <a:xfrm>
            <a:off x="530352" y="4023360"/>
            <a:ext cx="365760" cy="365760"/>
          </a:xfrm>
          <a:prstGeom prst="ellipse">
            <a:avLst/>
          </a:prstGeom>
          <a:solidFill>
            <a:srgbClr val="14509B"/>
          </a:solidFill>
          <a:ln w="12700">
            <a:solidFill>
              <a:srgbClr val="14509B"/>
            </a:solidFill>
            <a:prstDash val="solid"/>
          </a:ln>
        </p:spPr>
      </p:sp>
      <p:sp>
        <p:nvSpPr>
          <p:cNvPr id="1142775315" name="Text 20"/>
          <p:cNvSpPr txBox="1"/>
          <p:nvPr/>
        </p:nvSpPr>
        <p:spPr bwMode="auto">
          <a:xfrm>
            <a:off x="530352" y="4023360"/>
            <a:ext cx="365760" cy="365760"/>
          </a:xfrm>
          <a:prstGeom prst="rect">
            <a:avLst/>
          </a:prstGeom>
          <a:noFill/>
          <a:ln/>
        </p:spPr>
        <p:txBody>
          <a:bodyPr wrap="square" lIns="0" tIns="0" rIns="0" bIns="0" rtlCol="0" anchor="ctr"/>
          <a:lstStyle/>
          <a:p>
            <a:pPr marL="0" indent="0" algn="ctr">
              <a:buNone/>
              <a:defRPr/>
            </a:pPr>
            <a:r>
              <a:rPr lang="en-US" sz="1300" b="1">
                <a:solidFill>
                  <a:srgbClr val="FFFFFF"/>
                </a:solidFill>
                <a:latin typeface="Calibri"/>
                <a:ea typeface="Calibri"/>
                <a:cs typeface="Calibri"/>
              </a:rPr>
              <a:t>4</a:t>
            </a:r>
            <a:endParaRPr lang="en-US" sz="1300"/>
          </a:p>
        </p:txBody>
      </p:sp>
      <p:sp>
        <p:nvSpPr>
          <p:cNvPr id="1617864884" name="Text 21"/>
          <p:cNvSpPr txBox="1"/>
          <p:nvPr/>
        </p:nvSpPr>
        <p:spPr bwMode="auto">
          <a:xfrm>
            <a:off x="1051560" y="4005072"/>
            <a:ext cx="2331720" cy="292608"/>
          </a:xfrm>
          <a:prstGeom prst="rect">
            <a:avLst/>
          </a:prstGeom>
          <a:noFill/>
          <a:ln/>
        </p:spPr>
        <p:txBody>
          <a:bodyPr wrap="square" lIns="0" tIns="0" rIns="0" bIns="0" rtlCol="0" anchor="t"/>
          <a:lstStyle/>
          <a:p>
            <a:pPr marL="0" indent="0">
              <a:buNone/>
              <a:defRPr/>
            </a:pPr>
            <a:r>
              <a:rPr lang="en-US" sz="1400" b="1">
                <a:solidFill>
                  <a:srgbClr val="14509B"/>
                </a:solidFill>
                <a:latin typeface="Calibri"/>
                <a:ea typeface="Calibri"/>
                <a:cs typeface="Calibri"/>
              </a:rPr>
              <a:t>CUSUM accumulation</a:t>
            </a:r>
            <a:endParaRPr lang="en-US" sz="1400"/>
          </a:p>
        </p:txBody>
      </p:sp>
      <p:sp>
        <p:nvSpPr>
          <p:cNvPr id="735802626" name="Text 22"/>
          <p:cNvSpPr txBox="1"/>
          <p:nvPr/>
        </p:nvSpPr>
        <p:spPr bwMode="auto">
          <a:xfrm>
            <a:off x="3474720" y="3986784"/>
            <a:ext cx="5257800" cy="822960"/>
          </a:xfrm>
          <a:prstGeom prst="rect">
            <a:avLst/>
          </a:prstGeom>
          <a:noFill/>
          <a:ln/>
        </p:spPr>
        <p:txBody>
          <a:bodyPr wrap="square" lIns="0" tIns="0" rIns="0" bIns="0" rtlCol="0" anchor="t"/>
          <a:lstStyle/>
          <a:p>
            <a:pPr marL="0" indent="0">
              <a:buNone/>
              <a:defRPr/>
            </a:pPr>
            <a:r>
              <a:rPr lang="en-US" sz="1150">
                <a:solidFill>
                  <a:srgbClr val="1A1A1A"/>
                </a:solidFill>
                <a:latin typeface="Consolas"/>
                <a:ea typeface="Consolas"/>
                <a:cs typeface="Consolas"/>
              </a:rPr>
              <a:t>S(k)  =  max ( 0 ,  S(k-1) + ( r(k) - epsilon ) )        alarm when  S(k) &gt; tau</a:t>
            </a:r>
            <a:endParaRPr lang="en-US" sz="1150"/>
          </a:p>
        </p:txBody>
      </p:sp>
      <p:sp>
        <p:nvSpPr>
          <p:cNvPr id="2077277014" name="Text 23"/>
          <p:cNvSpPr txBox="1"/>
          <p:nvPr/>
        </p:nvSpPr>
        <p:spPr bwMode="auto">
          <a:xfrm>
            <a:off x="8915400" y="4005072"/>
            <a:ext cx="2788920" cy="822960"/>
          </a:xfrm>
          <a:prstGeom prst="rect">
            <a:avLst/>
          </a:prstGeom>
          <a:noFill/>
          <a:ln/>
        </p:spPr>
        <p:txBody>
          <a:bodyPr wrap="square" lIns="0" tIns="0" rIns="0" bIns="0" rtlCol="0" anchor="t"/>
          <a:lstStyle/>
          <a:p>
            <a:pPr marL="0" indent="0">
              <a:buNone/>
              <a:defRPr/>
            </a:pPr>
            <a:r>
              <a:rPr lang="en-US" sz="1150" i="1">
                <a:solidFill>
                  <a:srgbClr val="5A6672"/>
                </a:solidFill>
                <a:latin typeface="Calibri"/>
                <a:ea typeface="Calibri"/>
                <a:cs typeface="Calibri"/>
              </a:rPr>
              <a:t>noise decays to zero; a small persistent attack adds up until it fires</a:t>
            </a:r>
            <a:endParaRPr lang="en-US" sz="1150"/>
          </a:p>
        </p:txBody>
      </p:sp>
      <p:sp>
        <p:nvSpPr>
          <p:cNvPr id="1359992543" name="Shape 24"/>
          <p:cNvSpPr/>
          <p:nvPr/>
        </p:nvSpPr>
        <p:spPr bwMode="auto">
          <a:xfrm>
            <a:off x="530352" y="4956048"/>
            <a:ext cx="365760" cy="365760"/>
          </a:xfrm>
          <a:prstGeom prst="ellipse">
            <a:avLst/>
          </a:prstGeom>
          <a:solidFill>
            <a:srgbClr val="14509B"/>
          </a:solidFill>
          <a:ln w="12700">
            <a:solidFill>
              <a:srgbClr val="14509B"/>
            </a:solidFill>
            <a:prstDash val="solid"/>
          </a:ln>
        </p:spPr>
      </p:sp>
      <p:sp>
        <p:nvSpPr>
          <p:cNvPr id="299821754" name="Text 25"/>
          <p:cNvSpPr txBox="1"/>
          <p:nvPr/>
        </p:nvSpPr>
        <p:spPr bwMode="auto">
          <a:xfrm>
            <a:off x="530352" y="4956048"/>
            <a:ext cx="365760" cy="365760"/>
          </a:xfrm>
          <a:prstGeom prst="rect">
            <a:avLst/>
          </a:prstGeom>
          <a:noFill/>
          <a:ln/>
        </p:spPr>
        <p:txBody>
          <a:bodyPr wrap="square" lIns="0" tIns="0" rIns="0" bIns="0" rtlCol="0" anchor="ctr"/>
          <a:lstStyle/>
          <a:p>
            <a:pPr marL="0" indent="0" algn="ctr">
              <a:buNone/>
              <a:defRPr/>
            </a:pPr>
            <a:r>
              <a:rPr lang="en-US" sz="1300" b="1">
                <a:solidFill>
                  <a:srgbClr val="FFFFFF"/>
                </a:solidFill>
                <a:latin typeface="Calibri"/>
                <a:ea typeface="Calibri"/>
                <a:cs typeface="Calibri"/>
              </a:rPr>
              <a:t>5</a:t>
            </a:r>
            <a:endParaRPr lang="en-US" sz="1300"/>
          </a:p>
        </p:txBody>
      </p:sp>
      <p:sp>
        <p:nvSpPr>
          <p:cNvPr id="1903902877" name="Text 26"/>
          <p:cNvSpPr txBox="1"/>
          <p:nvPr/>
        </p:nvSpPr>
        <p:spPr bwMode="auto">
          <a:xfrm>
            <a:off x="1051560" y="4937760"/>
            <a:ext cx="2331720" cy="292608"/>
          </a:xfrm>
          <a:prstGeom prst="rect">
            <a:avLst/>
          </a:prstGeom>
          <a:noFill/>
          <a:ln/>
        </p:spPr>
        <p:txBody>
          <a:bodyPr wrap="square" lIns="0" tIns="0" rIns="0" bIns="0" rtlCol="0" anchor="t"/>
          <a:lstStyle/>
          <a:p>
            <a:pPr marL="0" indent="0">
              <a:buNone/>
              <a:defRPr/>
            </a:pPr>
            <a:r>
              <a:rPr lang="en-US" sz="1400" b="1">
                <a:solidFill>
                  <a:srgbClr val="14509B"/>
                </a:solidFill>
                <a:latin typeface="Calibri"/>
                <a:ea typeface="Calibri"/>
                <a:cs typeface="Calibri"/>
              </a:rPr>
              <a:t>Fusion and response</a:t>
            </a:r>
            <a:endParaRPr lang="en-US" sz="1400"/>
          </a:p>
        </p:txBody>
      </p:sp>
      <p:sp>
        <p:nvSpPr>
          <p:cNvPr id="1132402367" name="Text 27"/>
          <p:cNvSpPr txBox="1"/>
          <p:nvPr/>
        </p:nvSpPr>
        <p:spPr bwMode="auto">
          <a:xfrm>
            <a:off x="3474720" y="4919471"/>
            <a:ext cx="5257800" cy="822960"/>
          </a:xfrm>
          <a:prstGeom prst="rect">
            <a:avLst/>
          </a:prstGeom>
          <a:noFill/>
          <a:ln/>
        </p:spPr>
        <p:txBody>
          <a:bodyPr wrap="square" lIns="0" tIns="0" rIns="0" bIns="0" rtlCol="0" anchor="t"/>
          <a:lstStyle/>
          <a:p>
            <a:pPr marL="0" indent="0">
              <a:buNone/>
              <a:defRPr/>
            </a:pPr>
            <a:r>
              <a:rPr lang="en-US" sz="1250">
                <a:solidFill>
                  <a:srgbClr val="1A1A1A"/>
                </a:solidFill>
                <a:latin typeface="Calibri"/>
                <a:ea typeface="Calibri"/>
                <a:cs typeface="Calibri"/>
              </a:rPr>
              <a:t>Alarm if the network layer OR the physics layer fires; the safety filter then substitutes the last authorized command.</a:t>
            </a:r>
            <a:endParaRPr lang="en-US" sz="1250"/>
          </a:p>
        </p:txBody>
      </p:sp>
      <p:sp>
        <p:nvSpPr>
          <p:cNvPr id="460643262" name="Text 28"/>
          <p:cNvSpPr txBox="1"/>
          <p:nvPr/>
        </p:nvSpPr>
        <p:spPr bwMode="auto">
          <a:xfrm>
            <a:off x="8915400" y="4937760"/>
            <a:ext cx="2788920" cy="822960"/>
          </a:xfrm>
          <a:prstGeom prst="rect">
            <a:avLst/>
          </a:prstGeom>
          <a:noFill/>
          <a:ln/>
        </p:spPr>
        <p:txBody>
          <a:bodyPr wrap="square" lIns="0" tIns="0" rIns="0" bIns="0" rtlCol="0" anchor="t"/>
          <a:lstStyle/>
          <a:p>
            <a:pPr marL="0" indent="0">
              <a:buNone/>
              <a:defRPr/>
            </a:pPr>
            <a:r>
              <a:rPr lang="en-US" sz="1150" i="1">
                <a:solidFill>
                  <a:srgbClr val="5A6672"/>
                </a:solidFill>
                <a:latin typeface="Calibri"/>
                <a:ea typeface="Calibri"/>
                <a:cs typeface="Calibri"/>
              </a:rPr>
              <a:t>detection becomes prevention</a:t>
            </a:r>
            <a:endParaRPr lang="en-US" sz="1150"/>
          </a:p>
        </p:txBody>
      </p:sp>
      <p:sp>
        <p:nvSpPr>
          <p:cNvPr id="709649347" name="Shape 29"/>
          <p:cNvSpPr/>
          <p:nvPr/>
        </p:nvSpPr>
        <p:spPr bwMode="auto">
          <a:xfrm>
            <a:off x="502920" y="5925312"/>
            <a:ext cx="11155680" cy="512064"/>
          </a:xfrm>
          <a:prstGeom prst="roundRect">
            <a:avLst>
              <a:gd name="adj" fmla="val 5357"/>
            </a:avLst>
          </a:prstGeom>
          <a:solidFill>
            <a:srgbClr val="FFFFFF"/>
          </a:solidFill>
          <a:ln w="12700">
            <a:solidFill>
              <a:srgbClr val="14509B"/>
            </a:solidFill>
            <a:prstDash val="solid"/>
          </a:ln>
        </p:spPr>
      </p:sp>
      <p:sp>
        <p:nvSpPr>
          <p:cNvPr id="2080235182" name="Text 30"/>
          <p:cNvSpPr txBox="1"/>
          <p:nvPr/>
        </p:nvSpPr>
        <p:spPr bwMode="auto">
          <a:xfrm>
            <a:off x="731520" y="6016752"/>
            <a:ext cx="10698480" cy="384048"/>
          </a:xfrm>
          <a:prstGeom prst="rect">
            <a:avLst/>
          </a:prstGeom>
          <a:noFill/>
          <a:ln/>
        </p:spPr>
        <p:txBody>
          <a:bodyPr wrap="square" lIns="0" tIns="0" rIns="0" bIns="0" rtlCol="0" anchor="ctr"/>
          <a:lstStyle/>
          <a:p>
            <a:pPr marL="0" indent="0">
              <a:buNone/>
              <a:defRPr/>
            </a:pPr>
            <a:r>
              <a:rPr lang="en-US" sz="1200" b="1">
                <a:solidFill>
                  <a:srgbClr val="14509B"/>
                </a:solidFill>
                <a:latin typeface="Calibri"/>
                <a:ea typeface="Calibri"/>
                <a:cs typeface="Calibri"/>
              </a:rPr>
              <a:t>Why CUSUM:  </a:t>
            </a:r>
            <a:r>
              <a:rPr lang="en-US" sz="1200">
                <a:solidFill>
                  <a:srgbClr val="1A1A1A"/>
                </a:solidFill>
                <a:latin typeface="Calibri"/>
                <a:ea typeface="Calibri"/>
                <a:cs typeface="Calibri"/>
              </a:rPr>
              <a:t>a plain threshold either false-alarms on a single noise spike or is evaded by an attacker who stays just below it. The cumulative sum decays on noise but climbs on a small, persistent bias - which is precisely the stealthy attack.</a:t>
            </a:r>
            <a:endParaRPr lang="en-US" sz="1200"/>
          </a:p>
        </p:txBody>
      </p:sp>
      <p:sp>
        <p:nvSpPr>
          <p:cNvPr id="1756952138" name="Text 31"/>
          <p:cNvSpPr txBox="1"/>
          <p:nvPr/>
        </p:nvSpPr>
        <p:spPr bwMode="auto">
          <a:xfrm>
            <a:off x="502920" y="6419088"/>
            <a:ext cx="7315200" cy="256032"/>
          </a:xfrm>
          <a:prstGeom prst="rect">
            <a:avLst/>
          </a:prstGeom>
          <a:noFill/>
          <a:ln/>
        </p:spPr>
        <p:txBody>
          <a:bodyPr wrap="square" lIns="0" tIns="0" rIns="0" bIns="0" rtlCol="0" anchor="ctr"/>
          <a:lstStyle/>
          <a:p>
            <a:pPr marL="0" indent="0">
              <a:buNone/>
              <a:defRPr/>
            </a:pPr>
            <a:r>
              <a:rPr lang="en-US" sz="900">
                <a:solidFill>
                  <a:srgbClr val="5A6672"/>
                </a:solidFill>
                <a:latin typeface="Calibri"/>
                <a:ea typeface="Calibri"/>
                <a:cs typeface="Calibri"/>
              </a:rPr>
              <a:t>21ECC402P  |  Shyam Rithin S  |  RA2311004010308</a:t>
            </a:r>
            <a:endParaRPr lang="en-US" sz="900"/>
          </a:p>
        </p:txBody>
      </p:sp>
      <p:sp>
        <p:nvSpPr>
          <p:cNvPr id="1043139028" name="Text 32"/>
          <p:cNvSpPr txBox="1"/>
          <p:nvPr/>
        </p:nvSpPr>
        <p:spPr bwMode="auto">
          <a:xfrm>
            <a:off x="11247120" y="6419088"/>
            <a:ext cx="457200" cy="256032"/>
          </a:xfrm>
          <a:prstGeom prst="rect">
            <a:avLst/>
          </a:prstGeom>
          <a:noFill/>
          <a:ln/>
        </p:spPr>
        <p:txBody>
          <a:bodyPr wrap="square" lIns="0" tIns="0" rIns="0" bIns="0" rtlCol="0" anchor="ctr"/>
          <a:lstStyle/>
          <a:p>
            <a:pPr marL="0" indent="0" algn="r">
              <a:buNone/>
              <a:defRPr/>
            </a:pPr>
            <a:r>
              <a:rPr lang="en-US" sz="900">
                <a:solidFill>
                  <a:srgbClr val="5A6672"/>
                </a:solidFill>
                <a:latin typeface="Calibri"/>
                <a:ea typeface="Calibri"/>
                <a:cs typeface="Calibri"/>
              </a:rPr>
              <a:t>11</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2">
    <p:bg>
      <p:bgPr shadeToTitle="0">
        <a:solidFill>
          <a:srgbClr val="FFFFFF"/>
        </a:solidFill>
      </p:bgPr>
    </p:bg>
    <p:spTree>
      <p:nvGrpSpPr>
        <p:cNvPr id="1" name=""/>
        <p:cNvGrpSpPr/>
        <p:nvPr/>
      </p:nvGrpSpPr>
      <p:grpSpPr bwMode="auto">
        <a:xfrm>
          <a:off x="0" y="0"/>
          <a:ext cx="0" cy="0"/>
          <a:chOff x="0" y="0"/>
          <a:chExt cx="0" cy="0"/>
        </a:xfrm>
      </p:grpSpPr>
      <p:pic>
        <p:nvPicPr>
          <p:cNvPr id="185541336" name="Image 0" descr="/home/claude/deck/srm_logo.png"/>
          <p:cNvPicPr>
            <a:picLocks noChangeAspect="1"/>
          </p:cNvPicPr>
          <p:nvPr/>
        </p:nvPicPr>
        <p:blipFill rotWithShape="1">
          <a:blip r:embed="rId3"/>
          <a:stretch/>
        </p:blipFill>
        <p:spPr bwMode="auto">
          <a:xfrm>
            <a:off x="10195560" y="256032"/>
            <a:ext cx="1572768" cy="530352"/>
          </a:xfrm>
          <a:prstGeom prst="rect">
            <a:avLst/>
          </a:prstGeom>
        </p:spPr>
      </p:pic>
      <p:sp>
        <p:nvSpPr>
          <p:cNvPr id="1144890338" name="Text 0"/>
          <p:cNvSpPr txBox="1"/>
          <p:nvPr/>
        </p:nvSpPr>
        <p:spPr bwMode="auto">
          <a:xfrm>
            <a:off x="502920" y="274320"/>
            <a:ext cx="9418320" cy="475488"/>
          </a:xfrm>
          <a:prstGeom prst="rect">
            <a:avLst/>
          </a:prstGeom>
          <a:noFill/>
          <a:ln/>
        </p:spPr>
        <p:txBody>
          <a:bodyPr wrap="square" lIns="0" tIns="0" rIns="0" bIns="0" rtlCol="0" anchor="ctr"/>
          <a:lstStyle/>
          <a:p>
            <a:pPr marL="0" indent="0" algn="l">
              <a:buNone/>
              <a:defRPr/>
            </a:pPr>
            <a:r>
              <a:rPr lang="en-US" sz="2700" b="1">
                <a:solidFill>
                  <a:srgbClr val="14509B"/>
                </a:solidFill>
                <a:latin typeface="Cambria"/>
                <a:ea typeface="Cambria"/>
                <a:cs typeface="Cambria"/>
              </a:rPr>
              <a:t>Tools Used</a:t>
            </a:r>
            <a:endParaRPr lang="en-US" sz="2700"/>
          </a:p>
        </p:txBody>
      </p:sp>
      <p:sp>
        <p:nvSpPr>
          <p:cNvPr id="2136790909" name="Text 1"/>
          <p:cNvSpPr txBox="1"/>
          <p:nvPr/>
        </p:nvSpPr>
        <p:spPr bwMode="auto">
          <a:xfrm>
            <a:off x="502920" y="1152144"/>
            <a:ext cx="5715000" cy="310896"/>
          </a:xfrm>
          <a:prstGeom prst="rect">
            <a:avLst/>
          </a:prstGeom>
          <a:noFill/>
          <a:ln/>
        </p:spPr>
        <p:txBody>
          <a:bodyPr wrap="square" lIns="0" tIns="0" rIns="0" bIns="0" rtlCol="0" anchor="ctr"/>
          <a:lstStyle/>
          <a:p>
            <a:pPr marL="0" indent="0">
              <a:buNone/>
              <a:defRPr/>
            </a:pPr>
            <a:r>
              <a:rPr lang="en-US" sz="1700" b="1">
                <a:solidFill>
                  <a:srgbClr val="14509B"/>
                </a:solidFill>
                <a:latin typeface="Cambria"/>
                <a:ea typeface="Cambria"/>
                <a:cs typeface="Cambria"/>
              </a:rPr>
              <a:t>Hardware</a:t>
            </a:r>
            <a:endParaRPr lang="en-US" sz="1700"/>
          </a:p>
        </p:txBody>
      </p:sp>
      <p:sp>
        <p:nvSpPr>
          <p:cNvPr id="1814651001" name="Text 2"/>
          <p:cNvSpPr txBox="1"/>
          <p:nvPr/>
        </p:nvSpPr>
        <p:spPr bwMode="auto">
          <a:xfrm>
            <a:off x="502920" y="1517904"/>
            <a:ext cx="1783080" cy="256032"/>
          </a:xfrm>
          <a:prstGeom prst="rect">
            <a:avLst/>
          </a:prstGeom>
          <a:noFill/>
          <a:ln/>
        </p:spPr>
        <p:txBody>
          <a:bodyPr wrap="square" lIns="0" tIns="0" rIns="0" bIns="0" rtlCol="0" anchor="ctr"/>
          <a:lstStyle/>
          <a:p>
            <a:pPr marL="0" indent="0">
              <a:buNone/>
              <a:defRPr/>
            </a:pPr>
            <a:r>
              <a:rPr lang="en-US" sz="1000" b="1" spc="60">
                <a:solidFill>
                  <a:srgbClr val="5A6672"/>
                </a:solidFill>
                <a:latin typeface="Calibri"/>
                <a:ea typeface="Calibri"/>
                <a:cs typeface="Calibri"/>
              </a:rPr>
              <a:t>COMPONENT</a:t>
            </a:r>
            <a:endParaRPr lang="en-US" sz="1000"/>
          </a:p>
        </p:txBody>
      </p:sp>
      <p:sp>
        <p:nvSpPr>
          <p:cNvPr id="1781257393" name="Text 3"/>
          <p:cNvSpPr txBox="1"/>
          <p:nvPr/>
        </p:nvSpPr>
        <p:spPr bwMode="auto">
          <a:xfrm>
            <a:off x="2286000" y="1517904"/>
            <a:ext cx="2148840" cy="256032"/>
          </a:xfrm>
          <a:prstGeom prst="rect">
            <a:avLst/>
          </a:prstGeom>
          <a:noFill/>
          <a:ln/>
        </p:spPr>
        <p:txBody>
          <a:bodyPr wrap="square" lIns="0" tIns="0" rIns="0" bIns="0" rtlCol="0" anchor="ctr"/>
          <a:lstStyle/>
          <a:p>
            <a:pPr marL="0" indent="0">
              <a:buNone/>
              <a:defRPr/>
            </a:pPr>
            <a:r>
              <a:rPr lang="en-US" sz="1000" b="1" spc="60">
                <a:solidFill>
                  <a:srgbClr val="5A6672"/>
                </a:solidFill>
                <a:latin typeface="Calibri"/>
                <a:ea typeface="Calibri"/>
                <a:cs typeface="Calibri"/>
              </a:rPr>
              <a:t>SPECIFICATION</a:t>
            </a:r>
            <a:endParaRPr lang="en-US" sz="1000"/>
          </a:p>
        </p:txBody>
      </p:sp>
      <p:sp>
        <p:nvSpPr>
          <p:cNvPr id="320974494" name="Text 4"/>
          <p:cNvSpPr txBox="1"/>
          <p:nvPr/>
        </p:nvSpPr>
        <p:spPr bwMode="auto">
          <a:xfrm>
            <a:off x="4434840" y="1517904"/>
            <a:ext cx="1783080" cy="256032"/>
          </a:xfrm>
          <a:prstGeom prst="rect">
            <a:avLst/>
          </a:prstGeom>
          <a:noFill/>
          <a:ln/>
        </p:spPr>
        <p:txBody>
          <a:bodyPr wrap="square" lIns="0" tIns="0" rIns="0" bIns="0" rtlCol="0" anchor="ctr"/>
          <a:lstStyle/>
          <a:p>
            <a:pPr marL="0" indent="0">
              <a:buNone/>
              <a:defRPr/>
            </a:pPr>
            <a:r>
              <a:rPr lang="en-US" sz="1000" b="1" spc="60">
                <a:solidFill>
                  <a:srgbClr val="5A6672"/>
                </a:solidFill>
                <a:latin typeface="Calibri"/>
                <a:ea typeface="Calibri"/>
                <a:cs typeface="Calibri"/>
              </a:rPr>
              <a:t>ROLE IN THIS PROJECT</a:t>
            </a:r>
            <a:endParaRPr lang="en-US" sz="1000"/>
          </a:p>
        </p:txBody>
      </p:sp>
      <p:sp>
        <p:nvSpPr>
          <p:cNvPr id="732587703" name="Shape 5"/>
          <p:cNvSpPr/>
          <p:nvPr/>
        </p:nvSpPr>
        <p:spPr bwMode="auto">
          <a:xfrm>
            <a:off x="502920" y="1792224"/>
            <a:ext cx="5715000" cy="0"/>
          </a:xfrm>
          <a:prstGeom prst="line">
            <a:avLst/>
          </a:prstGeom>
          <a:noFill/>
          <a:ln w="19050">
            <a:solidFill>
              <a:srgbClr val="14509B"/>
            </a:solidFill>
            <a:prstDash val="solid"/>
          </a:ln>
        </p:spPr>
        <p:txBody>
          <a:bodyPr/>
          <a:p/>
        </p:txBody>
      </p:sp>
      <p:sp>
        <p:nvSpPr>
          <p:cNvPr id="1502369982" name="Text 6"/>
          <p:cNvSpPr txBox="1"/>
          <p:nvPr/>
        </p:nvSpPr>
        <p:spPr bwMode="auto">
          <a:xfrm>
            <a:off x="502920" y="1883664"/>
            <a:ext cx="1673352" cy="493776"/>
          </a:xfrm>
          <a:prstGeom prst="rect">
            <a:avLst/>
          </a:prstGeom>
          <a:noFill/>
          <a:ln/>
        </p:spPr>
        <p:txBody>
          <a:bodyPr wrap="square" lIns="0" tIns="0" rIns="0" bIns="0" rtlCol="0" anchor="t"/>
          <a:lstStyle/>
          <a:p>
            <a:pPr marL="0" indent="0">
              <a:buNone/>
              <a:defRPr/>
            </a:pPr>
            <a:r>
              <a:rPr lang="en-US" sz="1100" b="1">
                <a:solidFill>
                  <a:srgbClr val="1A1A1A"/>
                </a:solidFill>
                <a:latin typeface="Calibri"/>
                <a:ea typeface="Calibri"/>
                <a:cs typeface="Calibri"/>
              </a:rPr>
              <a:t>Robot platform</a:t>
            </a:r>
            <a:endParaRPr lang="en-US" sz="1100"/>
          </a:p>
        </p:txBody>
      </p:sp>
      <p:sp>
        <p:nvSpPr>
          <p:cNvPr id="1031538221" name="Text 7"/>
          <p:cNvSpPr txBox="1"/>
          <p:nvPr/>
        </p:nvSpPr>
        <p:spPr bwMode="auto">
          <a:xfrm>
            <a:off x="2286000" y="1883664"/>
            <a:ext cx="2039112" cy="493776"/>
          </a:xfrm>
          <a:prstGeom prst="rect">
            <a:avLst/>
          </a:prstGeom>
          <a:noFill/>
          <a:ln/>
        </p:spPr>
        <p:txBody>
          <a:bodyPr wrap="square" lIns="0" tIns="0" rIns="0" bIns="0" rtlCol="0" anchor="t"/>
          <a:lstStyle/>
          <a:p>
            <a:pPr marL="0" indent="0">
              <a:buNone/>
              <a:defRPr/>
            </a:pPr>
            <a:r>
              <a:rPr lang="en-US" sz="1100">
                <a:solidFill>
                  <a:srgbClr val="1A1A1A"/>
                </a:solidFill>
                <a:latin typeface="Calibri"/>
                <a:ea typeface="Calibri"/>
                <a:cs typeface="Calibri"/>
              </a:rPr>
              <a:t>articubot_one differential-drive</a:t>
            </a:r>
            <a:endParaRPr lang="en-US" sz="1100"/>
          </a:p>
        </p:txBody>
      </p:sp>
      <p:sp>
        <p:nvSpPr>
          <p:cNvPr id="864713813" name="Text 8"/>
          <p:cNvSpPr txBox="1"/>
          <p:nvPr/>
        </p:nvSpPr>
        <p:spPr bwMode="auto">
          <a:xfrm>
            <a:off x="4434840" y="1883664"/>
            <a:ext cx="1673352" cy="493776"/>
          </a:xfrm>
          <a:prstGeom prst="rect">
            <a:avLst/>
          </a:prstGeom>
          <a:noFill/>
          <a:ln/>
        </p:spPr>
        <p:txBody>
          <a:bodyPr wrap="square" lIns="0" tIns="0" rIns="0" bIns="0" rtlCol="0" anchor="t"/>
          <a:lstStyle/>
          <a:p>
            <a:pPr marL="0" indent="0">
              <a:buNone/>
              <a:defRPr/>
            </a:pPr>
            <a:r>
              <a:rPr lang="en-US" sz="1100">
                <a:solidFill>
                  <a:srgbClr val="5A6672"/>
                </a:solidFill>
                <a:latin typeface="Calibri"/>
                <a:ea typeface="Calibri"/>
                <a:cs typeface="Calibri"/>
              </a:rPr>
              <a:t>target platform</a:t>
            </a:r>
            <a:endParaRPr lang="en-US" sz="1100"/>
          </a:p>
        </p:txBody>
      </p:sp>
      <p:sp>
        <p:nvSpPr>
          <p:cNvPr id="1177576673" name="Shape 9"/>
          <p:cNvSpPr/>
          <p:nvPr/>
        </p:nvSpPr>
        <p:spPr bwMode="auto">
          <a:xfrm>
            <a:off x="502920" y="2363724"/>
            <a:ext cx="5715000" cy="0"/>
          </a:xfrm>
          <a:prstGeom prst="line">
            <a:avLst/>
          </a:prstGeom>
          <a:noFill/>
          <a:ln w="9525">
            <a:solidFill>
              <a:srgbClr val="C9D2DC"/>
            </a:solidFill>
            <a:prstDash val="solid"/>
          </a:ln>
        </p:spPr>
        <p:txBody>
          <a:bodyPr/>
          <a:p/>
        </p:txBody>
      </p:sp>
      <p:sp>
        <p:nvSpPr>
          <p:cNvPr id="1310728002" name="Text 10"/>
          <p:cNvSpPr txBox="1"/>
          <p:nvPr/>
        </p:nvSpPr>
        <p:spPr bwMode="auto">
          <a:xfrm>
            <a:off x="502920" y="2409444"/>
            <a:ext cx="1673352" cy="493776"/>
          </a:xfrm>
          <a:prstGeom prst="rect">
            <a:avLst/>
          </a:prstGeom>
          <a:noFill/>
          <a:ln/>
        </p:spPr>
        <p:txBody>
          <a:bodyPr wrap="square" lIns="0" tIns="0" rIns="0" bIns="0" rtlCol="0" anchor="t"/>
          <a:lstStyle/>
          <a:p>
            <a:pPr marL="0" indent="0">
              <a:buNone/>
              <a:defRPr/>
            </a:pPr>
            <a:r>
              <a:rPr lang="en-US" sz="1100" b="1">
                <a:solidFill>
                  <a:srgbClr val="1A1A1A"/>
                </a:solidFill>
                <a:latin typeface="Calibri"/>
                <a:ea typeface="Calibri"/>
                <a:cs typeface="Calibri"/>
              </a:rPr>
              <a:t>Onboard compute</a:t>
            </a:r>
            <a:endParaRPr lang="en-US" sz="1100"/>
          </a:p>
        </p:txBody>
      </p:sp>
      <p:sp>
        <p:nvSpPr>
          <p:cNvPr id="484792596" name="Text 11"/>
          <p:cNvSpPr txBox="1"/>
          <p:nvPr/>
        </p:nvSpPr>
        <p:spPr bwMode="auto">
          <a:xfrm>
            <a:off x="2286000" y="2409444"/>
            <a:ext cx="2039112" cy="493776"/>
          </a:xfrm>
          <a:prstGeom prst="rect">
            <a:avLst/>
          </a:prstGeom>
          <a:noFill/>
          <a:ln/>
        </p:spPr>
        <p:txBody>
          <a:bodyPr wrap="square" lIns="0" tIns="0" rIns="0" bIns="0" rtlCol="0" anchor="t"/>
          <a:lstStyle/>
          <a:p>
            <a:pPr marL="0" indent="0">
              <a:buNone/>
              <a:defRPr/>
            </a:pPr>
            <a:r>
              <a:rPr lang="en-US" sz="1100">
                <a:solidFill>
                  <a:srgbClr val="1A1A1A"/>
                </a:solidFill>
                <a:latin typeface="Calibri"/>
                <a:ea typeface="Calibri"/>
                <a:cs typeface="Calibri"/>
              </a:rPr>
              <a:t>Raspberry Pi 4, Ubuntu 22.04</a:t>
            </a:r>
            <a:endParaRPr lang="en-US" sz="1100"/>
          </a:p>
        </p:txBody>
      </p:sp>
      <p:sp>
        <p:nvSpPr>
          <p:cNvPr id="1996635181" name="Text 12"/>
          <p:cNvSpPr txBox="1"/>
          <p:nvPr/>
        </p:nvSpPr>
        <p:spPr bwMode="auto">
          <a:xfrm>
            <a:off x="4434840" y="2409444"/>
            <a:ext cx="1673352" cy="493776"/>
          </a:xfrm>
          <a:prstGeom prst="rect">
            <a:avLst/>
          </a:prstGeom>
          <a:noFill/>
          <a:ln/>
        </p:spPr>
        <p:txBody>
          <a:bodyPr wrap="square" lIns="0" tIns="0" rIns="0" bIns="0" rtlCol="0" anchor="t"/>
          <a:lstStyle/>
          <a:p>
            <a:pPr marL="0" indent="0">
              <a:buNone/>
              <a:defRPr/>
            </a:pPr>
            <a:r>
              <a:rPr lang="en-US" sz="1100">
                <a:solidFill>
                  <a:srgbClr val="5A6672"/>
                </a:solidFill>
                <a:latin typeface="Calibri"/>
                <a:ea typeface="Calibri"/>
                <a:cs typeface="Calibri"/>
              </a:rPr>
              <a:t>runs ROS 2 and the detector</a:t>
            </a:r>
            <a:endParaRPr lang="en-US" sz="1100"/>
          </a:p>
        </p:txBody>
      </p:sp>
      <p:sp>
        <p:nvSpPr>
          <p:cNvPr id="1312284184" name="Shape 13"/>
          <p:cNvSpPr/>
          <p:nvPr/>
        </p:nvSpPr>
        <p:spPr bwMode="auto">
          <a:xfrm>
            <a:off x="502920" y="2889504"/>
            <a:ext cx="5715000" cy="0"/>
          </a:xfrm>
          <a:prstGeom prst="line">
            <a:avLst/>
          </a:prstGeom>
          <a:noFill/>
          <a:ln w="9525">
            <a:solidFill>
              <a:srgbClr val="C9D2DC"/>
            </a:solidFill>
            <a:prstDash val="solid"/>
          </a:ln>
        </p:spPr>
        <p:txBody>
          <a:bodyPr/>
          <a:p/>
        </p:txBody>
      </p:sp>
      <p:sp>
        <p:nvSpPr>
          <p:cNvPr id="1456823520" name="Shape 14"/>
          <p:cNvSpPr/>
          <p:nvPr/>
        </p:nvSpPr>
        <p:spPr bwMode="auto">
          <a:xfrm>
            <a:off x="429768" y="2898648"/>
            <a:ext cx="5861304" cy="525780"/>
          </a:xfrm>
          <a:prstGeom prst="rect">
            <a:avLst/>
          </a:prstGeom>
          <a:solidFill>
            <a:srgbClr val="EEF3F8"/>
          </a:solidFill>
          <a:ln w="12700">
            <a:solidFill>
              <a:srgbClr val="EEF3F8"/>
            </a:solidFill>
            <a:prstDash val="solid"/>
          </a:ln>
        </p:spPr>
        <p:txBody>
          <a:bodyPr/>
          <a:p/>
        </p:txBody>
      </p:sp>
      <p:sp>
        <p:nvSpPr>
          <p:cNvPr id="79600358" name="Text 15"/>
          <p:cNvSpPr txBox="1"/>
          <p:nvPr/>
        </p:nvSpPr>
        <p:spPr bwMode="auto">
          <a:xfrm>
            <a:off x="502920" y="2935224"/>
            <a:ext cx="1673352" cy="493776"/>
          </a:xfrm>
          <a:prstGeom prst="rect">
            <a:avLst/>
          </a:prstGeom>
          <a:noFill/>
          <a:ln/>
        </p:spPr>
        <p:txBody>
          <a:bodyPr wrap="square" lIns="0" tIns="0" rIns="0" bIns="0" rtlCol="0" anchor="t"/>
          <a:lstStyle/>
          <a:p>
            <a:pPr marL="0" indent="0">
              <a:buNone/>
              <a:defRPr/>
            </a:pPr>
            <a:r>
              <a:rPr lang="en-US" sz="1100" b="1">
                <a:solidFill>
                  <a:srgbClr val="1A1A1A"/>
                </a:solidFill>
                <a:latin typeface="Calibri"/>
                <a:ea typeface="Calibri"/>
                <a:cs typeface="Calibri"/>
              </a:rPr>
              <a:t>Wheel encoders</a:t>
            </a:r>
            <a:endParaRPr lang="en-US" sz="1100"/>
          </a:p>
        </p:txBody>
      </p:sp>
      <p:sp>
        <p:nvSpPr>
          <p:cNvPr id="1205570285" name="Text 16"/>
          <p:cNvSpPr txBox="1"/>
          <p:nvPr/>
        </p:nvSpPr>
        <p:spPr bwMode="auto">
          <a:xfrm>
            <a:off x="2286000" y="2935224"/>
            <a:ext cx="2039112" cy="493776"/>
          </a:xfrm>
          <a:prstGeom prst="rect">
            <a:avLst/>
          </a:prstGeom>
          <a:noFill/>
          <a:ln/>
        </p:spPr>
        <p:txBody>
          <a:bodyPr wrap="square" lIns="0" tIns="0" rIns="0" bIns="0" rtlCol="0" anchor="t"/>
          <a:lstStyle/>
          <a:p>
            <a:pPr marL="0" indent="0">
              <a:buNone/>
              <a:defRPr/>
            </a:pPr>
            <a:r>
              <a:rPr lang="en-US" sz="1100">
                <a:solidFill>
                  <a:srgbClr val="1A1A1A"/>
                </a:solidFill>
                <a:latin typeface="Calibri"/>
                <a:ea typeface="Calibri"/>
                <a:cs typeface="Calibri"/>
              </a:rPr>
              <a:t>optical, 510 counts / rev</a:t>
            </a:r>
            <a:endParaRPr lang="en-US" sz="1100"/>
          </a:p>
        </p:txBody>
      </p:sp>
      <p:sp>
        <p:nvSpPr>
          <p:cNvPr id="806488371" name="Text 17"/>
          <p:cNvSpPr txBox="1"/>
          <p:nvPr/>
        </p:nvSpPr>
        <p:spPr bwMode="auto">
          <a:xfrm>
            <a:off x="4434840" y="2935224"/>
            <a:ext cx="1673352" cy="493776"/>
          </a:xfrm>
          <a:prstGeom prst="rect">
            <a:avLst/>
          </a:prstGeom>
          <a:noFill/>
          <a:ln/>
        </p:spPr>
        <p:txBody>
          <a:bodyPr wrap="square" lIns="0" tIns="0" rIns="0" bIns="0" rtlCol="0" anchor="t"/>
          <a:lstStyle/>
          <a:p>
            <a:pPr marL="0" indent="0">
              <a:buNone/>
              <a:defRPr/>
            </a:pPr>
            <a:r>
              <a:rPr lang="en-US" sz="1100">
                <a:solidFill>
                  <a:srgbClr val="5A6672"/>
                </a:solidFill>
                <a:latin typeface="Calibri"/>
                <a:ea typeface="Calibri"/>
                <a:cs typeface="Calibri"/>
              </a:rPr>
              <a:t>odometry source for the physics layer</a:t>
            </a:r>
            <a:endParaRPr lang="en-US" sz="1100"/>
          </a:p>
        </p:txBody>
      </p:sp>
      <p:sp>
        <p:nvSpPr>
          <p:cNvPr id="1034257755" name="Shape 18"/>
          <p:cNvSpPr/>
          <p:nvPr/>
        </p:nvSpPr>
        <p:spPr bwMode="auto">
          <a:xfrm>
            <a:off x="502920" y="3415284"/>
            <a:ext cx="5715000" cy="0"/>
          </a:xfrm>
          <a:prstGeom prst="line">
            <a:avLst/>
          </a:prstGeom>
          <a:noFill/>
          <a:ln w="9525">
            <a:solidFill>
              <a:srgbClr val="C9D2DC"/>
            </a:solidFill>
            <a:prstDash val="solid"/>
          </a:ln>
        </p:spPr>
        <p:txBody>
          <a:bodyPr/>
          <a:p/>
        </p:txBody>
      </p:sp>
      <p:sp>
        <p:nvSpPr>
          <p:cNvPr id="1092241313" name="Shape 19"/>
          <p:cNvSpPr/>
          <p:nvPr/>
        </p:nvSpPr>
        <p:spPr bwMode="auto">
          <a:xfrm>
            <a:off x="429768" y="3424428"/>
            <a:ext cx="5861304" cy="525780"/>
          </a:xfrm>
          <a:prstGeom prst="rect">
            <a:avLst/>
          </a:prstGeom>
          <a:solidFill>
            <a:srgbClr val="EEF3F8"/>
          </a:solidFill>
          <a:ln w="12700">
            <a:solidFill>
              <a:srgbClr val="EEF3F8"/>
            </a:solidFill>
            <a:prstDash val="solid"/>
          </a:ln>
        </p:spPr>
        <p:txBody>
          <a:bodyPr/>
          <a:p/>
        </p:txBody>
      </p:sp>
      <p:sp>
        <p:nvSpPr>
          <p:cNvPr id="943674780" name="Text 20"/>
          <p:cNvSpPr txBox="1"/>
          <p:nvPr/>
        </p:nvSpPr>
        <p:spPr bwMode="auto">
          <a:xfrm>
            <a:off x="502920" y="3461004"/>
            <a:ext cx="1673352" cy="493776"/>
          </a:xfrm>
          <a:prstGeom prst="rect">
            <a:avLst/>
          </a:prstGeom>
          <a:noFill/>
          <a:ln/>
        </p:spPr>
        <p:txBody>
          <a:bodyPr wrap="square" lIns="0" tIns="0" rIns="0" bIns="0" rtlCol="0" anchor="t"/>
          <a:lstStyle/>
          <a:p>
            <a:pPr marL="0" indent="0">
              <a:buNone/>
              <a:defRPr/>
            </a:pPr>
            <a:r>
              <a:rPr lang="en-US" sz="1100" b="1">
                <a:solidFill>
                  <a:srgbClr val="1A1A1A"/>
                </a:solidFill>
                <a:latin typeface="Calibri"/>
                <a:ea typeface="Calibri"/>
                <a:cs typeface="Calibri"/>
              </a:rPr>
              <a:t>Drive geometry</a:t>
            </a:r>
            <a:endParaRPr lang="en-US" sz="1100"/>
          </a:p>
        </p:txBody>
      </p:sp>
      <p:sp>
        <p:nvSpPr>
          <p:cNvPr id="1472825571" name="Text 21"/>
          <p:cNvSpPr txBox="1"/>
          <p:nvPr/>
        </p:nvSpPr>
        <p:spPr bwMode="auto">
          <a:xfrm>
            <a:off x="2286000" y="3461004"/>
            <a:ext cx="2039112" cy="493776"/>
          </a:xfrm>
          <a:prstGeom prst="rect">
            <a:avLst/>
          </a:prstGeom>
          <a:noFill/>
          <a:ln/>
        </p:spPr>
        <p:txBody>
          <a:bodyPr wrap="square" lIns="0" tIns="0" rIns="0" bIns="0" rtlCol="0" anchor="t"/>
          <a:lstStyle/>
          <a:p>
            <a:pPr marL="0" indent="0">
              <a:buNone/>
              <a:defRPr/>
            </a:pPr>
            <a:r>
              <a:rPr lang="en-US" sz="1100">
                <a:solidFill>
                  <a:srgbClr val="1A1A1A"/>
                </a:solidFill>
                <a:latin typeface="Calibri"/>
                <a:ea typeface="Calibri"/>
                <a:cs typeface="Calibri"/>
              </a:rPr>
              <a:t>wheel radius 32.5 mm, separation 250 mm</a:t>
            </a:r>
            <a:endParaRPr lang="en-US" sz="1100"/>
          </a:p>
        </p:txBody>
      </p:sp>
      <p:sp>
        <p:nvSpPr>
          <p:cNvPr id="701816992" name="Text 22"/>
          <p:cNvSpPr txBox="1"/>
          <p:nvPr/>
        </p:nvSpPr>
        <p:spPr bwMode="auto">
          <a:xfrm>
            <a:off x="4434840" y="3461004"/>
            <a:ext cx="1673352" cy="493776"/>
          </a:xfrm>
          <a:prstGeom prst="rect">
            <a:avLst/>
          </a:prstGeom>
          <a:noFill/>
          <a:ln/>
        </p:spPr>
        <p:txBody>
          <a:bodyPr wrap="square" lIns="0" tIns="0" rIns="0" bIns="0" rtlCol="0" anchor="t"/>
          <a:lstStyle/>
          <a:p>
            <a:pPr marL="0" indent="0">
              <a:buNone/>
              <a:defRPr/>
            </a:pPr>
            <a:r>
              <a:rPr lang="en-US" sz="1100">
                <a:solidFill>
                  <a:srgbClr val="5A6672"/>
                </a:solidFill>
                <a:latin typeface="Calibri"/>
                <a:ea typeface="Calibri"/>
                <a:cs typeface="Calibri"/>
              </a:rPr>
              <a:t>kinematic model parameters</a:t>
            </a:r>
            <a:endParaRPr lang="en-US" sz="1100"/>
          </a:p>
        </p:txBody>
      </p:sp>
      <p:sp>
        <p:nvSpPr>
          <p:cNvPr id="2023264197" name="Shape 23"/>
          <p:cNvSpPr/>
          <p:nvPr/>
        </p:nvSpPr>
        <p:spPr bwMode="auto">
          <a:xfrm>
            <a:off x="502920" y="3941064"/>
            <a:ext cx="5715000" cy="0"/>
          </a:xfrm>
          <a:prstGeom prst="line">
            <a:avLst/>
          </a:prstGeom>
          <a:noFill/>
          <a:ln w="9525">
            <a:solidFill>
              <a:srgbClr val="C9D2DC"/>
            </a:solidFill>
            <a:prstDash val="solid"/>
          </a:ln>
        </p:spPr>
        <p:txBody>
          <a:bodyPr/>
          <a:p/>
        </p:txBody>
      </p:sp>
      <p:sp>
        <p:nvSpPr>
          <p:cNvPr id="935027035" name="Text 24"/>
          <p:cNvSpPr txBox="1"/>
          <p:nvPr/>
        </p:nvSpPr>
        <p:spPr bwMode="auto">
          <a:xfrm>
            <a:off x="502920" y="3986784"/>
            <a:ext cx="1673352" cy="493776"/>
          </a:xfrm>
          <a:prstGeom prst="rect">
            <a:avLst/>
          </a:prstGeom>
          <a:noFill/>
          <a:ln/>
        </p:spPr>
        <p:txBody>
          <a:bodyPr wrap="square" lIns="0" tIns="0" rIns="0" bIns="0" rtlCol="0" anchor="t"/>
          <a:lstStyle/>
          <a:p>
            <a:pPr marL="0" indent="0">
              <a:buNone/>
              <a:defRPr/>
            </a:pPr>
            <a:r>
              <a:rPr lang="en-US" sz="1100" b="1">
                <a:solidFill>
                  <a:srgbClr val="1A1A1A"/>
                </a:solidFill>
                <a:latin typeface="Calibri"/>
                <a:ea typeface="Calibri"/>
                <a:cs typeface="Calibri"/>
              </a:rPr>
              <a:t>Attacker machine</a:t>
            </a:r>
            <a:endParaRPr lang="en-US" sz="1100"/>
          </a:p>
        </p:txBody>
      </p:sp>
      <p:sp>
        <p:nvSpPr>
          <p:cNvPr id="1525293843" name="Text 25"/>
          <p:cNvSpPr txBox="1"/>
          <p:nvPr/>
        </p:nvSpPr>
        <p:spPr bwMode="auto">
          <a:xfrm>
            <a:off x="2286000" y="3986784"/>
            <a:ext cx="2039112" cy="493776"/>
          </a:xfrm>
          <a:prstGeom prst="rect">
            <a:avLst/>
          </a:prstGeom>
          <a:noFill/>
          <a:ln/>
        </p:spPr>
        <p:txBody>
          <a:bodyPr wrap="square" lIns="0" tIns="0" rIns="0" bIns="0" rtlCol="0" anchor="t"/>
          <a:lstStyle/>
          <a:p>
            <a:pPr marL="0" indent="0">
              <a:buNone/>
              <a:defRPr/>
            </a:pPr>
            <a:r>
              <a:rPr lang="en-US" sz="1100">
                <a:solidFill>
                  <a:srgbClr val="1A1A1A"/>
                </a:solidFill>
                <a:latin typeface="Calibri"/>
                <a:ea typeface="Calibri"/>
                <a:cs typeface="Calibri"/>
              </a:rPr>
              <a:t>HP Pavilion laptop, Ubuntu 22.04</a:t>
            </a:r>
            <a:endParaRPr lang="en-US" sz="1100"/>
          </a:p>
        </p:txBody>
      </p:sp>
      <p:sp>
        <p:nvSpPr>
          <p:cNvPr id="725639525" name="Text 26"/>
          <p:cNvSpPr txBox="1"/>
          <p:nvPr/>
        </p:nvSpPr>
        <p:spPr bwMode="auto">
          <a:xfrm>
            <a:off x="4434840" y="3986784"/>
            <a:ext cx="1673352" cy="493776"/>
          </a:xfrm>
          <a:prstGeom prst="rect">
            <a:avLst/>
          </a:prstGeom>
          <a:noFill/>
          <a:ln/>
        </p:spPr>
        <p:txBody>
          <a:bodyPr wrap="square" lIns="0" tIns="0" rIns="0" bIns="0" rtlCol="0" anchor="t"/>
          <a:lstStyle/>
          <a:p>
            <a:pPr marL="0" indent="0">
              <a:buNone/>
              <a:defRPr/>
            </a:pPr>
            <a:r>
              <a:rPr lang="en-US" sz="1100">
                <a:solidFill>
                  <a:srgbClr val="5A6672"/>
                </a:solidFill>
                <a:latin typeface="Calibri"/>
                <a:ea typeface="Calibri"/>
                <a:cs typeface="Calibri"/>
              </a:rPr>
              <a:t>runs the rogue publisher</a:t>
            </a:r>
            <a:endParaRPr lang="en-US" sz="1100"/>
          </a:p>
        </p:txBody>
      </p:sp>
      <p:sp>
        <p:nvSpPr>
          <p:cNvPr id="937008479" name="Shape 27"/>
          <p:cNvSpPr/>
          <p:nvPr/>
        </p:nvSpPr>
        <p:spPr bwMode="auto">
          <a:xfrm>
            <a:off x="502920" y="4466844"/>
            <a:ext cx="5715000" cy="0"/>
          </a:xfrm>
          <a:prstGeom prst="line">
            <a:avLst/>
          </a:prstGeom>
          <a:noFill/>
          <a:ln w="9525">
            <a:solidFill>
              <a:srgbClr val="C9D2DC"/>
            </a:solidFill>
            <a:prstDash val="solid"/>
          </a:ln>
        </p:spPr>
        <p:txBody>
          <a:bodyPr/>
          <a:p/>
        </p:txBody>
      </p:sp>
      <p:sp>
        <p:nvSpPr>
          <p:cNvPr id="1659174834" name="Text 28"/>
          <p:cNvSpPr txBox="1"/>
          <p:nvPr/>
        </p:nvSpPr>
        <p:spPr bwMode="auto">
          <a:xfrm>
            <a:off x="502920" y="4512564"/>
            <a:ext cx="1673352" cy="493776"/>
          </a:xfrm>
          <a:prstGeom prst="rect">
            <a:avLst/>
          </a:prstGeom>
          <a:noFill/>
          <a:ln/>
        </p:spPr>
        <p:txBody>
          <a:bodyPr wrap="square" lIns="0" tIns="0" rIns="0" bIns="0" rtlCol="0" anchor="t"/>
          <a:lstStyle/>
          <a:p>
            <a:pPr marL="0" indent="0">
              <a:buNone/>
              <a:defRPr/>
            </a:pPr>
            <a:r>
              <a:rPr lang="en-US" sz="1100" b="1">
                <a:solidFill>
                  <a:srgbClr val="1A1A1A"/>
                </a:solidFill>
                <a:latin typeface="Calibri"/>
                <a:ea typeface="Calibri"/>
                <a:cs typeface="Calibri"/>
              </a:rPr>
              <a:t>Simulation / monitor PC</a:t>
            </a:r>
            <a:endParaRPr lang="en-US" sz="1100"/>
          </a:p>
        </p:txBody>
      </p:sp>
      <p:sp>
        <p:nvSpPr>
          <p:cNvPr id="549929534" name="Text 29"/>
          <p:cNvSpPr txBox="1"/>
          <p:nvPr/>
        </p:nvSpPr>
        <p:spPr bwMode="auto">
          <a:xfrm>
            <a:off x="2286000" y="4512564"/>
            <a:ext cx="2039112" cy="493776"/>
          </a:xfrm>
          <a:prstGeom prst="rect">
            <a:avLst/>
          </a:prstGeom>
          <a:noFill/>
          <a:ln/>
        </p:spPr>
        <p:txBody>
          <a:bodyPr wrap="square" lIns="0" tIns="0" rIns="0" bIns="0" rtlCol="0" anchor="t"/>
          <a:lstStyle/>
          <a:p>
            <a:pPr marL="0" indent="0">
              <a:buNone/>
              <a:defRPr/>
            </a:pPr>
            <a:r>
              <a:rPr lang="en-US" sz="1100">
                <a:solidFill>
                  <a:srgbClr val="1A1A1A"/>
                </a:solidFill>
                <a:latin typeface="Calibri"/>
                <a:ea typeface="Calibri"/>
                <a:cs typeface="Calibri"/>
              </a:rPr>
              <a:t>Acer Nitro ANV15-41, Ubuntu 22.04</a:t>
            </a:r>
            <a:endParaRPr lang="en-US" sz="1100"/>
          </a:p>
        </p:txBody>
      </p:sp>
      <p:sp>
        <p:nvSpPr>
          <p:cNvPr id="391217116" name="Text 30"/>
          <p:cNvSpPr txBox="1"/>
          <p:nvPr/>
        </p:nvSpPr>
        <p:spPr bwMode="auto">
          <a:xfrm>
            <a:off x="4434840" y="4512564"/>
            <a:ext cx="1673352" cy="493776"/>
          </a:xfrm>
          <a:prstGeom prst="rect">
            <a:avLst/>
          </a:prstGeom>
          <a:noFill/>
          <a:ln/>
        </p:spPr>
        <p:txBody>
          <a:bodyPr wrap="square" lIns="0" tIns="0" rIns="0" bIns="0" rtlCol="0" anchor="t"/>
          <a:lstStyle/>
          <a:p>
            <a:pPr marL="0" indent="0">
              <a:buNone/>
              <a:defRPr/>
            </a:pPr>
            <a:r>
              <a:rPr lang="en-US" sz="1100">
                <a:solidFill>
                  <a:srgbClr val="5A6672"/>
                </a:solidFill>
                <a:latin typeface="Calibri"/>
                <a:ea typeface="Calibri"/>
                <a:cs typeface="Calibri"/>
              </a:rPr>
              <a:t>Gazebo, RViz2, IDS monitor</a:t>
            </a:r>
            <a:endParaRPr lang="en-US" sz="1100"/>
          </a:p>
        </p:txBody>
      </p:sp>
      <p:sp>
        <p:nvSpPr>
          <p:cNvPr id="1917599438" name="Shape 31"/>
          <p:cNvSpPr/>
          <p:nvPr/>
        </p:nvSpPr>
        <p:spPr bwMode="auto">
          <a:xfrm>
            <a:off x="502920" y="4992624"/>
            <a:ext cx="5715000" cy="0"/>
          </a:xfrm>
          <a:prstGeom prst="line">
            <a:avLst/>
          </a:prstGeom>
          <a:noFill/>
          <a:ln w="9525">
            <a:solidFill>
              <a:srgbClr val="C9D2DC"/>
            </a:solidFill>
            <a:prstDash val="solid"/>
          </a:ln>
        </p:spPr>
        <p:txBody>
          <a:bodyPr/>
          <a:p/>
        </p:txBody>
      </p:sp>
      <p:sp>
        <p:nvSpPr>
          <p:cNvPr id="804569229" name="Text 32"/>
          <p:cNvSpPr txBox="1"/>
          <p:nvPr/>
        </p:nvSpPr>
        <p:spPr bwMode="auto">
          <a:xfrm>
            <a:off x="502920" y="5038344"/>
            <a:ext cx="1673352" cy="493776"/>
          </a:xfrm>
          <a:prstGeom prst="rect">
            <a:avLst/>
          </a:prstGeom>
          <a:noFill/>
          <a:ln/>
        </p:spPr>
        <p:txBody>
          <a:bodyPr wrap="square" lIns="0" tIns="0" rIns="0" bIns="0" rtlCol="0" anchor="t"/>
          <a:lstStyle/>
          <a:p>
            <a:pPr marL="0" indent="0">
              <a:buNone/>
              <a:defRPr/>
            </a:pPr>
            <a:r>
              <a:rPr lang="en-US" sz="1100" b="1">
                <a:solidFill>
                  <a:srgbClr val="1A1A1A"/>
                </a:solidFill>
                <a:latin typeface="Calibri"/>
                <a:ea typeface="Calibri"/>
                <a:cs typeface="Calibri"/>
              </a:rPr>
              <a:t>Network</a:t>
            </a:r>
            <a:endParaRPr lang="en-US" sz="1100"/>
          </a:p>
        </p:txBody>
      </p:sp>
      <p:sp>
        <p:nvSpPr>
          <p:cNvPr id="1890901599" name="Text 33"/>
          <p:cNvSpPr txBox="1"/>
          <p:nvPr/>
        </p:nvSpPr>
        <p:spPr bwMode="auto">
          <a:xfrm>
            <a:off x="2286000" y="5038344"/>
            <a:ext cx="2039112" cy="493776"/>
          </a:xfrm>
          <a:prstGeom prst="rect">
            <a:avLst/>
          </a:prstGeom>
          <a:noFill/>
          <a:ln/>
        </p:spPr>
        <p:txBody>
          <a:bodyPr wrap="square" lIns="0" tIns="0" rIns="0" bIns="0" rtlCol="0" anchor="t"/>
          <a:lstStyle/>
          <a:p>
            <a:pPr marL="0" indent="0">
              <a:buNone/>
              <a:defRPr/>
            </a:pPr>
            <a:r>
              <a:rPr lang="en-US" sz="1100">
                <a:solidFill>
                  <a:srgbClr val="1A1A1A"/>
                </a:solidFill>
                <a:latin typeface="Calibri"/>
                <a:ea typeface="Calibri"/>
                <a:cs typeface="Calibri"/>
              </a:rPr>
              <a:t>switched Ethernet / Wi-Fi, isolated domain</a:t>
            </a:r>
            <a:endParaRPr lang="en-US" sz="1100"/>
          </a:p>
        </p:txBody>
      </p:sp>
      <p:sp>
        <p:nvSpPr>
          <p:cNvPr id="1688854831" name="Text 34"/>
          <p:cNvSpPr txBox="1"/>
          <p:nvPr/>
        </p:nvSpPr>
        <p:spPr bwMode="auto">
          <a:xfrm>
            <a:off x="4434840" y="5038344"/>
            <a:ext cx="1673352" cy="493776"/>
          </a:xfrm>
          <a:prstGeom prst="rect">
            <a:avLst/>
          </a:prstGeom>
          <a:noFill/>
          <a:ln/>
        </p:spPr>
        <p:txBody>
          <a:bodyPr wrap="square" lIns="0" tIns="0" rIns="0" bIns="0" rtlCol="0" anchor="t"/>
          <a:lstStyle/>
          <a:p>
            <a:pPr marL="0" indent="0">
              <a:buNone/>
              <a:defRPr/>
            </a:pPr>
            <a:r>
              <a:rPr lang="en-US" sz="1100">
                <a:solidFill>
                  <a:srgbClr val="5A6672"/>
                </a:solidFill>
                <a:latin typeface="Calibri"/>
                <a:ea typeface="Calibri"/>
                <a:cs typeface="Calibri"/>
              </a:rPr>
              <a:t>the DDS domain under attack</a:t>
            </a:r>
            <a:endParaRPr lang="en-US" sz="1100"/>
          </a:p>
        </p:txBody>
      </p:sp>
      <p:sp>
        <p:nvSpPr>
          <p:cNvPr id="657099311" name="Shape 35"/>
          <p:cNvSpPr/>
          <p:nvPr/>
        </p:nvSpPr>
        <p:spPr bwMode="auto">
          <a:xfrm>
            <a:off x="502920" y="5518404"/>
            <a:ext cx="5715000" cy="0"/>
          </a:xfrm>
          <a:prstGeom prst="line">
            <a:avLst/>
          </a:prstGeom>
          <a:noFill/>
          <a:ln w="9525">
            <a:solidFill>
              <a:srgbClr val="C9D2DC"/>
            </a:solidFill>
            <a:prstDash val="solid"/>
          </a:ln>
        </p:spPr>
        <p:txBody>
          <a:bodyPr/>
          <a:p/>
        </p:txBody>
      </p:sp>
      <p:sp>
        <p:nvSpPr>
          <p:cNvPr id="1464719297" name="Text 36"/>
          <p:cNvSpPr txBox="1"/>
          <p:nvPr/>
        </p:nvSpPr>
        <p:spPr bwMode="auto">
          <a:xfrm>
            <a:off x="502920" y="5591556"/>
            <a:ext cx="5715000" cy="365760"/>
          </a:xfrm>
          <a:prstGeom prst="rect">
            <a:avLst/>
          </a:prstGeom>
          <a:noFill/>
          <a:ln/>
        </p:spPr>
        <p:txBody>
          <a:bodyPr wrap="square" lIns="0" tIns="0" rIns="0" bIns="0" rtlCol="0" anchor="ctr"/>
          <a:lstStyle/>
          <a:p>
            <a:pPr marL="0" indent="0">
              <a:buNone/>
              <a:defRPr/>
            </a:pPr>
            <a:r>
              <a:rPr lang="en-US" sz="950" i="1">
                <a:solidFill>
                  <a:srgbClr val="5A6672"/>
                </a:solidFill>
                <a:latin typeface="Calibri"/>
                <a:ea typeface="Calibri"/>
                <a:cs typeface="Calibri"/>
              </a:rPr>
              <a:t>Shaded rows are measured constants used directly by the detector, not catalogue values.</a:t>
            </a:r>
            <a:endParaRPr lang="en-US" sz="950"/>
          </a:p>
        </p:txBody>
      </p:sp>
      <p:sp>
        <p:nvSpPr>
          <p:cNvPr id="448450457" name="Text 37"/>
          <p:cNvSpPr txBox="1"/>
          <p:nvPr/>
        </p:nvSpPr>
        <p:spPr bwMode="auto">
          <a:xfrm>
            <a:off x="6537960" y="1152144"/>
            <a:ext cx="5120640" cy="310896"/>
          </a:xfrm>
          <a:prstGeom prst="rect">
            <a:avLst/>
          </a:prstGeom>
          <a:noFill/>
          <a:ln/>
        </p:spPr>
        <p:txBody>
          <a:bodyPr wrap="square" lIns="0" tIns="0" rIns="0" bIns="0" rtlCol="0" anchor="ctr"/>
          <a:lstStyle/>
          <a:p>
            <a:pPr marL="0" indent="0">
              <a:buNone/>
              <a:defRPr/>
            </a:pPr>
            <a:r>
              <a:rPr lang="en-US" sz="1700" b="1">
                <a:solidFill>
                  <a:srgbClr val="14509B"/>
                </a:solidFill>
                <a:latin typeface="Cambria"/>
                <a:ea typeface="Cambria"/>
                <a:cs typeface="Cambria"/>
              </a:rPr>
              <a:t>Software</a:t>
            </a:r>
            <a:endParaRPr lang="en-US" sz="1700"/>
          </a:p>
        </p:txBody>
      </p:sp>
      <p:sp>
        <p:nvSpPr>
          <p:cNvPr id="503274788" name="Text 38"/>
          <p:cNvSpPr txBox="1"/>
          <p:nvPr/>
        </p:nvSpPr>
        <p:spPr bwMode="auto">
          <a:xfrm>
            <a:off x="6537960" y="1517904"/>
            <a:ext cx="1554480" cy="256032"/>
          </a:xfrm>
          <a:prstGeom prst="rect">
            <a:avLst/>
          </a:prstGeom>
          <a:noFill/>
          <a:ln/>
        </p:spPr>
        <p:txBody>
          <a:bodyPr wrap="square" lIns="0" tIns="0" rIns="0" bIns="0" rtlCol="0" anchor="ctr"/>
          <a:lstStyle/>
          <a:p>
            <a:pPr marL="0" indent="0">
              <a:buNone/>
              <a:defRPr/>
            </a:pPr>
            <a:r>
              <a:rPr lang="en-US" sz="1000" b="1" spc="60">
                <a:solidFill>
                  <a:srgbClr val="5A6672"/>
                </a:solidFill>
                <a:latin typeface="Calibri"/>
                <a:ea typeface="Calibri"/>
                <a:cs typeface="Calibri"/>
              </a:rPr>
              <a:t>COMPONENT</a:t>
            </a:r>
            <a:endParaRPr lang="en-US" sz="1000"/>
          </a:p>
        </p:txBody>
      </p:sp>
      <p:sp>
        <p:nvSpPr>
          <p:cNvPr id="1583686871" name="Text 39"/>
          <p:cNvSpPr txBox="1"/>
          <p:nvPr/>
        </p:nvSpPr>
        <p:spPr bwMode="auto">
          <a:xfrm>
            <a:off x="8092440" y="1517904"/>
            <a:ext cx="1965960" cy="256032"/>
          </a:xfrm>
          <a:prstGeom prst="rect">
            <a:avLst/>
          </a:prstGeom>
          <a:noFill/>
          <a:ln/>
        </p:spPr>
        <p:txBody>
          <a:bodyPr wrap="square" lIns="0" tIns="0" rIns="0" bIns="0" rtlCol="0" anchor="ctr"/>
          <a:lstStyle/>
          <a:p>
            <a:pPr marL="0" indent="0">
              <a:buNone/>
              <a:defRPr/>
            </a:pPr>
            <a:r>
              <a:rPr lang="en-US" sz="1000" b="1" spc="60">
                <a:solidFill>
                  <a:srgbClr val="5A6672"/>
                </a:solidFill>
                <a:latin typeface="Calibri"/>
                <a:ea typeface="Calibri"/>
                <a:cs typeface="Calibri"/>
              </a:rPr>
              <a:t>VERSION / CONFIGURATION</a:t>
            </a:r>
            <a:endParaRPr lang="en-US" sz="1000"/>
          </a:p>
        </p:txBody>
      </p:sp>
      <p:sp>
        <p:nvSpPr>
          <p:cNvPr id="1475759212" name="Text 40"/>
          <p:cNvSpPr txBox="1"/>
          <p:nvPr/>
        </p:nvSpPr>
        <p:spPr bwMode="auto">
          <a:xfrm>
            <a:off x="10058400" y="1517904"/>
            <a:ext cx="1600200" cy="256032"/>
          </a:xfrm>
          <a:prstGeom prst="rect">
            <a:avLst/>
          </a:prstGeom>
          <a:noFill/>
          <a:ln/>
        </p:spPr>
        <p:txBody>
          <a:bodyPr wrap="square" lIns="0" tIns="0" rIns="0" bIns="0" rtlCol="0" anchor="ctr"/>
          <a:lstStyle/>
          <a:p>
            <a:pPr marL="0" indent="0">
              <a:buNone/>
              <a:defRPr/>
            </a:pPr>
            <a:r>
              <a:rPr lang="en-US" sz="1000" b="1" spc="60">
                <a:solidFill>
                  <a:srgbClr val="5A6672"/>
                </a:solidFill>
                <a:latin typeface="Calibri"/>
                <a:ea typeface="Calibri"/>
                <a:cs typeface="Calibri"/>
              </a:rPr>
              <a:t>ROLE</a:t>
            </a:r>
            <a:endParaRPr lang="en-US" sz="1000"/>
          </a:p>
        </p:txBody>
      </p:sp>
      <p:sp>
        <p:nvSpPr>
          <p:cNvPr id="136633989" name="Shape 41"/>
          <p:cNvSpPr/>
          <p:nvPr/>
        </p:nvSpPr>
        <p:spPr bwMode="auto">
          <a:xfrm>
            <a:off x="6537960" y="1792224"/>
            <a:ext cx="5120640" cy="0"/>
          </a:xfrm>
          <a:prstGeom prst="line">
            <a:avLst/>
          </a:prstGeom>
          <a:noFill/>
          <a:ln w="19050">
            <a:solidFill>
              <a:srgbClr val="14509B"/>
            </a:solidFill>
            <a:prstDash val="solid"/>
          </a:ln>
        </p:spPr>
        <p:txBody>
          <a:bodyPr/>
          <a:p/>
        </p:txBody>
      </p:sp>
      <p:sp>
        <p:nvSpPr>
          <p:cNvPr id="259446119" name="Text 42"/>
          <p:cNvSpPr txBox="1"/>
          <p:nvPr/>
        </p:nvSpPr>
        <p:spPr bwMode="auto">
          <a:xfrm>
            <a:off x="6537960" y="1883664"/>
            <a:ext cx="1444752" cy="493776"/>
          </a:xfrm>
          <a:prstGeom prst="rect">
            <a:avLst/>
          </a:prstGeom>
          <a:noFill/>
          <a:ln/>
        </p:spPr>
        <p:txBody>
          <a:bodyPr wrap="square" lIns="0" tIns="0" rIns="0" bIns="0" rtlCol="0" anchor="t"/>
          <a:lstStyle/>
          <a:p>
            <a:pPr marL="0" indent="0">
              <a:buNone/>
              <a:defRPr/>
            </a:pPr>
            <a:r>
              <a:rPr lang="en-US" sz="1100" b="1">
                <a:solidFill>
                  <a:srgbClr val="1A1A1A"/>
                </a:solidFill>
                <a:latin typeface="Calibri"/>
                <a:ea typeface="Calibri"/>
                <a:cs typeface="Calibri"/>
              </a:rPr>
              <a:t>ROS 2 Humble</a:t>
            </a:r>
            <a:endParaRPr lang="en-US" sz="1100"/>
          </a:p>
        </p:txBody>
      </p:sp>
      <p:sp>
        <p:nvSpPr>
          <p:cNvPr id="1714686590" name="Text 43"/>
          <p:cNvSpPr txBox="1"/>
          <p:nvPr/>
        </p:nvSpPr>
        <p:spPr bwMode="auto">
          <a:xfrm>
            <a:off x="8092440" y="1883664"/>
            <a:ext cx="1856232" cy="493776"/>
          </a:xfrm>
          <a:prstGeom prst="rect">
            <a:avLst/>
          </a:prstGeom>
          <a:noFill/>
          <a:ln/>
        </p:spPr>
        <p:txBody>
          <a:bodyPr wrap="square" lIns="0" tIns="0" rIns="0" bIns="0" rtlCol="0" anchor="t"/>
          <a:lstStyle/>
          <a:p>
            <a:pPr marL="0" indent="0">
              <a:buNone/>
              <a:defRPr/>
            </a:pPr>
            <a:r>
              <a:rPr lang="en-US" sz="1100">
                <a:solidFill>
                  <a:srgbClr val="1A1A1A"/>
                </a:solidFill>
                <a:latin typeface="Calibri"/>
                <a:ea typeface="Calibri"/>
                <a:cs typeface="Calibri"/>
              </a:rPr>
              <a:t>Ubuntu 22.04 LTS</a:t>
            </a:r>
            <a:endParaRPr lang="en-US" sz="1100"/>
          </a:p>
        </p:txBody>
      </p:sp>
      <p:sp>
        <p:nvSpPr>
          <p:cNvPr id="1306746477" name="Text 44"/>
          <p:cNvSpPr txBox="1"/>
          <p:nvPr/>
        </p:nvSpPr>
        <p:spPr bwMode="auto">
          <a:xfrm>
            <a:off x="10058400" y="1883664"/>
            <a:ext cx="1490472" cy="493776"/>
          </a:xfrm>
          <a:prstGeom prst="rect">
            <a:avLst/>
          </a:prstGeom>
          <a:noFill/>
          <a:ln/>
        </p:spPr>
        <p:txBody>
          <a:bodyPr wrap="square" lIns="0" tIns="0" rIns="0" bIns="0" rtlCol="0" anchor="t"/>
          <a:lstStyle/>
          <a:p>
            <a:pPr marL="0" indent="0">
              <a:buNone/>
              <a:defRPr/>
            </a:pPr>
            <a:r>
              <a:rPr lang="en-US" sz="1100">
                <a:solidFill>
                  <a:srgbClr val="5A6672"/>
                </a:solidFill>
                <a:latin typeface="Calibri"/>
                <a:ea typeface="Calibri"/>
                <a:cs typeface="Calibri"/>
              </a:rPr>
              <a:t>middleware and node framework</a:t>
            </a:r>
            <a:endParaRPr lang="en-US" sz="1100"/>
          </a:p>
        </p:txBody>
      </p:sp>
      <p:sp>
        <p:nvSpPr>
          <p:cNvPr id="994023251" name="Shape 45"/>
          <p:cNvSpPr/>
          <p:nvPr/>
        </p:nvSpPr>
        <p:spPr bwMode="auto">
          <a:xfrm>
            <a:off x="6537960" y="2363724"/>
            <a:ext cx="5120640" cy="0"/>
          </a:xfrm>
          <a:prstGeom prst="line">
            <a:avLst/>
          </a:prstGeom>
          <a:noFill/>
          <a:ln w="9525">
            <a:solidFill>
              <a:srgbClr val="C9D2DC"/>
            </a:solidFill>
            <a:prstDash val="solid"/>
          </a:ln>
        </p:spPr>
        <p:txBody>
          <a:bodyPr/>
          <a:p/>
        </p:txBody>
      </p:sp>
      <p:sp>
        <p:nvSpPr>
          <p:cNvPr id="340879686" name="Text 46"/>
          <p:cNvSpPr txBox="1"/>
          <p:nvPr/>
        </p:nvSpPr>
        <p:spPr bwMode="auto">
          <a:xfrm>
            <a:off x="6537960" y="2409444"/>
            <a:ext cx="1444752" cy="493776"/>
          </a:xfrm>
          <a:prstGeom prst="rect">
            <a:avLst/>
          </a:prstGeom>
          <a:noFill/>
          <a:ln/>
        </p:spPr>
        <p:txBody>
          <a:bodyPr wrap="square" lIns="0" tIns="0" rIns="0" bIns="0" rtlCol="0" anchor="t"/>
          <a:lstStyle/>
          <a:p>
            <a:pPr marL="0" indent="0">
              <a:buNone/>
              <a:defRPr/>
            </a:pPr>
            <a:r>
              <a:rPr lang="en-US" sz="1100" b="1">
                <a:solidFill>
                  <a:srgbClr val="1A1A1A"/>
                </a:solidFill>
                <a:latin typeface="Calibri"/>
                <a:ea typeface="Calibri"/>
                <a:cs typeface="Calibri"/>
              </a:rPr>
              <a:t>Fast DDS</a:t>
            </a:r>
            <a:endParaRPr lang="en-US" sz="1100"/>
          </a:p>
        </p:txBody>
      </p:sp>
      <p:sp>
        <p:nvSpPr>
          <p:cNvPr id="1940710618" name="Text 47"/>
          <p:cNvSpPr txBox="1"/>
          <p:nvPr/>
        </p:nvSpPr>
        <p:spPr bwMode="auto">
          <a:xfrm>
            <a:off x="8092440" y="2409444"/>
            <a:ext cx="1856232" cy="493776"/>
          </a:xfrm>
          <a:prstGeom prst="rect">
            <a:avLst/>
          </a:prstGeom>
          <a:noFill/>
          <a:ln/>
        </p:spPr>
        <p:txBody>
          <a:bodyPr wrap="square" lIns="0" tIns="0" rIns="0" bIns="0" rtlCol="0" anchor="t"/>
          <a:lstStyle/>
          <a:p>
            <a:pPr marL="0" indent="0">
              <a:buNone/>
              <a:defRPr/>
            </a:pPr>
            <a:r>
              <a:rPr lang="en-US" sz="1100">
                <a:solidFill>
                  <a:srgbClr val="1A1A1A"/>
                </a:solidFill>
                <a:latin typeface="Calibri"/>
                <a:ea typeface="Calibri"/>
                <a:cs typeface="Calibri"/>
              </a:rPr>
              <a:t>rmw_fastrtps_cpp, UDP-only profile</a:t>
            </a:r>
            <a:endParaRPr lang="en-US" sz="1100"/>
          </a:p>
        </p:txBody>
      </p:sp>
      <p:sp>
        <p:nvSpPr>
          <p:cNvPr id="1091868750" name="Text 48"/>
          <p:cNvSpPr txBox="1"/>
          <p:nvPr/>
        </p:nvSpPr>
        <p:spPr bwMode="auto">
          <a:xfrm>
            <a:off x="10058400" y="2409444"/>
            <a:ext cx="1490472" cy="493776"/>
          </a:xfrm>
          <a:prstGeom prst="rect">
            <a:avLst/>
          </a:prstGeom>
          <a:noFill/>
          <a:ln/>
        </p:spPr>
        <p:txBody>
          <a:bodyPr wrap="square" lIns="0" tIns="0" rIns="0" bIns="0" rtlCol="0" anchor="t"/>
          <a:lstStyle/>
          <a:p>
            <a:pPr marL="0" indent="0">
              <a:buNone/>
              <a:defRPr/>
            </a:pPr>
            <a:r>
              <a:rPr lang="en-US" sz="1100">
                <a:solidFill>
                  <a:srgbClr val="5A6672"/>
                </a:solidFill>
                <a:latin typeface="Calibri"/>
                <a:ea typeface="Calibri"/>
                <a:cs typeface="Calibri"/>
              </a:rPr>
              <a:t>the transport under test</a:t>
            </a:r>
            <a:endParaRPr lang="en-US" sz="1100"/>
          </a:p>
        </p:txBody>
      </p:sp>
      <p:sp>
        <p:nvSpPr>
          <p:cNvPr id="912295660" name="Shape 49"/>
          <p:cNvSpPr/>
          <p:nvPr/>
        </p:nvSpPr>
        <p:spPr bwMode="auto">
          <a:xfrm>
            <a:off x="6537960" y="2889504"/>
            <a:ext cx="5120640" cy="0"/>
          </a:xfrm>
          <a:prstGeom prst="line">
            <a:avLst/>
          </a:prstGeom>
          <a:noFill/>
          <a:ln w="9525">
            <a:solidFill>
              <a:srgbClr val="C9D2DC"/>
            </a:solidFill>
            <a:prstDash val="solid"/>
          </a:ln>
        </p:spPr>
        <p:txBody>
          <a:bodyPr/>
          <a:p/>
        </p:txBody>
      </p:sp>
      <p:sp>
        <p:nvSpPr>
          <p:cNvPr id="533434119" name="Text 50"/>
          <p:cNvSpPr txBox="1"/>
          <p:nvPr/>
        </p:nvSpPr>
        <p:spPr bwMode="auto">
          <a:xfrm>
            <a:off x="6537960" y="2935224"/>
            <a:ext cx="1444752" cy="493776"/>
          </a:xfrm>
          <a:prstGeom prst="rect">
            <a:avLst/>
          </a:prstGeom>
          <a:noFill/>
          <a:ln/>
        </p:spPr>
        <p:txBody>
          <a:bodyPr wrap="square" lIns="0" tIns="0" rIns="0" bIns="0" rtlCol="0" anchor="t"/>
          <a:lstStyle/>
          <a:p>
            <a:pPr marL="0" indent="0">
              <a:buNone/>
              <a:defRPr/>
            </a:pPr>
            <a:r>
              <a:rPr lang="en-US" sz="1100" b="1">
                <a:solidFill>
                  <a:srgbClr val="1A1A1A"/>
                </a:solidFill>
                <a:latin typeface="Calibri"/>
                <a:ea typeface="Calibri"/>
                <a:cs typeface="Calibri"/>
              </a:rPr>
              <a:t>Gazebo</a:t>
            </a:r>
            <a:endParaRPr lang="en-US" sz="1100"/>
          </a:p>
        </p:txBody>
      </p:sp>
      <p:sp>
        <p:nvSpPr>
          <p:cNvPr id="230388490" name="Text 51"/>
          <p:cNvSpPr txBox="1"/>
          <p:nvPr/>
        </p:nvSpPr>
        <p:spPr bwMode="auto">
          <a:xfrm>
            <a:off x="8092440" y="2935224"/>
            <a:ext cx="1856232" cy="493776"/>
          </a:xfrm>
          <a:prstGeom prst="rect">
            <a:avLst/>
          </a:prstGeom>
          <a:noFill/>
          <a:ln/>
        </p:spPr>
        <p:txBody>
          <a:bodyPr wrap="square" lIns="0" tIns="0" rIns="0" bIns="0" rtlCol="0" anchor="t"/>
          <a:lstStyle/>
          <a:p>
            <a:pPr marL="0" indent="0">
              <a:buNone/>
              <a:defRPr/>
            </a:pPr>
            <a:r>
              <a:rPr lang="en-US" sz="1100">
                <a:solidFill>
                  <a:srgbClr val="1A1A1A"/>
                </a:solidFill>
                <a:latin typeface="Calibri"/>
                <a:ea typeface="Calibri"/>
                <a:cs typeface="Calibri"/>
              </a:rPr>
              <a:t>Harmonic</a:t>
            </a:r>
            <a:endParaRPr lang="en-US" sz="1100"/>
          </a:p>
        </p:txBody>
      </p:sp>
      <p:sp>
        <p:nvSpPr>
          <p:cNvPr id="16376386" name="Text 52"/>
          <p:cNvSpPr txBox="1"/>
          <p:nvPr/>
        </p:nvSpPr>
        <p:spPr bwMode="auto">
          <a:xfrm>
            <a:off x="10058400" y="2935224"/>
            <a:ext cx="1490472" cy="493776"/>
          </a:xfrm>
          <a:prstGeom prst="rect">
            <a:avLst/>
          </a:prstGeom>
          <a:noFill/>
          <a:ln/>
        </p:spPr>
        <p:txBody>
          <a:bodyPr wrap="square" lIns="0" tIns="0" rIns="0" bIns="0" rtlCol="0" anchor="t"/>
          <a:lstStyle/>
          <a:p>
            <a:pPr marL="0" indent="0">
              <a:buNone/>
              <a:defRPr/>
            </a:pPr>
            <a:r>
              <a:rPr lang="en-US" sz="1100">
                <a:solidFill>
                  <a:srgbClr val="5A6672"/>
                </a:solidFill>
                <a:latin typeface="Calibri"/>
                <a:ea typeface="Calibri"/>
                <a:cs typeface="Calibri"/>
              </a:rPr>
              <a:t>robot simulation environment</a:t>
            </a:r>
            <a:endParaRPr lang="en-US" sz="1100"/>
          </a:p>
        </p:txBody>
      </p:sp>
      <p:sp>
        <p:nvSpPr>
          <p:cNvPr id="1730903332" name="Shape 53"/>
          <p:cNvSpPr/>
          <p:nvPr/>
        </p:nvSpPr>
        <p:spPr bwMode="auto">
          <a:xfrm>
            <a:off x="6537960" y="3415284"/>
            <a:ext cx="5120640" cy="0"/>
          </a:xfrm>
          <a:prstGeom prst="line">
            <a:avLst/>
          </a:prstGeom>
          <a:noFill/>
          <a:ln w="9525">
            <a:solidFill>
              <a:srgbClr val="C9D2DC"/>
            </a:solidFill>
            <a:prstDash val="solid"/>
          </a:ln>
        </p:spPr>
        <p:txBody>
          <a:bodyPr/>
          <a:p/>
        </p:txBody>
      </p:sp>
      <p:sp>
        <p:nvSpPr>
          <p:cNvPr id="1960342024" name="Text 54"/>
          <p:cNvSpPr txBox="1"/>
          <p:nvPr/>
        </p:nvSpPr>
        <p:spPr bwMode="auto">
          <a:xfrm>
            <a:off x="6537960" y="3461004"/>
            <a:ext cx="1444752" cy="493776"/>
          </a:xfrm>
          <a:prstGeom prst="rect">
            <a:avLst/>
          </a:prstGeom>
          <a:noFill/>
          <a:ln/>
        </p:spPr>
        <p:txBody>
          <a:bodyPr wrap="square" lIns="0" tIns="0" rIns="0" bIns="0" rtlCol="0" anchor="t"/>
          <a:lstStyle/>
          <a:p>
            <a:pPr marL="0" indent="0">
              <a:buNone/>
              <a:defRPr/>
            </a:pPr>
            <a:r>
              <a:rPr lang="en-US" sz="1100" b="1">
                <a:solidFill>
                  <a:srgbClr val="1A1A1A"/>
                </a:solidFill>
                <a:latin typeface="Calibri"/>
                <a:ea typeface="Calibri"/>
                <a:cs typeface="Calibri"/>
              </a:rPr>
              <a:t>RViz2</a:t>
            </a:r>
            <a:endParaRPr lang="en-US" sz="1100"/>
          </a:p>
        </p:txBody>
      </p:sp>
      <p:sp>
        <p:nvSpPr>
          <p:cNvPr id="981134802" name="Text 55"/>
          <p:cNvSpPr txBox="1"/>
          <p:nvPr/>
        </p:nvSpPr>
        <p:spPr bwMode="auto">
          <a:xfrm>
            <a:off x="8092440" y="3461004"/>
            <a:ext cx="1856232" cy="493776"/>
          </a:xfrm>
          <a:prstGeom prst="rect">
            <a:avLst/>
          </a:prstGeom>
          <a:noFill/>
          <a:ln/>
        </p:spPr>
        <p:txBody>
          <a:bodyPr wrap="square" lIns="0" tIns="0" rIns="0" bIns="0" rtlCol="0" anchor="t"/>
          <a:lstStyle/>
          <a:p>
            <a:pPr marL="0" indent="0">
              <a:buNone/>
              <a:defRPr/>
            </a:pPr>
            <a:r>
              <a:rPr lang="en-US" sz="1100">
                <a:solidFill>
                  <a:srgbClr val="1A1A1A"/>
                </a:solidFill>
                <a:latin typeface="Calibri"/>
                <a:ea typeface="Calibri"/>
                <a:cs typeface="Calibri"/>
              </a:rPr>
              <a:t>marker and odometry display</a:t>
            </a:r>
            <a:endParaRPr lang="en-US" sz="1100"/>
          </a:p>
        </p:txBody>
      </p:sp>
      <p:sp>
        <p:nvSpPr>
          <p:cNvPr id="538641343" name="Text 56"/>
          <p:cNvSpPr txBox="1"/>
          <p:nvPr/>
        </p:nvSpPr>
        <p:spPr bwMode="auto">
          <a:xfrm>
            <a:off x="10058400" y="3461004"/>
            <a:ext cx="1490472" cy="493776"/>
          </a:xfrm>
          <a:prstGeom prst="rect">
            <a:avLst/>
          </a:prstGeom>
          <a:noFill/>
          <a:ln/>
        </p:spPr>
        <p:txBody>
          <a:bodyPr wrap="square" lIns="0" tIns="0" rIns="0" bIns="0" rtlCol="0" anchor="t"/>
          <a:lstStyle/>
          <a:p>
            <a:pPr marL="0" indent="0">
              <a:buNone/>
              <a:defRPr/>
            </a:pPr>
            <a:r>
              <a:rPr lang="en-US" sz="1100">
                <a:solidFill>
                  <a:srgbClr val="5A6672"/>
                </a:solidFill>
                <a:latin typeface="Calibri"/>
                <a:ea typeface="Calibri"/>
                <a:cs typeface="Calibri"/>
              </a:rPr>
              <a:t>live alert and trajectory view</a:t>
            </a:r>
            <a:endParaRPr lang="en-US" sz="1100"/>
          </a:p>
        </p:txBody>
      </p:sp>
      <p:sp>
        <p:nvSpPr>
          <p:cNvPr id="814612820" name="Shape 57"/>
          <p:cNvSpPr/>
          <p:nvPr/>
        </p:nvSpPr>
        <p:spPr bwMode="auto">
          <a:xfrm>
            <a:off x="6537960" y="3941064"/>
            <a:ext cx="5120640" cy="0"/>
          </a:xfrm>
          <a:prstGeom prst="line">
            <a:avLst/>
          </a:prstGeom>
          <a:noFill/>
          <a:ln w="9525">
            <a:solidFill>
              <a:srgbClr val="C9D2DC"/>
            </a:solidFill>
            <a:prstDash val="solid"/>
          </a:ln>
        </p:spPr>
        <p:txBody>
          <a:bodyPr/>
          <a:p/>
        </p:txBody>
      </p:sp>
      <p:sp>
        <p:nvSpPr>
          <p:cNvPr id="692956123" name="Text 58"/>
          <p:cNvSpPr txBox="1"/>
          <p:nvPr/>
        </p:nvSpPr>
        <p:spPr bwMode="auto">
          <a:xfrm>
            <a:off x="6537960" y="3986784"/>
            <a:ext cx="1444752" cy="493776"/>
          </a:xfrm>
          <a:prstGeom prst="rect">
            <a:avLst/>
          </a:prstGeom>
          <a:noFill/>
          <a:ln/>
        </p:spPr>
        <p:txBody>
          <a:bodyPr wrap="square" lIns="0" tIns="0" rIns="0" bIns="0" rtlCol="0" anchor="t"/>
          <a:lstStyle/>
          <a:p>
            <a:pPr marL="0" indent="0">
              <a:buNone/>
              <a:defRPr/>
            </a:pPr>
            <a:r>
              <a:rPr lang="en-US" sz="1100" b="1">
                <a:solidFill>
                  <a:srgbClr val="1A1A1A"/>
                </a:solidFill>
                <a:latin typeface="Calibri"/>
                <a:ea typeface="Calibri"/>
                <a:cs typeface="Calibri"/>
              </a:rPr>
              <a:t>Python / rclpy</a:t>
            </a:r>
            <a:endParaRPr lang="en-US" sz="1100"/>
          </a:p>
        </p:txBody>
      </p:sp>
      <p:sp>
        <p:nvSpPr>
          <p:cNvPr id="1462153754" name="Text 59"/>
          <p:cNvSpPr txBox="1"/>
          <p:nvPr/>
        </p:nvSpPr>
        <p:spPr bwMode="auto">
          <a:xfrm>
            <a:off x="8092440" y="3986784"/>
            <a:ext cx="1856232" cy="493776"/>
          </a:xfrm>
          <a:prstGeom prst="rect">
            <a:avLst/>
          </a:prstGeom>
          <a:noFill/>
          <a:ln/>
        </p:spPr>
        <p:txBody>
          <a:bodyPr wrap="square" lIns="0" tIns="0" rIns="0" bIns="0" rtlCol="0" anchor="t"/>
          <a:lstStyle/>
          <a:p>
            <a:pPr marL="0" indent="0">
              <a:buNone/>
              <a:defRPr/>
            </a:pPr>
            <a:r>
              <a:rPr lang="en-US" sz="1100">
                <a:solidFill>
                  <a:srgbClr val="1A1A1A"/>
                </a:solidFill>
                <a:latin typeface="Calibri"/>
                <a:ea typeface="Calibri"/>
                <a:cs typeface="Calibri"/>
              </a:rPr>
              <a:t>3.10, stdlib web monitor</a:t>
            </a:r>
            <a:endParaRPr lang="en-US" sz="1100"/>
          </a:p>
        </p:txBody>
      </p:sp>
      <p:sp>
        <p:nvSpPr>
          <p:cNvPr id="1788065574" name="Text 60"/>
          <p:cNvSpPr txBox="1"/>
          <p:nvPr/>
        </p:nvSpPr>
        <p:spPr bwMode="auto">
          <a:xfrm>
            <a:off x="10058400" y="3986784"/>
            <a:ext cx="1490472" cy="493776"/>
          </a:xfrm>
          <a:prstGeom prst="rect">
            <a:avLst/>
          </a:prstGeom>
          <a:noFill/>
          <a:ln/>
        </p:spPr>
        <p:txBody>
          <a:bodyPr wrap="square" lIns="0" tIns="0" rIns="0" bIns="0" rtlCol="0" anchor="t"/>
          <a:lstStyle/>
          <a:p>
            <a:pPr marL="0" indent="0">
              <a:buNone/>
              <a:defRPr/>
            </a:pPr>
            <a:r>
              <a:rPr lang="en-US" sz="1100">
                <a:solidFill>
                  <a:srgbClr val="5A6672"/>
                </a:solidFill>
                <a:latin typeface="Calibri"/>
                <a:ea typeface="Calibri"/>
                <a:cs typeface="Calibri"/>
              </a:rPr>
              <a:t>detector, attack toolkit, safety filter</a:t>
            </a:r>
            <a:endParaRPr lang="en-US" sz="1100"/>
          </a:p>
        </p:txBody>
      </p:sp>
      <p:sp>
        <p:nvSpPr>
          <p:cNvPr id="631968343" name="Shape 61"/>
          <p:cNvSpPr/>
          <p:nvPr/>
        </p:nvSpPr>
        <p:spPr bwMode="auto">
          <a:xfrm>
            <a:off x="6537960" y="4466844"/>
            <a:ext cx="5120640" cy="0"/>
          </a:xfrm>
          <a:prstGeom prst="line">
            <a:avLst/>
          </a:prstGeom>
          <a:noFill/>
          <a:ln w="9525">
            <a:solidFill>
              <a:srgbClr val="C9D2DC"/>
            </a:solidFill>
            <a:prstDash val="solid"/>
          </a:ln>
        </p:spPr>
        <p:txBody>
          <a:bodyPr/>
          <a:p/>
        </p:txBody>
      </p:sp>
      <p:sp>
        <p:nvSpPr>
          <p:cNvPr id="437957898" name="Text 62"/>
          <p:cNvSpPr txBox="1"/>
          <p:nvPr/>
        </p:nvSpPr>
        <p:spPr bwMode="auto">
          <a:xfrm>
            <a:off x="6537960" y="4512564"/>
            <a:ext cx="1444752" cy="493776"/>
          </a:xfrm>
          <a:prstGeom prst="rect">
            <a:avLst/>
          </a:prstGeom>
          <a:noFill/>
          <a:ln/>
        </p:spPr>
        <p:txBody>
          <a:bodyPr wrap="square" lIns="0" tIns="0" rIns="0" bIns="0" rtlCol="0" anchor="t"/>
          <a:lstStyle/>
          <a:p>
            <a:pPr marL="0" indent="0">
              <a:buNone/>
              <a:defRPr/>
            </a:pPr>
            <a:r>
              <a:rPr lang="en-US" sz="1100" b="1">
                <a:solidFill>
                  <a:srgbClr val="1A1A1A"/>
                </a:solidFill>
                <a:latin typeface="Calibri"/>
                <a:ea typeface="Calibri"/>
                <a:cs typeface="Calibri"/>
              </a:rPr>
              <a:t>Wireshark / tshark</a:t>
            </a:r>
            <a:endParaRPr lang="en-US" sz="1100"/>
          </a:p>
        </p:txBody>
      </p:sp>
      <p:sp>
        <p:nvSpPr>
          <p:cNvPr id="1919239591" name="Text 63"/>
          <p:cNvSpPr txBox="1"/>
          <p:nvPr/>
        </p:nvSpPr>
        <p:spPr bwMode="auto">
          <a:xfrm>
            <a:off x="8092440" y="4512564"/>
            <a:ext cx="1856232" cy="493776"/>
          </a:xfrm>
          <a:prstGeom prst="rect">
            <a:avLst/>
          </a:prstGeom>
          <a:noFill/>
          <a:ln/>
        </p:spPr>
        <p:txBody>
          <a:bodyPr wrap="square" lIns="0" tIns="0" rIns="0" bIns="0" rtlCol="0" anchor="t"/>
          <a:lstStyle/>
          <a:p>
            <a:pPr marL="0" indent="0">
              <a:buNone/>
              <a:defRPr/>
            </a:pPr>
            <a:r>
              <a:rPr lang="en-US" sz="1100">
                <a:solidFill>
                  <a:srgbClr val="1A1A1A"/>
                </a:solidFill>
                <a:latin typeface="Calibri"/>
                <a:ea typeface="Calibri"/>
                <a:cs typeface="Calibri"/>
              </a:rPr>
              <a:t>RTPS, UDP 17900-18149</a:t>
            </a:r>
            <a:endParaRPr lang="en-US" sz="1100"/>
          </a:p>
        </p:txBody>
      </p:sp>
      <p:sp>
        <p:nvSpPr>
          <p:cNvPr id="321094024" name="Text 64"/>
          <p:cNvSpPr txBox="1"/>
          <p:nvPr/>
        </p:nvSpPr>
        <p:spPr bwMode="auto">
          <a:xfrm>
            <a:off x="10058400" y="4512564"/>
            <a:ext cx="1490472" cy="493776"/>
          </a:xfrm>
          <a:prstGeom prst="rect">
            <a:avLst/>
          </a:prstGeom>
          <a:noFill/>
          <a:ln/>
        </p:spPr>
        <p:txBody>
          <a:bodyPr wrap="square" lIns="0" tIns="0" rIns="0" bIns="0" rtlCol="0" anchor="t"/>
          <a:lstStyle/>
          <a:p>
            <a:pPr marL="0" indent="0">
              <a:buNone/>
              <a:defRPr/>
            </a:pPr>
            <a:r>
              <a:rPr lang="en-US" sz="1100">
                <a:solidFill>
                  <a:srgbClr val="5A6672"/>
                </a:solidFill>
                <a:latin typeface="Calibri"/>
                <a:ea typeface="Calibri"/>
                <a:cs typeface="Calibri"/>
              </a:rPr>
              <a:t>DDS traffic capture</a:t>
            </a:r>
            <a:endParaRPr lang="en-US" sz="1100"/>
          </a:p>
        </p:txBody>
      </p:sp>
      <p:sp>
        <p:nvSpPr>
          <p:cNvPr id="1917134045" name="Shape 65"/>
          <p:cNvSpPr/>
          <p:nvPr/>
        </p:nvSpPr>
        <p:spPr bwMode="auto">
          <a:xfrm>
            <a:off x="6537960" y="4992624"/>
            <a:ext cx="5120640" cy="0"/>
          </a:xfrm>
          <a:prstGeom prst="line">
            <a:avLst/>
          </a:prstGeom>
          <a:noFill/>
          <a:ln w="9525">
            <a:solidFill>
              <a:srgbClr val="C9D2DC"/>
            </a:solidFill>
            <a:prstDash val="solid"/>
          </a:ln>
        </p:spPr>
        <p:txBody>
          <a:bodyPr/>
          <a:p/>
        </p:txBody>
      </p:sp>
      <p:sp>
        <p:nvSpPr>
          <p:cNvPr id="2145446396" name="Text 66"/>
          <p:cNvSpPr txBox="1"/>
          <p:nvPr/>
        </p:nvSpPr>
        <p:spPr bwMode="auto">
          <a:xfrm>
            <a:off x="6537960" y="5038344"/>
            <a:ext cx="1444752" cy="493776"/>
          </a:xfrm>
          <a:prstGeom prst="rect">
            <a:avLst/>
          </a:prstGeom>
          <a:noFill/>
          <a:ln/>
        </p:spPr>
        <p:txBody>
          <a:bodyPr wrap="square" lIns="0" tIns="0" rIns="0" bIns="0" rtlCol="0" anchor="t"/>
          <a:lstStyle/>
          <a:p>
            <a:pPr marL="0" indent="0">
              <a:buNone/>
              <a:defRPr/>
            </a:pPr>
            <a:r>
              <a:rPr lang="en-US" sz="1100" b="1">
                <a:solidFill>
                  <a:srgbClr val="1A1A1A"/>
                </a:solidFill>
                <a:latin typeface="Calibri"/>
                <a:ea typeface="Calibri"/>
                <a:cs typeface="Calibri"/>
              </a:rPr>
              <a:t>NumPy / Matplotlib</a:t>
            </a:r>
            <a:endParaRPr lang="en-US" sz="1100"/>
          </a:p>
        </p:txBody>
      </p:sp>
      <p:sp>
        <p:nvSpPr>
          <p:cNvPr id="1190885329" name="Text 67"/>
          <p:cNvSpPr txBox="1"/>
          <p:nvPr/>
        </p:nvSpPr>
        <p:spPr bwMode="auto">
          <a:xfrm>
            <a:off x="8092440" y="5038344"/>
            <a:ext cx="1856232" cy="493776"/>
          </a:xfrm>
          <a:prstGeom prst="rect">
            <a:avLst/>
          </a:prstGeom>
          <a:noFill/>
          <a:ln/>
        </p:spPr>
        <p:txBody>
          <a:bodyPr wrap="square" lIns="0" tIns="0" rIns="0" bIns="0" rtlCol="0" anchor="t"/>
          <a:lstStyle/>
          <a:p>
            <a:pPr marL="0" indent="0">
              <a:buNone/>
              <a:defRPr/>
            </a:pPr>
            <a:r>
              <a:rPr lang="en-US" sz="1100">
                <a:solidFill>
                  <a:srgbClr val="1A1A1A"/>
                </a:solidFill>
                <a:latin typeface="Calibri"/>
                <a:ea typeface="Calibri"/>
                <a:cs typeface="Calibri"/>
              </a:rPr>
              <a:t>offline analysis</a:t>
            </a:r>
            <a:endParaRPr lang="en-US" sz="1100"/>
          </a:p>
        </p:txBody>
      </p:sp>
      <p:sp>
        <p:nvSpPr>
          <p:cNvPr id="1212687072" name="Text 68"/>
          <p:cNvSpPr txBox="1"/>
          <p:nvPr/>
        </p:nvSpPr>
        <p:spPr bwMode="auto">
          <a:xfrm>
            <a:off x="10058400" y="5038344"/>
            <a:ext cx="1490472" cy="493776"/>
          </a:xfrm>
          <a:prstGeom prst="rect">
            <a:avLst/>
          </a:prstGeom>
          <a:noFill/>
          <a:ln/>
        </p:spPr>
        <p:txBody>
          <a:bodyPr wrap="square" lIns="0" tIns="0" rIns="0" bIns="0" rtlCol="0" anchor="t"/>
          <a:lstStyle/>
          <a:p>
            <a:pPr marL="0" indent="0">
              <a:buNone/>
              <a:defRPr/>
            </a:pPr>
            <a:r>
              <a:rPr lang="en-US" sz="1100">
                <a:solidFill>
                  <a:srgbClr val="5A6672"/>
                </a:solidFill>
                <a:latin typeface="Calibri"/>
                <a:ea typeface="Calibri"/>
                <a:cs typeface="Calibri"/>
              </a:rPr>
              <a:t>evaluation and figure generation</a:t>
            </a:r>
            <a:endParaRPr lang="en-US" sz="1100"/>
          </a:p>
        </p:txBody>
      </p:sp>
      <p:sp>
        <p:nvSpPr>
          <p:cNvPr id="789103654" name="Shape 69"/>
          <p:cNvSpPr/>
          <p:nvPr/>
        </p:nvSpPr>
        <p:spPr bwMode="auto">
          <a:xfrm>
            <a:off x="6537960" y="5518404"/>
            <a:ext cx="5120640" cy="0"/>
          </a:xfrm>
          <a:prstGeom prst="line">
            <a:avLst/>
          </a:prstGeom>
          <a:noFill/>
          <a:ln w="9525">
            <a:solidFill>
              <a:srgbClr val="C9D2DC"/>
            </a:solidFill>
            <a:prstDash val="solid"/>
          </a:ln>
        </p:spPr>
        <p:txBody>
          <a:bodyPr/>
          <a:p/>
        </p:txBody>
      </p:sp>
      <p:sp>
        <p:nvSpPr>
          <p:cNvPr id="770566115" name="Text 70"/>
          <p:cNvSpPr txBox="1"/>
          <p:nvPr/>
        </p:nvSpPr>
        <p:spPr bwMode="auto">
          <a:xfrm>
            <a:off x="6537960" y="5591556"/>
            <a:ext cx="5120640" cy="365760"/>
          </a:xfrm>
          <a:prstGeom prst="rect">
            <a:avLst/>
          </a:prstGeom>
          <a:noFill/>
          <a:ln/>
        </p:spPr>
        <p:txBody>
          <a:bodyPr wrap="square" lIns="0" tIns="0" rIns="0" bIns="0" rtlCol="0" anchor="ctr"/>
          <a:lstStyle/>
          <a:p>
            <a:pPr marL="0" indent="0">
              <a:buNone/>
              <a:defRPr/>
            </a:pPr>
            <a:r>
              <a:rPr lang="en-US" sz="950" i="1">
                <a:solidFill>
                  <a:srgbClr val="5A6672"/>
                </a:solidFill>
                <a:latin typeface="Calibri"/>
                <a:ea typeface="Calibri"/>
                <a:cs typeface="Calibri"/>
              </a:rPr>
              <a:t>All software is open-source; no fabrication or specialised RF equipment is required.</a:t>
            </a:r>
            <a:endParaRPr lang="en-US" sz="950"/>
          </a:p>
        </p:txBody>
      </p:sp>
      <p:sp>
        <p:nvSpPr>
          <p:cNvPr id="1307174425" name="Shape 71"/>
          <p:cNvSpPr/>
          <p:nvPr/>
        </p:nvSpPr>
        <p:spPr bwMode="auto">
          <a:xfrm>
            <a:off x="502920" y="6089904"/>
            <a:ext cx="11155680" cy="384048"/>
          </a:xfrm>
          <a:prstGeom prst="roundRect">
            <a:avLst>
              <a:gd name="adj" fmla="val 7143"/>
            </a:avLst>
          </a:prstGeom>
          <a:solidFill>
            <a:srgbClr val="FFFFFF"/>
          </a:solidFill>
          <a:ln w="12700">
            <a:solidFill>
              <a:srgbClr val="14509B"/>
            </a:solidFill>
            <a:prstDash val="solid"/>
          </a:ln>
        </p:spPr>
        <p:txBody>
          <a:bodyPr/>
          <a:p/>
        </p:txBody>
      </p:sp>
      <p:sp>
        <p:nvSpPr>
          <p:cNvPr id="1334078271" name="Text 72"/>
          <p:cNvSpPr txBox="1"/>
          <p:nvPr/>
        </p:nvSpPr>
        <p:spPr bwMode="auto">
          <a:xfrm>
            <a:off x="731520" y="6163056"/>
            <a:ext cx="10698480" cy="256032"/>
          </a:xfrm>
          <a:prstGeom prst="rect">
            <a:avLst/>
          </a:prstGeom>
          <a:noFill/>
          <a:ln/>
        </p:spPr>
        <p:txBody>
          <a:bodyPr wrap="square" lIns="0" tIns="0" rIns="0" bIns="0" rtlCol="0" anchor="ctr"/>
          <a:lstStyle/>
          <a:p>
            <a:pPr marL="0" indent="0">
              <a:buNone/>
              <a:defRPr/>
            </a:pPr>
            <a:r>
              <a:rPr lang="en-US" sz="1100" b="1">
                <a:solidFill>
                  <a:srgbClr val="14509B"/>
                </a:solidFill>
                <a:latin typeface="Calibri"/>
                <a:ea typeface="Calibri"/>
                <a:cs typeface="Calibri"/>
              </a:rPr>
              <a:t>Scope:  </a:t>
            </a:r>
            <a:r>
              <a:rPr lang="en-US" sz="1100">
                <a:solidFill>
                  <a:srgbClr val="1A1A1A"/>
                </a:solidFill>
                <a:latin typeface="Calibri"/>
                <a:ea typeface="Calibri"/>
                <a:cs typeface="Calibri"/>
              </a:rPr>
              <a:t>all attacks are executed only against the author's own robot on an isolated laboratory DDS domain with a dedicated ROS_DOMAIN_ID.</a:t>
            </a:r>
            <a:endParaRPr lang="en-US" sz="1100"/>
          </a:p>
        </p:txBody>
      </p:sp>
      <p:sp>
        <p:nvSpPr>
          <p:cNvPr id="1967353305" name="Text 73"/>
          <p:cNvSpPr txBox="1"/>
          <p:nvPr/>
        </p:nvSpPr>
        <p:spPr bwMode="auto">
          <a:xfrm>
            <a:off x="502920" y="6419088"/>
            <a:ext cx="7315200" cy="256032"/>
          </a:xfrm>
          <a:prstGeom prst="rect">
            <a:avLst/>
          </a:prstGeom>
          <a:noFill/>
          <a:ln/>
        </p:spPr>
        <p:txBody>
          <a:bodyPr wrap="square" lIns="0" tIns="0" rIns="0" bIns="0" rtlCol="0" anchor="ctr"/>
          <a:lstStyle/>
          <a:p>
            <a:pPr marL="0" indent="0">
              <a:buNone/>
              <a:defRPr/>
            </a:pPr>
            <a:r>
              <a:rPr lang="en-US" sz="900">
                <a:solidFill>
                  <a:srgbClr val="5A6672"/>
                </a:solidFill>
                <a:latin typeface="Calibri"/>
                <a:ea typeface="Calibri"/>
                <a:cs typeface="Calibri"/>
              </a:rPr>
              <a:t>21ECC402P  |  Shyam Rithin S  |  RA2311004010308</a:t>
            </a:r>
            <a:endParaRPr lang="en-US" sz="900"/>
          </a:p>
        </p:txBody>
      </p:sp>
      <p:sp>
        <p:nvSpPr>
          <p:cNvPr id="973758091" name="Text 74"/>
          <p:cNvSpPr txBox="1"/>
          <p:nvPr/>
        </p:nvSpPr>
        <p:spPr bwMode="auto">
          <a:xfrm>
            <a:off x="11247120" y="6419088"/>
            <a:ext cx="457200" cy="256032"/>
          </a:xfrm>
          <a:prstGeom prst="rect">
            <a:avLst/>
          </a:prstGeom>
          <a:noFill/>
          <a:ln/>
        </p:spPr>
        <p:txBody>
          <a:bodyPr wrap="square" lIns="0" tIns="0" rIns="0" bIns="0" rtlCol="0" anchor="ctr"/>
          <a:lstStyle/>
          <a:p>
            <a:pPr marL="0" indent="0" algn="r">
              <a:buNone/>
              <a:defRPr/>
            </a:pPr>
            <a:r>
              <a:rPr lang="en-US" sz="900">
                <a:solidFill>
                  <a:srgbClr val="5A6672"/>
                </a:solidFill>
                <a:latin typeface="Calibri"/>
                <a:ea typeface="Calibri"/>
                <a:cs typeface="Calibri"/>
              </a:rPr>
              <a:t>12</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3">
    <p:bg>
      <p:bgPr shadeToTitle="0">
        <a:solidFill>
          <a:srgbClr val="FFFFFF"/>
        </a:solidFill>
      </p:bgPr>
    </p:bg>
    <p:spTree>
      <p:nvGrpSpPr>
        <p:cNvPr id="1" name=""/>
        <p:cNvGrpSpPr/>
        <p:nvPr/>
      </p:nvGrpSpPr>
      <p:grpSpPr bwMode="auto">
        <a:xfrm>
          <a:off x="0" y="0"/>
          <a:ext cx="0" cy="0"/>
          <a:chOff x="0" y="0"/>
          <a:chExt cx="0" cy="0"/>
        </a:xfrm>
      </p:grpSpPr>
      <p:pic>
        <p:nvPicPr>
          <p:cNvPr id="1044779519" name="Image 0" descr="/home/claude/deck/srm_logo.png"/>
          <p:cNvPicPr>
            <a:picLocks noChangeAspect="1"/>
          </p:cNvPicPr>
          <p:nvPr/>
        </p:nvPicPr>
        <p:blipFill rotWithShape="1">
          <a:blip r:embed="rId3"/>
          <a:stretch/>
        </p:blipFill>
        <p:spPr bwMode="auto">
          <a:xfrm>
            <a:off x="10195560" y="256032"/>
            <a:ext cx="1572768" cy="530352"/>
          </a:xfrm>
          <a:prstGeom prst="rect">
            <a:avLst/>
          </a:prstGeom>
        </p:spPr>
      </p:pic>
      <p:sp>
        <p:nvSpPr>
          <p:cNvPr id="642422859" name="Text 0"/>
          <p:cNvSpPr txBox="1"/>
          <p:nvPr/>
        </p:nvSpPr>
        <p:spPr bwMode="auto">
          <a:xfrm>
            <a:off x="502920" y="274320"/>
            <a:ext cx="9418320" cy="475488"/>
          </a:xfrm>
          <a:prstGeom prst="rect">
            <a:avLst/>
          </a:prstGeom>
          <a:noFill/>
          <a:ln/>
        </p:spPr>
        <p:txBody>
          <a:bodyPr wrap="square" lIns="0" tIns="0" rIns="0" bIns="0" rtlCol="0" anchor="ctr"/>
          <a:lstStyle/>
          <a:p>
            <a:pPr marL="0" indent="0" algn="l">
              <a:buNone/>
              <a:defRPr/>
            </a:pPr>
            <a:r>
              <a:rPr lang="en-US" sz="2700" b="1">
                <a:solidFill>
                  <a:srgbClr val="14509B"/>
                </a:solidFill>
                <a:latin typeface="Cambria"/>
                <a:ea typeface="Cambria"/>
                <a:cs typeface="Cambria"/>
              </a:rPr>
              <a:t>Results  -  Phase 1</a:t>
            </a:r>
            <a:endParaRPr lang="en-US" sz="2700"/>
          </a:p>
        </p:txBody>
      </p:sp>
      <p:sp>
        <p:nvSpPr>
          <p:cNvPr id="1319243731" name="Text 1"/>
          <p:cNvSpPr txBox="1"/>
          <p:nvPr/>
        </p:nvSpPr>
        <p:spPr bwMode="auto">
          <a:xfrm>
            <a:off x="502920" y="749808"/>
            <a:ext cx="9418320" cy="292608"/>
          </a:xfrm>
          <a:prstGeom prst="rect">
            <a:avLst/>
          </a:prstGeom>
          <a:noFill/>
          <a:ln/>
        </p:spPr>
        <p:txBody>
          <a:bodyPr wrap="square" lIns="0" tIns="0" rIns="0" bIns="0" rtlCol="0" anchor="ctr"/>
          <a:lstStyle/>
          <a:p>
            <a:pPr marL="0" indent="0" algn="l">
              <a:buNone/>
              <a:defRPr/>
            </a:pPr>
            <a:r>
              <a:rPr lang="en-US" sz="1300">
                <a:solidFill>
                  <a:srgbClr val="5A6672"/>
                </a:solidFill>
                <a:latin typeface="Calibri"/>
                <a:ea typeface="Calibri"/>
                <a:cs typeface="Calibri"/>
              </a:rPr>
              <a:t>Threshold calibrated from benign data; stealthy attack detected in under 2 seconds</a:t>
            </a:r>
            <a:endParaRPr lang="en-US" sz="1300"/>
          </a:p>
        </p:txBody>
      </p:sp>
      <p:pic>
        <p:nvPicPr>
          <p:cNvPr id="1016152575" name="Image 1" descr="/home/claude/deck/fig1_calibration.png"/>
          <p:cNvPicPr>
            <a:picLocks noChangeAspect="1"/>
          </p:cNvPicPr>
          <p:nvPr/>
        </p:nvPicPr>
        <p:blipFill rotWithShape="1">
          <a:blip r:embed="rId4"/>
          <a:stretch/>
        </p:blipFill>
        <p:spPr bwMode="auto">
          <a:xfrm>
            <a:off x="502920" y="1188720"/>
            <a:ext cx="5074920" cy="2779776"/>
          </a:xfrm>
          <a:prstGeom prst="rect">
            <a:avLst/>
          </a:prstGeom>
        </p:spPr>
      </p:pic>
      <p:sp>
        <p:nvSpPr>
          <p:cNvPr id="549667004" name="Text 2"/>
          <p:cNvSpPr txBox="1"/>
          <p:nvPr/>
        </p:nvSpPr>
        <p:spPr bwMode="auto">
          <a:xfrm>
            <a:off x="502920" y="4005072"/>
            <a:ext cx="5074920" cy="384048"/>
          </a:xfrm>
          <a:prstGeom prst="rect">
            <a:avLst/>
          </a:prstGeom>
          <a:noFill/>
          <a:ln/>
        </p:spPr>
        <p:txBody>
          <a:bodyPr wrap="square" lIns="0" tIns="0" rIns="0" bIns="0" rtlCol="0" anchor="ctr"/>
          <a:lstStyle/>
          <a:p>
            <a:pPr marL="0" indent="0">
              <a:buNone/>
              <a:defRPr/>
            </a:pPr>
            <a:r>
              <a:rPr lang="en-US" sz="1000" i="1">
                <a:solidFill>
                  <a:srgbClr val="5A6672"/>
                </a:solidFill>
                <a:latin typeface="Calibri"/>
                <a:ea typeface="Calibri"/>
                <a:cs typeface="Calibri"/>
              </a:rPr>
              <a:t>Fig. 4  -  Residual distribution under benign operation. The threshold is derived from this data, never from attack data.</a:t>
            </a:r>
            <a:endParaRPr lang="en-US" sz="1000"/>
          </a:p>
        </p:txBody>
      </p:sp>
      <p:pic>
        <p:nvPicPr>
          <p:cNvPr id="164526477" name="Image 2" descr="/home/claude/deck/fig2_timeseries.png"/>
          <p:cNvPicPr>
            <a:picLocks noChangeAspect="1"/>
          </p:cNvPicPr>
          <p:nvPr/>
        </p:nvPicPr>
        <p:blipFill rotWithShape="1">
          <a:blip r:embed="rId5"/>
          <a:stretch/>
        </p:blipFill>
        <p:spPr bwMode="auto">
          <a:xfrm>
            <a:off x="5989320" y="1188720"/>
            <a:ext cx="5669280" cy="3529584"/>
          </a:xfrm>
          <a:prstGeom prst="rect">
            <a:avLst/>
          </a:prstGeom>
        </p:spPr>
      </p:pic>
      <p:sp>
        <p:nvSpPr>
          <p:cNvPr id="1018236062" name="Text 3"/>
          <p:cNvSpPr txBox="1"/>
          <p:nvPr/>
        </p:nvSpPr>
        <p:spPr bwMode="auto">
          <a:xfrm>
            <a:off x="6263640" y="4773168"/>
            <a:ext cx="5394960" cy="384048"/>
          </a:xfrm>
          <a:prstGeom prst="rect">
            <a:avLst/>
          </a:prstGeom>
          <a:noFill/>
          <a:ln/>
        </p:spPr>
        <p:txBody>
          <a:bodyPr wrap="square" lIns="0" tIns="0" rIns="0" bIns="0" rtlCol="0" anchor="ctr"/>
          <a:lstStyle/>
          <a:p>
            <a:pPr marL="0" indent="0">
              <a:buNone/>
              <a:defRPr/>
            </a:pPr>
            <a:r>
              <a:rPr lang="en-US" sz="1000" i="1">
                <a:solidFill>
                  <a:srgbClr val="5A6672"/>
                </a:solidFill>
                <a:latin typeface="Calibri"/>
                <a:ea typeface="Calibri"/>
                <a:cs typeface="Calibri"/>
              </a:rPr>
              <a:t>Fig. 5  -  Residual and CUSUM through a benign - attack - benign session. Shaded band is the attack window.</a:t>
            </a:r>
            <a:endParaRPr lang="en-US" sz="1000"/>
          </a:p>
        </p:txBody>
      </p:sp>
      <p:sp>
        <p:nvSpPr>
          <p:cNvPr id="454633733" name="Shape 4"/>
          <p:cNvSpPr/>
          <p:nvPr/>
        </p:nvSpPr>
        <p:spPr bwMode="auto">
          <a:xfrm>
            <a:off x="502920" y="4462272"/>
            <a:ext cx="1755648" cy="1417320"/>
          </a:xfrm>
          <a:prstGeom prst="roundRect">
            <a:avLst>
              <a:gd name="adj" fmla="val 2581"/>
            </a:avLst>
          </a:prstGeom>
          <a:solidFill>
            <a:srgbClr val="EEF3F8"/>
          </a:solidFill>
          <a:ln w="12700">
            <a:solidFill>
              <a:srgbClr val="C9D2DC"/>
            </a:solidFill>
            <a:prstDash val="solid"/>
          </a:ln>
        </p:spPr>
      </p:sp>
      <p:sp>
        <p:nvSpPr>
          <p:cNvPr id="120680768" name="Text 5"/>
          <p:cNvSpPr txBox="1"/>
          <p:nvPr/>
        </p:nvSpPr>
        <p:spPr bwMode="auto">
          <a:xfrm>
            <a:off x="502920" y="4553712"/>
            <a:ext cx="1755648" cy="502920"/>
          </a:xfrm>
          <a:prstGeom prst="rect">
            <a:avLst/>
          </a:prstGeom>
          <a:noFill/>
          <a:ln/>
        </p:spPr>
        <p:txBody>
          <a:bodyPr wrap="square" lIns="0" tIns="0" rIns="0" bIns="0" rtlCol="0" anchor="ctr"/>
          <a:lstStyle/>
          <a:p>
            <a:pPr marL="0" indent="0" algn="ctr">
              <a:buNone/>
              <a:defRPr/>
            </a:pPr>
            <a:r>
              <a:rPr lang="en-US" sz="2600" b="1">
                <a:solidFill>
                  <a:srgbClr val="14509B"/>
                </a:solidFill>
                <a:latin typeface="Cambria"/>
                <a:ea typeface="Cambria"/>
                <a:cs typeface="Cambria"/>
              </a:rPr>
              <a:t>0.024</a:t>
            </a:r>
            <a:endParaRPr lang="en-US" sz="2600"/>
          </a:p>
        </p:txBody>
      </p:sp>
      <p:sp>
        <p:nvSpPr>
          <p:cNvPr id="44060627" name="Text 6"/>
          <p:cNvSpPr txBox="1"/>
          <p:nvPr/>
        </p:nvSpPr>
        <p:spPr bwMode="auto">
          <a:xfrm>
            <a:off x="576072" y="5065776"/>
            <a:ext cx="1609344" cy="256032"/>
          </a:xfrm>
          <a:prstGeom prst="rect">
            <a:avLst/>
          </a:prstGeom>
          <a:noFill/>
          <a:ln/>
        </p:spPr>
        <p:txBody>
          <a:bodyPr wrap="square" lIns="0" tIns="0" rIns="0" bIns="0" rtlCol="0" anchor="ctr"/>
          <a:lstStyle/>
          <a:p>
            <a:pPr marL="0" indent="0" algn="ctr">
              <a:buNone/>
              <a:defRPr/>
            </a:pPr>
            <a:r>
              <a:rPr lang="en-US" sz="1150" b="1">
                <a:solidFill>
                  <a:srgbClr val="1A1A1A"/>
                </a:solidFill>
                <a:latin typeface="Calibri"/>
                <a:ea typeface="Calibri"/>
                <a:cs typeface="Calibri"/>
              </a:rPr>
              <a:t>calibrated threshold</a:t>
            </a:r>
            <a:endParaRPr lang="en-US" sz="1150"/>
          </a:p>
        </p:txBody>
      </p:sp>
      <p:sp>
        <p:nvSpPr>
          <p:cNvPr id="148877104" name="Text 7"/>
          <p:cNvSpPr txBox="1"/>
          <p:nvPr/>
        </p:nvSpPr>
        <p:spPr bwMode="auto">
          <a:xfrm>
            <a:off x="576072" y="5321808"/>
            <a:ext cx="1609344" cy="475488"/>
          </a:xfrm>
          <a:prstGeom prst="rect">
            <a:avLst/>
          </a:prstGeom>
          <a:noFill/>
          <a:ln/>
        </p:spPr>
        <p:txBody>
          <a:bodyPr wrap="square" lIns="0" tIns="0" rIns="0" bIns="0" rtlCol="0" anchor="ctr"/>
          <a:lstStyle/>
          <a:p>
            <a:pPr marL="0" indent="0" algn="ctr">
              <a:buNone/>
              <a:defRPr/>
            </a:pPr>
            <a:r>
              <a:rPr lang="en-US" sz="1000">
                <a:solidFill>
                  <a:srgbClr val="5A6672"/>
                </a:solidFill>
                <a:latin typeface="Calibri"/>
                <a:ea typeface="Calibri"/>
                <a:cs typeface="Calibri"/>
              </a:rPr>
              <a:t>mean + 3 sigma, benign data only</a:t>
            </a:r>
            <a:endParaRPr lang="en-US" sz="1000"/>
          </a:p>
        </p:txBody>
      </p:sp>
      <p:sp>
        <p:nvSpPr>
          <p:cNvPr id="1096130438" name="Shape 8"/>
          <p:cNvSpPr/>
          <p:nvPr/>
        </p:nvSpPr>
        <p:spPr bwMode="auto">
          <a:xfrm>
            <a:off x="2404872" y="4462272"/>
            <a:ext cx="1755648" cy="1417320"/>
          </a:xfrm>
          <a:prstGeom prst="roundRect">
            <a:avLst>
              <a:gd name="adj" fmla="val 2581"/>
            </a:avLst>
          </a:prstGeom>
          <a:solidFill>
            <a:srgbClr val="EEF3F8"/>
          </a:solidFill>
          <a:ln w="12700">
            <a:solidFill>
              <a:srgbClr val="C9D2DC"/>
            </a:solidFill>
            <a:prstDash val="solid"/>
          </a:ln>
        </p:spPr>
      </p:sp>
      <p:sp>
        <p:nvSpPr>
          <p:cNvPr id="896444152" name="Text 9"/>
          <p:cNvSpPr txBox="1"/>
          <p:nvPr/>
        </p:nvSpPr>
        <p:spPr bwMode="auto">
          <a:xfrm>
            <a:off x="2404872" y="4553712"/>
            <a:ext cx="1755648" cy="502920"/>
          </a:xfrm>
          <a:prstGeom prst="rect">
            <a:avLst/>
          </a:prstGeom>
          <a:noFill/>
          <a:ln/>
        </p:spPr>
        <p:txBody>
          <a:bodyPr wrap="square" lIns="0" tIns="0" rIns="0" bIns="0" rtlCol="0" anchor="ctr"/>
          <a:lstStyle/>
          <a:p>
            <a:pPr marL="0" indent="0" algn="ctr">
              <a:buNone/>
              <a:defRPr/>
            </a:pPr>
            <a:r>
              <a:rPr lang="en-US" sz="2600" b="1">
                <a:solidFill>
                  <a:srgbClr val="14509B"/>
                </a:solidFill>
                <a:latin typeface="Cambria"/>
                <a:ea typeface="Cambria"/>
                <a:cs typeface="Cambria"/>
              </a:rPr>
              <a:t>0 / 10</a:t>
            </a:r>
            <a:endParaRPr lang="en-US" sz="2600"/>
          </a:p>
        </p:txBody>
      </p:sp>
      <p:sp>
        <p:nvSpPr>
          <p:cNvPr id="389466218" name="Text 10"/>
          <p:cNvSpPr txBox="1"/>
          <p:nvPr/>
        </p:nvSpPr>
        <p:spPr bwMode="auto">
          <a:xfrm>
            <a:off x="2478024" y="5065776"/>
            <a:ext cx="1609344" cy="256032"/>
          </a:xfrm>
          <a:prstGeom prst="rect">
            <a:avLst/>
          </a:prstGeom>
          <a:noFill/>
          <a:ln/>
        </p:spPr>
        <p:txBody>
          <a:bodyPr wrap="square" lIns="0" tIns="0" rIns="0" bIns="0" rtlCol="0" anchor="ctr"/>
          <a:lstStyle/>
          <a:p>
            <a:pPr marL="0" indent="0" algn="ctr">
              <a:buNone/>
              <a:defRPr/>
            </a:pPr>
            <a:r>
              <a:rPr lang="en-US" sz="1150" b="1">
                <a:solidFill>
                  <a:srgbClr val="1A1A1A"/>
                </a:solidFill>
                <a:latin typeface="Calibri"/>
                <a:ea typeface="Calibri"/>
                <a:cs typeface="Calibri"/>
              </a:rPr>
              <a:t>false alarms</a:t>
            </a:r>
            <a:endParaRPr lang="en-US" sz="1150"/>
          </a:p>
        </p:txBody>
      </p:sp>
      <p:sp>
        <p:nvSpPr>
          <p:cNvPr id="44334498" name="Text 11"/>
          <p:cNvSpPr txBox="1"/>
          <p:nvPr/>
        </p:nvSpPr>
        <p:spPr bwMode="auto">
          <a:xfrm>
            <a:off x="2478024" y="5321808"/>
            <a:ext cx="1609344" cy="475488"/>
          </a:xfrm>
          <a:prstGeom prst="rect">
            <a:avLst/>
          </a:prstGeom>
          <a:noFill/>
          <a:ln/>
        </p:spPr>
        <p:txBody>
          <a:bodyPr wrap="square" lIns="0" tIns="0" rIns="0" bIns="0" rtlCol="0" anchor="ctr"/>
          <a:lstStyle/>
          <a:p>
            <a:pPr marL="0" indent="0" algn="ctr">
              <a:buNone/>
              <a:defRPr/>
            </a:pPr>
            <a:r>
              <a:rPr lang="en-US" sz="1000">
                <a:solidFill>
                  <a:srgbClr val="5A6672"/>
                </a:solidFill>
                <a:latin typeface="Calibri"/>
                <a:ea typeface="Calibri"/>
                <a:cs typeface="Calibri"/>
              </a:rPr>
              <a:t>benign sessions of 60 s</a:t>
            </a:r>
            <a:endParaRPr lang="en-US" sz="1000"/>
          </a:p>
        </p:txBody>
      </p:sp>
      <p:sp>
        <p:nvSpPr>
          <p:cNvPr id="447170344" name="Shape 12"/>
          <p:cNvSpPr/>
          <p:nvPr/>
        </p:nvSpPr>
        <p:spPr bwMode="auto">
          <a:xfrm>
            <a:off x="4306824" y="4462272"/>
            <a:ext cx="1755648" cy="1417320"/>
          </a:xfrm>
          <a:prstGeom prst="roundRect">
            <a:avLst>
              <a:gd name="adj" fmla="val 2581"/>
            </a:avLst>
          </a:prstGeom>
          <a:solidFill>
            <a:srgbClr val="EEF3F8"/>
          </a:solidFill>
          <a:ln w="12700">
            <a:solidFill>
              <a:srgbClr val="C9D2DC"/>
            </a:solidFill>
            <a:prstDash val="solid"/>
          </a:ln>
        </p:spPr>
      </p:sp>
      <p:sp>
        <p:nvSpPr>
          <p:cNvPr id="1988437763" name="Text 13"/>
          <p:cNvSpPr txBox="1"/>
          <p:nvPr/>
        </p:nvSpPr>
        <p:spPr bwMode="auto">
          <a:xfrm>
            <a:off x="4306824" y="4553712"/>
            <a:ext cx="1755648" cy="502920"/>
          </a:xfrm>
          <a:prstGeom prst="rect">
            <a:avLst/>
          </a:prstGeom>
          <a:noFill/>
          <a:ln/>
        </p:spPr>
        <p:txBody>
          <a:bodyPr wrap="square" lIns="0" tIns="0" rIns="0" bIns="0" rtlCol="0" anchor="ctr"/>
          <a:lstStyle/>
          <a:p>
            <a:pPr marL="0" indent="0" algn="ctr">
              <a:buNone/>
              <a:defRPr/>
            </a:pPr>
            <a:r>
              <a:rPr lang="en-US" sz="2600" b="1">
                <a:solidFill>
                  <a:srgbClr val="14509B"/>
                </a:solidFill>
                <a:latin typeface="Cambria"/>
                <a:ea typeface="Cambria"/>
                <a:cs typeface="Cambria"/>
              </a:rPr>
              <a:t>1.95 s</a:t>
            </a:r>
            <a:endParaRPr lang="en-US" sz="2600"/>
          </a:p>
        </p:txBody>
      </p:sp>
      <p:sp>
        <p:nvSpPr>
          <p:cNvPr id="120667724" name="Text 14"/>
          <p:cNvSpPr txBox="1"/>
          <p:nvPr/>
        </p:nvSpPr>
        <p:spPr bwMode="auto">
          <a:xfrm>
            <a:off x="4379976" y="5065776"/>
            <a:ext cx="1609344" cy="256032"/>
          </a:xfrm>
          <a:prstGeom prst="rect">
            <a:avLst/>
          </a:prstGeom>
          <a:noFill/>
          <a:ln/>
        </p:spPr>
        <p:txBody>
          <a:bodyPr wrap="square" lIns="0" tIns="0" rIns="0" bIns="0" rtlCol="0" anchor="ctr"/>
          <a:lstStyle/>
          <a:p>
            <a:pPr marL="0" indent="0" algn="ctr">
              <a:buNone/>
              <a:defRPr/>
            </a:pPr>
            <a:r>
              <a:rPr lang="en-US" sz="1150" b="1">
                <a:solidFill>
                  <a:srgbClr val="1A1A1A"/>
                </a:solidFill>
                <a:latin typeface="Calibri"/>
                <a:ea typeface="Calibri"/>
                <a:cs typeface="Calibri"/>
              </a:rPr>
              <a:t>detection latency</a:t>
            </a:r>
            <a:endParaRPr lang="en-US" sz="1150"/>
          </a:p>
        </p:txBody>
      </p:sp>
      <p:sp>
        <p:nvSpPr>
          <p:cNvPr id="51691296" name="Text 15"/>
          <p:cNvSpPr txBox="1"/>
          <p:nvPr/>
        </p:nvSpPr>
        <p:spPr bwMode="auto">
          <a:xfrm>
            <a:off x="4379976" y="5321808"/>
            <a:ext cx="1609344" cy="475488"/>
          </a:xfrm>
          <a:prstGeom prst="rect">
            <a:avLst/>
          </a:prstGeom>
          <a:noFill/>
          <a:ln/>
        </p:spPr>
        <p:txBody>
          <a:bodyPr wrap="square" lIns="0" tIns="0" rIns="0" bIns="0" rtlCol="0" anchor="ctr"/>
          <a:lstStyle/>
          <a:p>
            <a:pPr marL="0" indent="0" algn="ctr">
              <a:buNone/>
              <a:defRPr/>
            </a:pPr>
            <a:r>
              <a:rPr lang="en-US" sz="1000">
                <a:solidFill>
                  <a:srgbClr val="5A6672"/>
                </a:solidFill>
                <a:latin typeface="Calibri"/>
                <a:ea typeface="Calibri"/>
                <a:cs typeface="Calibri"/>
              </a:rPr>
              <a:t>stealthy +0.10 m/s injection</a:t>
            </a:r>
            <a:endParaRPr lang="en-US" sz="1000"/>
          </a:p>
        </p:txBody>
      </p:sp>
      <p:sp>
        <p:nvSpPr>
          <p:cNvPr id="1374481650" name="Text 16"/>
          <p:cNvSpPr txBox="1"/>
          <p:nvPr/>
        </p:nvSpPr>
        <p:spPr bwMode="auto">
          <a:xfrm>
            <a:off x="6263640" y="5230368"/>
            <a:ext cx="5394960" cy="914400"/>
          </a:xfrm>
          <a:prstGeom prst="rect">
            <a:avLst/>
          </a:prstGeom>
          <a:noFill/>
          <a:ln/>
        </p:spPr>
        <p:txBody>
          <a:bodyPr wrap="square" lIns="0" tIns="0" rIns="0" bIns="0" rtlCol="0" anchor="ctr"/>
          <a:lstStyle/>
          <a:p>
            <a:pPr marL="0" indent="0">
              <a:buNone/>
              <a:defRPr/>
            </a:pPr>
            <a:r>
              <a:rPr lang="en-US" sz="1200">
                <a:solidFill>
                  <a:srgbClr val="1A1A1A"/>
                </a:solidFill>
                <a:latin typeface="Calibri"/>
                <a:ea typeface="Calibri"/>
                <a:cs typeface="Calibri"/>
              </a:rPr>
              <a:t>The injected command stays inside the feasible envelope, so the feasibility test alone stays silent. The CUSUM statistic accumulates the small persistent residual and fires 1.95 s after onset.</a:t>
            </a:r>
            <a:endParaRPr lang="en-US" sz="1200"/>
          </a:p>
        </p:txBody>
      </p:sp>
      <p:sp>
        <p:nvSpPr>
          <p:cNvPr id="985880296" name="Text 17"/>
          <p:cNvSpPr txBox="1"/>
          <p:nvPr/>
        </p:nvSpPr>
        <p:spPr bwMode="auto">
          <a:xfrm>
            <a:off x="502920" y="6419088"/>
            <a:ext cx="7315200" cy="256032"/>
          </a:xfrm>
          <a:prstGeom prst="rect">
            <a:avLst/>
          </a:prstGeom>
          <a:noFill/>
          <a:ln/>
        </p:spPr>
        <p:txBody>
          <a:bodyPr wrap="square" lIns="0" tIns="0" rIns="0" bIns="0" rtlCol="0" anchor="ctr"/>
          <a:lstStyle/>
          <a:p>
            <a:pPr marL="0" indent="0">
              <a:buNone/>
              <a:defRPr/>
            </a:pPr>
            <a:r>
              <a:rPr lang="en-US" sz="900">
                <a:solidFill>
                  <a:srgbClr val="5A6672"/>
                </a:solidFill>
                <a:latin typeface="Calibri"/>
                <a:ea typeface="Calibri"/>
                <a:cs typeface="Calibri"/>
              </a:rPr>
              <a:t>21ECC402P  |  Shyam Rithin S  |  RA2311004010308</a:t>
            </a:r>
            <a:endParaRPr lang="en-US" sz="900"/>
          </a:p>
        </p:txBody>
      </p:sp>
      <p:sp>
        <p:nvSpPr>
          <p:cNvPr id="1026485985" name="Text 18"/>
          <p:cNvSpPr txBox="1"/>
          <p:nvPr/>
        </p:nvSpPr>
        <p:spPr bwMode="auto">
          <a:xfrm>
            <a:off x="11247120" y="6419088"/>
            <a:ext cx="457200" cy="256032"/>
          </a:xfrm>
          <a:prstGeom prst="rect">
            <a:avLst/>
          </a:prstGeom>
          <a:noFill/>
          <a:ln/>
        </p:spPr>
        <p:txBody>
          <a:bodyPr wrap="square" lIns="0" tIns="0" rIns="0" bIns="0" rtlCol="0" anchor="ctr"/>
          <a:lstStyle/>
          <a:p>
            <a:pPr marL="0" indent="0" algn="r">
              <a:buNone/>
              <a:defRPr/>
            </a:pPr>
            <a:r>
              <a:rPr lang="en-US" sz="900">
                <a:solidFill>
                  <a:srgbClr val="5A6672"/>
                </a:solidFill>
                <a:latin typeface="Calibri"/>
                <a:ea typeface="Calibri"/>
                <a:cs typeface="Calibri"/>
              </a:rPr>
              <a:t>13</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4">
    <p:bg>
      <p:bgPr shadeToTitle="0">
        <a:solidFill>
          <a:srgbClr val="FFFFFF"/>
        </a:solidFill>
      </p:bgPr>
    </p:bg>
    <p:spTree>
      <p:nvGrpSpPr>
        <p:cNvPr id="1" name=""/>
        <p:cNvGrpSpPr/>
        <p:nvPr/>
      </p:nvGrpSpPr>
      <p:grpSpPr bwMode="auto">
        <a:xfrm>
          <a:off x="0" y="0"/>
          <a:ext cx="0" cy="0"/>
          <a:chOff x="0" y="0"/>
          <a:chExt cx="0" cy="0"/>
        </a:xfrm>
      </p:grpSpPr>
      <p:pic>
        <p:nvPicPr>
          <p:cNvPr id="560048487" name="Image 0" descr="/home/claude/deck/srm_logo.png"/>
          <p:cNvPicPr>
            <a:picLocks noChangeAspect="1"/>
          </p:cNvPicPr>
          <p:nvPr/>
        </p:nvPicPr>
        <p:blipFill rotWithShape="1">
          <a:blip r:embed="rId3"/>
          <a:stretch/>
        </p:blipFill>
        <p:spPr bwMode="auto">
          <a:xfrm>
            <a:off x="10195560" y="256032"/>
            <a:ext cx="1572768" cy="530352"/>
          </a:xfrm>
          <a:prstGeom prst="rect">
            <a:avLst/>
          </a:prstGeom>
        </p:spPr>
      </p:pic>
      <p:sp>
        <p:nvSpPr>
          <p:cNvPr id="526213482" name="Text 0"/>
          <p:cNvSpPr txBox="1"/>
          <p:nvPr/>
        </p:nvSpPr>
        <p:spPr bwMode="auto">
          <a:xfrm>
            <a:off x="502920" y="274320"/>
            <a:ext cx="9418320" cy="475488"/>
          </a:xfrm>
          <a:prstGeom prst="rect">
            <a:avLst/>
          </a:prstGeom>
          <a:noFill/>
          <a:ln/>
        </p:spPr>
        <p:txBody>
          <a:bodyPr wrap="square" lIns="0" tIns="0" rIns="0" bIns="0" rtlCol="0" anchor="ctr"/>
          <a:lstStyle/>
          <a:p>
            <a:pPr marL="0" indent="0" algn="l">
              <a:buNone/>
              <a:defRPr/>
            </a:pPr>
            <a:r>
              <a:rPr lang="en-US" sz="2700" b="1">
                <a:solidFill>
                  <a:srgbClr val="14509B"/>
                </a:solidFill>
                <a:latin typeface="Cambria"/>
                <a:ea typeface="Cambria"/>
                <a:cs typeface="Cambria"/>
              </a:rPr>
              <a:t>Results  -  Layer Ablation</a:t>
            </a:r>
            <a:endParaRPr lang="en-US" sz="2700"/>
          </a:p>
        </p:txBody>
      </p:sp>
      <p:sp>
        <p:nvSpPr>
          <p:cNvPr id="169253942" name="Text 1"/>
          <p:cNvSpPr txBox="1"/>
          <p:nvPr/>
        </p:nvSpPr>
        <p:spPr bwMode="auto">
          <a:xfrm>
            <a:off x="502920" y="749808"/>
            <a:ext cx="9418320" cy="292608"/>
          </a:xfrm>
          <a:prstGeom prst="rect">
            <a:avLst/>
          </a:prstGeom>
          <a:noFill/>
          <a:ln/>
        </p:spPr>
        <p:txBody>
          <a:bodyPr wrap="square" lIns="0" tIns="0" rIns="0" bIns="0" rtlCol="0" anchor="ctr"/>
          <a:lstStyle/>
          <a:p>
            <a:pPr marL="0" indent="0" algn="l">
              <a:buNone/>
              <a:defRPr/>
            </a:pPr>
            <a:r>
              <a:rPr lang="en-US" sz="1300">
                <a:solidFill>
                  <a:srgbClr val="5A6672"/>
                </a:solidFill>
                <a:latin typeface="Calibri"/>
                <a:ea typeface="Calibri"/>
                <a:cs typeface="Calibri"/>
              </a:rPr>
              <a:t>The central finding: each layer covers the other's blind spot</a:t>
            </a:r>
            <a:endParaRPr lang="en-US" sz="1300"/>
          </a:p>
        </p:txBody>
      </p:sp>
      <p:pic>
        <p:nvPicPr>
          <p:cNvPr id="829559236" name="Image 1" descr="/home/claude/deck/fig4_ablation.png"/>
          <p:cNvPicPr>
            <a:picLocks noChangeAspect="1"/>
          </p:cNvPicPr>
          <p:nvPr/>
        </p:nvPicPr>
        <p:blipFill rotWithShape="1">
          <a:blip r:embed="rId4"/>
          <a:stretch/>
        </p:blipFill>
        <p:spPr bwMode="auto">
          <a:xfrm>
            <a:off x="502920" y="1170432"/>
            <a:ext cx="6949440" cy="2862072"/>
          </a:xfrm>
          <a:prstGeom prst="rect">
            <a:avLst/>
          </a:prstGeom>
        </p:spPr>
      </p:pic>
      <p:sp>
        <p:nvSpPr>
          <p:cNvPr id="874790881" name="Text 2"/>
          <p:cNvSpPr txBox="1"/>
          <p:nvPr/>
        </p:nvSpPr>
        <p:spPr bwMode="auto">
          <a:xfrm>
            <a:off x="502920" y="4059936"/>
            <a:ext cx="6949440" cy="292608"/>
          </a:xfrm>
          <a:prstGeom prst="rect">
            <a:avLst/>
          </a:prstGeom>
          <a:noFill/>
          <a:ln/>
        </p:spPr>
        <p:txBody>
          <a:bodyPr wrap="square" lIns="0" tIns="0" rIns="0" bIns="0" rtlCol="0" anchor="ctr"/>
          <a:lstStyle/>
          <a:p>
            <a:pPr marL="0" indent="0">
              <a:buNone/>
              <a:defRPr/>
            </a:pPr>
            <a:r>
              <a:rPr lang="en-US" sz="1000" i="1">
                <a:solidFill>
                  <a:srgbClr val="5A6672"/>
                </a:solidFill>
                <a:latin typeface="Calibri"/>
                <a:ea typeface="Calibri"/>
                <a:cs typeface="Calibri"/>
              </a:rPr>
              <a:t>Fig. 6  -  Per-layer ablation across five attack classes. Same detector, one layer disabled at a time.</a:t>
            </a:r>
            <a:endParaRPr lang="en-US" sz="1000"/>
          </a:p>
        </p:txBody>
      </p:sp>
      <p:pic>
        <p:nvPicPr>
          <p:cNvPr id="1132350409" name="Image 2" descr="/home/claude/deck/fig3_latency.png"/>
          <p:cNvPicPr>
            <a:picLocks noChangeAspect="1"/>
          </p:cNvPicPr>
          <p:nvPr/>
        </p:nvPicPr>
        <p:blipFill rotWithShape="1">
          <a:blip r:embed="rId5"/>
          <a:stretch/>
        </p:blipFill>
        <p:spPr bwMode="auto">
          <a:xfrm>
            <a:off x="7726680" y="1170432"/>
            <a:ext cx="3931920" cy="2276856"/>
          </a:xfrm>
          <a:prstGeom prst="rect">
            <a:avLst/>
          </a:prstGeom>
        </p:spPr>
      </p:pic>
      <p:sp>
        <p:nvSpPr>
          <p:cNvPr id="717663777" name="Text 3"/>
          <p:cNvSpPr txBox="1"/>
          <p:nvPr/>
        </p:nvSpPr>
        <p:spPr bwMode="auto">
          <a:xfrm>
            <a:off x="7726680" y="3474720"/>
            <a:ext cx="3931920" cy="292608"/>
          </a:xfrm>
          <a:prstGeom prst="rect">
            <a:avLst/>
          </a:prstGeom>
          <a:noFill/>
          <a:ln/>
        </p:spPr>
        <p:txBody>
          <a:bodyPr wrap="square" lIns="0" tIns="0" rIns="0" bIns="0" rtlCol="0" anchor="ctr"/>
          <a:lstStyle/>
          <a:p>
            <a:pPr marL="0" indent="0">
              <a:buNone/>
              <a:defRPr/>
            </a:pPr>
            <a:r>
              <a:rPr lang="en-US" sz="1000" i="1">
                <a:solidFill>
                  <a:srgbClr val="5A6672"/>
                </a:solidFill>
                <a:latin typeface="Calibri"/>
                <a:ea typeface="Calibri"/>
                <a:cs typeface="Calibri"/>
              </a:rPr>
              <a:t>Fig. 7  -  Detection latency against injected velocity bias.</a:t>
            </a:r>
            <a:endParaRPr lang="en-US" sz="1000"/>
          </a:p>
        </p:txBody>
      </p:sp>
      <p:sp>
        <p:nvSpPr>
          <p:cNvPr id="2143493853" name="Text 4"/>
          <p:cNvSpPr txBox="1"/>
          <p:nvPr/>
        </p:nvSpPr>
        <p:spPr bwMode="auto">
          <a:xfrm>
            <a:off x="7726680" y="3840480"/>
            <a:ext cx="3931920" cy="1005840"/>
          </a:xfrm>
          <a:prstGeom prst="rect">
            <a:avLst/>
          </a:prstGeom>
          <a:noFill/>
          <a:ln/>
        </p:spPr>
        <p:txBody>
          <a:bodyPr wrap="square" lIns="0" tIns="0" rIns="0" bIns="0" rtlCol="0" anchor="ctr"/>
          <a:lstStyle/>
          <a:p>
            <a:pPr marL="0" indent="0">
              <a:buNone/>
              <a:defRPr/>
            </a:pPr>
            <a:r>
              <a:rPr lang="en-US" sz="1100">
                <a:solidFill>
                  <a:srgbClr val="1A1A1A"/>
                </a:solidFill>
                <a:latin typeface="Calibri"/>
                <a:ea typeface="Calibri"/>
                <a:cs typeface="Calibri"/>
              </a:rPr>
              <a:t>Detection latency falls as attack magnitude rises. Below roughly 0.02 m/s the attack is undetectable - but it also barely moves the robot. This is a stated limitation, not a hidden one.</a:t>
            </a:r>
            <a:endParaRPr lang="en-US" sz="1100"/>
          </a:p>
        </p:txBody>
      </p:sp>
      <p:sp>
        <p:nvSpPr>
          <p:cNvPr id="376607130" name="Shape 5"/>
          <p:cNvSpPr/>
          <p:nvPr/>
        </p:nvSpPr>
        <p:spPr bwMode="auto">
          <a:xfrm>
            <a:off x="502920" y="4389120"/>
            <a:ext cx="6949440" cy="804672"/>
          </a:xfrm>
          <a:prstGeom prst="roundRect">
            <a:avLst>
              <a:gd name="adj" fmla="val 3409"/>
            </a:avLst>
          </a:prstGeom>
          <a:solidFill>
            <a:srgbClr val="FFFFFF"/>
          </a:solidFill>
          <a:ln w="12700">
            <a:solidFill>
              <a:srgbClr val="C9D2DC"/>
            </a:solidFill>
            <a:prstDash val="solid"/>
          </a:ln>
        </p:spPr>
      </p:sp>
      <p:sp>
        <p:nvSpPr>
          <p:cNvPr id="707805812" name="Text 6"/>
          <p:cNvSpPr txBox="1"/>
          <p:nvPr/>
        </p:nvSpPr>
        <p:spPr bwMode="auto">
          <a:xfrm>
            <a:off x="713232" y="4480560"/>
            <a:ext cx="6583680" cy="274320"/>
          </a:xfrm>
          <a:prstGeom prst="rect">
            <a:avLst/>
          </a:prstGeom>
          <a:noFill/>
          <a:ln/>
        </p:spPr>
        <p:txBody>
          <a:bodyPr wrap="square" lIns="0" tIns="0" rIns="0" bIns="0" rtlCol="0" anchor="ctr"/>
          <a:lstStyle/>
          <a:p>
            <a:pPr marL="0" indent="0">
              <a:buNone/>
              <a:defRPr/>
            </a:pPr>
            <a:r>
              <a:rPr lang="en-US" sz="1300" b="1">
                <a:solidFill>
                  <a:srgbClr val="1A1A1A"/>
                </a:solidFill>
                <a:latin typeface="Calibri"/>
                <a:ea typeface="Calibri"/>
                <a:cs typeface="Calibri"/>
              </a:rPr>
              <a:t>Discovery flood   </a:t>
            </a:r>
            <a:r>
              <a:rPr lang="en-US" sz="1300" b="1">
                <a:solidFill>
                  <a:srgbClr val="B3261E"/>
                </a:solidFill>
                <a:latin typeface="Calibri"/>
                <a:ea typeface="Calibri"/>
                <a:cs typeface="Calibri"/>
              </a:rPr>
              <a:t>physics layer is blind</a:t>
            </a:r>
            <a:endParaRPr lang="en-US" sz="1300"/>
          </a:p>
        </p:txBody>
      </p:sp>
      <p:sp>
        <p:nvSpPr>
          <p:cNvPr id="1508852152" name="Text 7"/>
          <p:cNvSpPr txBox="1"/>
          <p:nvPr/>
        </p:nvSpPr>
        <p:spPr bwMode="auto">
          <a:xfrm>
            <a:off x="713232" y="4773168"/>
            <a:ext cx="6583680" cy="402336"/>
          </a:xfrm>
          <a:prstGeom prst="rect">
            <a:avLst/>
          </a:prstGeom>
          <a:noFill/>
          <a:ln/>
        </p:spPr>
        <p:txBody>
          <a:bodyPr wrap="square" lIns="0" tIns="0" rIns="0" bIns="0" rtlCol="0" anchor="ctr"/>
          <a:lstStyle/>
          <a:p>
            <a:pPr marL="0" indent="0">
              <a:buNone/>
              <a:defRPr/>
            </a:pPr>
            <a:r>
              <a:rPr lang="en-US" sz="1150">
                <a:solidFill>
                  <a:srgbClr val="5A6672"/>
                </a:solidFill>
                <a:latin typeface="Calibri"/>
                <a:ea typeface="Calibri"/>
                <a:cs typeface="Calibri"/>
              </a:rPr>
              <a:t>the robot keeps driving perfectly normally, so its motion is never inconsistent  -  </a:t>
            </a:r>
            <a:r>
              <a:rPr lang="en-US" sz="1150" b="1">
                <a:solidFill>
                  <a:srgbClr val="1E6B4F"/>
                </a:solidFill>
                <a:latin typeface="Calibri"/>
                <a:ea typeface="Calibri"/>
                <a:cs typeface="Calibri"/>
              </a:rPr>
              <a:t>caught by the network layer</a:t>
            </a:r>
            <a:endParaRPr lang="en-US" sz="1150"/>
          </a:p>
        </p:txBody>
      </p:sp>
      <p:sp>
        <p:nvSpPr>
          <p:cNvPr id="1482436889" name="Shape 8"/>
          <p:cNvSpPr/>
          <p:nvPr/>
        </p:nvSpPr>
        <p:spPr bwMode="auto">
          <a:xfrm>
            <a:off x="502920" y="5248656"/>
            <a:ext cx="6949440" cy="804672"/>
          </a:xfrm>
          <a:prstGeom prst="roundRect">
            <a:avLst>
              <a:gd name="adj" fmla="val 3409"/>
            </a:avLst>
          </a:prstGeom>
          <a:solidFill>
            <a:srgbClr val="FFFFFF"/>
          </a:solidFill>
          <a:ln w="12700">
            <a:solidFill>
              <a:srgbClr val="C9D2DC"/>
            </a:solidFill>
            <a:prstDash val="solid"/>
          </a:ln>
        </p:spPr>
      </p:sp>
      <p:sp>
        <p:nvSpPr>
          <p:cNvPr id="1320126290" name="Text 9"/>
          <p:cNvSpPr txBox="1"/>
          <p:nvPr/>
        </p:nvSpPr>
        <p:spPr bwMode="auto">
          <a:xfrm>
            <a:off x="713232" y="5340096"/>
            <a:ext cx="6583680" cy="274320"/>
          </a:xfrm>
          <a:prstGeom prst="rect">
            <a:avLst/>
          </a:prstGeom>
          <a:noFill/>
          <a:ln/>
        </p:spPr>
        <p:txBody>
          <a:bodyPr wrap="square" lIns="0" tIns="0" rIns="0" bIns="0" rtlCol="0" anchor="ctr"/>
          <a:lstStyle/>
          <a:p>
            <a:pPr marL="0" indent="0">
              <a:buNone/>
              <a:defRPr/>
            </a:pPr>
            <a:r>
              <a:rPr lang="en-US" sz="1300" b="1">
                <a:solidFill>
                  <a:srgbClr val="1A1A1A"/>
                </a:solidFill>
                <a:latin typeface="Calibri"/>
                <a:ea typeface="Calibri"/>
                <a:cs typeface="Calibri"/>
              </a:rPr>
              <a:t>Compromised authorized node   </a:t>
            </a:r>
            <a:r>
              <a:rPr lang="en-US" sz="1300" b="1">
                <a:solidFill>
                  <a:srgbClr val="B3261E"/>
                </a:solidFill>
                <a:latin typeface="Calibri"/>
                <a:ea typeface="Calibri"/>
                <a:cs typeface="Calibri"/>
              </a:rPr>
              <a:t>network layer is blind</a:t>
            </a:r>
            <a:endParaRPr lang="en-US" sz="1300"/>
          </a:p>
        </p:txBody>
      </p:sp>
      <p:sp>
        <p:nvSpPr>
          <p:cNvPr id="1784147162" name="Text 10"/>
          <p:cNvSpPr txBox="1"/>
          <p:nvPr/>
        </p:nvSpPr>
        <p:spPr bwMode="auto">
          <a:xfrm>
            <a:off x="713232" y="5632704"/>
            <a:ext cx="6583680" cy="402336"/>
          </a:xfrm>
          <a:prstGeom prst="rect">
            <a:avLst/>
          </a:prstGeom>
          <a:noFill/>
          <a:ln/>
        </p:spPr>
        <p:txBody>
          <a:bodyPr wrap="square" lIns="0" tIns="0" rIns="0" bIns="0" rtlCol="0" anchor="ctr"/>
          <a:lstStyle/>
          <a:p>
            <a:pPr marL="0" indent="0">
              <a:buNone/>
              <a:defRPr/>
            </a:pPr>
            <a:r>
              <a:rPr lang="en-US" sz="1150">
                <a:solidFill>
                  <a:srgbClr val="5A6672"/>
                </a:solidFill>
                <a:latin typeface="Calibri"/>
                <a:ea typeface="Calibri"/>
                <a:cs typeface="Calibri"/>
              </a:rPr>
              <a:t>the publisher name is legitimate, so identity and rate checks see nothing wrong  -  </a:t>
            </a:r>
            <a:r>
              <a:rPr lang="en-US" sz="1150" b="1">
                <a:solidFill>
                  <a:srgbClr val="1E6B4F"/>
                </a:solidFill>
                <a:latin typeface="Calibri"/>
                <a:ea typeface="Calibri"/>
                <a:cs typeface="Calibri"/>
              </a:rPr>
              <a:t>caught by the physics layer</a:t>
            </a:r>
            <a:endParaRPr lang="en-US" sz="1150"/>
          </a:p>
        </p:txBody>
      </p:sp>
      <p:sp>
        <p:nvSpPr>
          <p:cNvPr id="1080105050" name="Text 11"/>
          <p:cNvSpPr txBox="1"/>
          <p:nvPr/>
        </p:nvSpPr>
        <p:spPr bwMode="auto">
          <a:xfrm>
            <a:off x="502920" y="6163056"/>
            <a:ext cx="6949440" cy="274320"/>
          </a:xfrm>
          <a:prstGeom prst="rect">
            <a:avLst/>
          </a:prstGeom>
          <a:noFill/>
          <a:ln/>
        </p:spPr>
        <p:txBody>
          <a:bodyPr wrap="square" lIns="0" tIns="0" rIns="0" bIns="0" rtlCol="0" anchor="ctr"/>
          <a:lstStyle/>
          <a:p>
            <a:pPr marL="0" indent="0">
              <a:buNone/>
              <a:defRPr/>
            </a:pPr>
            <a:r>
              <a:rPr lang="en-US" sz="1250" b="1">
                <a:solidFill>
                  <a:srgbClr val="14509B"/>
                </a:solidFill>
                <a:latin typeface="Calibri"/>
                <a:ea typeface="Calibri"/>
                <a:cs typeface="Calibri"/>
              </a:rPr>
              <a:t>Neither layer alone is sufficient. Fusion detects all five attack classes tested.</a:t>
            </a:r>
            <a:endParaRPr lang="en-US" sz="1250"/>
          </a:p>
        </p:txBody>
      </p:sp>
      <p:sp>
        <p:nvSpPr>
          <p:cNvPr id="1808030417" name="Text 12"/>
          <p:cNvSpPr txBox="1"/>
          <p:nvPr/>
        </p:nvSpPr>
        <p:spPr bwMode="auto">
          <a:xfrm>
            <a:off x="502920" y="6419088"/>
            <a:ext cx="7315200" cy="256032"/>
          </a:xfrm>
          <a:prstGeom prst="rect">
            <a:avLst/>
          </a:prstGeom>
          <a:noFill/>
          <a:ln/>
        </p:spPr>
        <p:txBody>
          <a:bodyPr wrap="square" lIns="0" tIns="0" rIns="0" bIns="0" rtlCol="0" anchor="ctr"/>
          <a:lstStyle/>
          <a:p>
            <a:pPr marL="0" indent="0">
              <a:buNone/>
              <a:defRPr/>
            </a:pPr>
            <a:r>
              <a:rPr lang="en-US" sz="900">
                <a:solidFill>
                  <a:srgbClr val="5A6672"/>
                </a:solidFill>
                <a:latin typeface="Calibri"/>
                <a:ea typeface="Calibri"/>
                <a:cs typeface="Calibri"/>
              </a:rPr>
              <a:t>21ECC402P  |  Shyam Rithin S  |  RA2311004010308</a:t>
            </a:r>
            <a:endParaRPr lang="en-US" sz="900"/>
          </a:p>
        </p:txBody>
      </p:sp>
      <p:sp>
        <p:nvSpPr>
          <p:cNvPr id="2034195910" name="Text 13"/>
          <p:cNvSpPr txBox="1"/>
          <p:nvPr/>
        </p:nvSpPr>
        <p:spPr bwMode="auto">
          <a:xfrm>
            <a:off x="11247120" y="6419088"/>
            <a:ext cx="457200" cy="256032"/>
          </a:xfrm>
          <a:prstGeom prst="rect">
            <a:avLst/>
          </a:prstGeom>
          <a:noFill/>
          <a:ln/>
        </p:spPr>
        <p:txBody>
          <a:bodyPr wrap="square" lIns="0" tIns="0" rIns="0" bIns="0" rtlCol="0" anchor="ctr"/>
          <a:lstStyle/>
          <a:p>
            <a:pPr marL="0" indent="0" algn="r">
              <a:buNone/>
              <a:defRPr/>
            </a:pPr>
            <a:r>
              <a:rPr lang="en-US" sz="900">
                <a:solidFill>
                  <a:srgbClr val="5A6672"/>
                </a:solidFill>
                <a:latin typeface="Calibri"/>
                <a:ea typeface="Calibri"/>
                <a:cs typeface="Calibri"/>
              </a:rPr>
              <a:t>14</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3">
    <p:bg>
      <p:bgPr shadeToTitle="0">
        <a:solidFill>
          <a:srgbClr val="FFFFFF"/>
        </a:solidFill>
      </p:bgPr>
    </p:bg>
    <p:spTree>
      <p:nvGrpSpPr>
        <p:cNvPr id="1" name=""/>
        <p:cNvGrpSpPr/>
        <p:nvPr/>
      </p:nvGrpSpPr>
      <p:grpSpPr bwMode="auto">
        <a:xfrm>
          <a:off x="0" y="0"/>
          <a:ext cx="0" cy="0"/>
          <a:chOff x="0" y="0"/>
          <a:chExt cx="0" cy="0"/>
        </a:xfrm>
      </p:grpSpPr>
      <p:pic>
        <p:nvPicPr>
          <p:cNvPr id="1044779519" name="Image 0" descr="/home/claude/deck/srm_logo.png"/>
          <p:cNvPicPr>
            <a:picLocks noChangeAspect="1"/>
          </p:cNvPicPr>
          <p:nvPr/>
        </p:nvPicPr>
        <p:blipFill rotWithShape="1">
          <a:blip r:embed="rId3"/>
          <a:stretch/>
        </p:blipFill>
        <p:spPr bwMode="auto">
          <a:xfrm>
            <a:off x="10195560" y="256032"/>
            <a:ext cx="1572768" cy="530352"/>
          </a:xfrm>
          <a:prstGeom prst="rect">
            <a:avLst/>
          </a:prstGeom>
        </p:spPr>
      </p:pic>
      <p:sp>
        <p:nvSpPr>
          <p:cNvPr id="642422859" name="Text 0"/>
          <p:cNvSpPr txBox="1"/>
          <p:nvPr/>
        </p:nvSpPr>
        <p:spPr bwMode="auto">
          <a:xfrm>
            <a:off x="502920" y="274320"/>
            <a:ext cx="9418320" cy="475488"/>
          </a:xfrm>
          <a:prstGeom prst="rect">
            <a:avLst/>
          </a:prstGeom>
          <a:noFill/>
          <a:ln/>
        </p:spPr>
        <p:txBody>
          <a:bodyPr wrap="square" lIns="0" tIns="0" rIns="0" bIns="0" rtlCol="0" anchor="ctr"/>
          <a:lstStyle/>
          <a:p>
            <a:pPr marL="0" indent="0" algn="l">
              <a:buNone/>
              <a:defRPr/>
            </a:pPr>
            <a:r>
              <a:rPr lang="en-US" sz="2700" b="1">
                <a:solidFill>
                  <a:srgbClr val="14509B"/>
                </a:solidFill>
                <a:latin typeface="Cambria"/>
                <a:ea typeface="Cambria"/>
                <a:cs typeface="Cambria"/>
              </a:rPr>
              <a:t>Results  -  Gazebo Bench</a:t>
            </a:r>
            <a:endParaRPr lang="en-US" sz="2700"/>
          </a:p>
        </p:txBody>
      </p:sp>
      <p:sp>
        <p:nvSpPr>
          <p:cNvPr id="1319243731" name="Text 1"/>
          <p:cNvSpPr txBox="1"/>
          <p:nvPr/>
        </p:nvSpPr>
        <p:spPr bwMode="auto">
          <a:xfrm>
            <a:off x="502920" y="749808"/>
            <a:ext cx="9418320" cy="292608"/>
          </a:xfrm>
          <a:prstGeom prst="rect">
            <a:avLst/>
          </a:prstGeom>
          <a:noFill/>
          <a:ln/>
        </p:spPr>
        <p:txBody>
          <a:bodyPr wrap="square" lIns="0" tIns="0" rIns="0" bIns="0" rtlCol="0" anchor="ctr"/>
          <a:lstStyle/>
          <a:p>
            <a:pPr marL="0" indent="0" algn="l">
              <a:buNone/>
              <a:defRPr/>
            </a:pPr>
            <a:r>
              <a:rPr lang="en-US" sz="1300">
                <a:solidFill>
                  <a:srgbClr val="5A6672"/>
                </a:solidFill>
                <a:latin typeface="Calibri"/>
                <a:ea typeface="Calibri"/>
                <a:cs typeface="Calibri"/>
              </a:rPr>
              <a:t>Hard-spin injection caught by both layers, blocked, and the robot returned to the line</a:t>
            </a:r>
            <a:endParaRPr lang="en-US" sz="1300"/>
          </a:p>
        </p:txBody>
      </p:sp>
      <p:pic>
        <p:nvPicPr>
          <p:cNvPr id="1988437764" name="Picture 1988437763" descr="fig8_rviz_recovery.png"/>
          <p:cNvPicPr>
            <a:picLocks noChangeAspect="1"/>
          </p:cNvPicPr>
          <p:nvPr/>
        </p:nvPicPr>
        <p:blipFill>
          <a:blip r:embed="rId2"/>
          <a:stretch>
            <a:fillRect/>
          </a:stretch>
        </p:blipFill>
        <p:spPr>
          <a:xfrm>
            <a:off x="502920" y="1188720"/>
            <a:ext cx="5074920" cy="3316941"/>
          </a:xfrm>
          <a:prstGeom prst="rect">
            <a:avLst/>
          </a:prstGeom>
        </p:spPr>
      </p:pic>
      <p:sp>
        <p:nvSpPr>
          <p:cNvPr id="549667004" name="Text 2"/>
          <p:cNvSpPr txBox="1"/>
          <p:nvPr/>
        </p:nvSpPr>
        <p:spPr bwMode="auto">
          <a:xfrm>
            <a:off x="502920" y="4551381"/>
            <a:ext cx="5074920" cy="384048"/>
          </a:xfrm>
          <a:prstGeom prst="rect">
            <a:avLst/>
          </a:prstGeom>
          <a:noFill/>
          <a:ln/>
        </p:spPr>
        <p:txBody>
          <a:bodyPr wrap="square" lIns="0" tIns="0" rIns="0" bIns="0" rtlCol="0" anchor="ctr"/>
          <a:lstStyle/>
          <a:p>
            <a:pPr marL="0" indent="0">
              <a:buNone/>
              <a:defRPr/>
            </a:pPr>
            <a:r>
              <a:rPr lang="en-US" sz="1000" i="1">
                <a:solidFill>
                  <a:srgbClr val="5A6672"/>
                </a:solidFill>
                <a:latin typeface="Calibri"/>
                <a:ea typeface="Calibri"/>
                <a:cs typeface="Calibri"/>
              </a:rPr>
              <a:t>Fig. 8  -  RViz2 during the hard-spin injection: red trail while under attack, green after the safety filter restored control.</a:t>
            </a:r>
            <a:endParaRPr lang="en-US" sz="1000"/>
          </a:p>
        </p:txBody>
      </p:sp>
      <p:pic>
        <p:nvPicPr>
          <p:cNvPr id="1988437765" name="Picture 1988437764" descr="fig9_gazebo_arena.png"/>
          <p:cNvPicPr>
            <a:picLocks noChangeAspect="1"/>
          </p:cNvPicPr>
          <p:nvPr/>
        </p:nvPicPr>
        <p:blipFill>
          <a:blip r:embed="rId6"/>
          <a:stretch>
            <a:fillRect/>
          </a:stretch>
        </p:blipFill>
        <p:spPr>
          <a:xfrm>
            <a:off x="5989320" y="1188720"/>
            <a:ext cx="5669280" cy="3239589"/>
          </a:xfrm>
          <a:prstGeom prst="rect">
            <a:avLst/>
          </a:prstGeom>
        </p:spPr>
      </p:pic>
      <p:sp>
        <p:nvSpPr>
          <p:cNvPr id="1018236062" name="Text 3"/>
          <p:cNvSpPr txBox="1"/>
          <p:nvPr/>
        </p:nvSpPr>
        <p:spPr bwMode="auto">
          <a:xfrm>
            <a:off x="5989320" y="4474029"/>
            <a:ext cx="5669280" cy="384048"/>
          </a:xfrm>
          <a:prstGeom prst="rect">
            <a:avLst/>
          </a:prstGeom>
          <a:noFill/>
          <a:ln/>
        </p:spPr>
        <p:txBody>
          <a:bodyPr wrap="square" lIns="0" tIns="0" rIns="0" bIns="0" rtlCol="0" anchor="ctr"/>
          <a:lstStyle/>
          <a:p>
            <a:pPr marL="0" indent="0">
              <a:buNone/>
              <a:defRPr/>
            </a:pPr>
            <a:r>
              <a:rPr lang="en-US" sz="1000" i="1">
                <a:solidFill>
                  <a:srgbClr val="5A6672"/>
                </a:solidFill>
                <a:latin typeface="Calibri"/>
                <a:ea typeface="Calibri"/>
                <a:cs typeface="Calibri"/>
              </a:rPr>
              <a:t>Fig. 9  -  Gazebo Harmonic arena: oval track, walls and obstacles, robot with the real wheel geometry.</a:t>
            </a:r>
            <a:endParaRPr lang="en-US" sz="1000"/>
          </a:p>
        </p:txBody>
      </p:sp>
      <p:sp>
        <p:nvSpPr>
          <p:cNvPr id="454633733" name="Shape 4"/>
          <p:cNvSpPr/>
          <p:nvPr/>
        </p:nvSpPr>
        <p:spPr bwMode="auto">
          <a:xfrm>
            <a:off x="502920" y="5008581"/>
            <a:ext cx="1755648" cy="1255059"/>
          </a:xfrm>
          <a:prstGeom prst="roundRect">
            <a:avLst>
              <a:gd name="adj" fmla="val 2581"/>
            </a:avLst>
          </a:prstGeom>
          <a:solidFill>
            <a:srgbClr val="EEF3F8"/>
          </a:solidFill>
          <a:ln w="12700">
            <a:solidFill>
              <a:srgbClr val="C9D2DC"/>
            </a:solidFill>
            <a:prstDash val="solid"/>
          </a:ln>
        </p:spPr>
      </p:sp>
      <p:sp>
        <p:nvSpPr>
          <p:cNvPr id="120680768" name="Text 5"/>
          <p:cNvSpPr txBox="1"/>
          <p:nvPr/>
        </p:nvSpPr>
        <p:spPr bwMode="auto">
          <a:xfrm>
            <a:off x="502920" y="5081733"/>
            <a:ext cx="1755648" cy="457200"/>
          </a:xfrm>
          <a:prstGeom prst="rect">
            <a:avLst/>
          </a:prstGeom>
          <a:noFill/>
          <a:ln/>
        </p:spPr>
        <p:txBody>
          <a:bodyPr wrap="square" lIns="0" tIns="0" rIns="0" bIns="0" rtlCol="0" anchor="ctr"/>
          <a:lstStyle/>
          <a:p>
            <a:pPr marL="0" indent="0" algn="ctr">
              <a:buNone/>
              <a:defRPr/>
            </a:pPr>
            <a:r>
              <a:rPr lang="en-US" sz="2600" b="1">
                <a:solidFill>
                  <a:srgbClr val="14509B"/>
                </a:solidFill>
                <a:latin typeface="Cambria"/>
                <a:ea typeface="Cambria"/>
                <a:cs typeface="Cambria"/>
              </a:rPr>
              <a:t>2 / 2</a:t>
            </a:r>
            <a:endParaRPr lang="en-US" sz="2600"/>
          </a:p>
        </p:txBody>
      </p:sp>
      <p:sp>
        <p:nvSpPr>
          <p:cNvPr id="44060627" name="Text 6"/>
          <p:cNvSpPr txBox="1"/>
          <p:nvPr/>
        </p:nvSpPr>
        <p:spPr bwMode="auto">
          <a:xfrm>
            <a:off x="576072" y="5538933"/>
            <a:ext cx="1609344" cy="256032"/>
          </a:xfrm>
          <a:prstGeom prst="rect">
            <a:avLst/>
          </a:prstGeom>
          <a:noFill/>
          <a:ln/>
        </p:spPr>
        <p:txBody>
          <a:bodyPr wrap="square" lIns="0" tIns="0" rIns="0" bIns="0" rtlCol="0" anchor="ctr"/>
          <a:lstStyle/>
          <a:p>
            <a:pPr marL="0" indent="0" algn="ctr">
              <a:buNone/>
              <a:defRPr/>
            </a:pPr>
            <a:r>
              <a:rPr lang="en-US" sz="1150" b="1">
                <a:solidFill>
                  <a:srgbClr val="1A1A1A"/>
                </a:solidFill>
                <a:latin typeface="Calibri"/>
                <a:ea typeface="Calibri"/>
                <a:cs typeface="Calibri"/>
              </a:rPr>
              <a:t>layers fired</a:t>
            </a:r>
            <a:endParaRPr lang="en-US" sz="1150"/>
          </a:p>
        </p:txBody>
      </p:sp>
      <p:sp>
        <p:nvSpPr>
          <p:cNvPr id="148877104" name="Text 7"/>
          <p:cNvSpPr txBox="1"/>
          <p:nvPr/>
        </p:nvSpPr>
        <p:spPr bwMode="auto">
          <a:xfrm>
            <a:off x="576072" y="5794965"/>
            <a:ext cx="1609344" cy="411480"/>
          </a:xfrm>
          <a:prstGeom prst="rect">
            <a:avLst/>
          </a:prstGeom>
          <a:noFill/>
          <a:ln/>
        </p:spPr>
        <p:txBody>
          <a:bodyPr wrap="square" lIns="0" tIns="0" rIns="0" bIns="0" rtlCol="0" anchor="ctr"/>
          <a:lstStyle/>
          <a:p>
            <a:pPr marL="0" indent="0" algn="ctr">
              <a:buNone/>
              <a:defRPr/>
            </a:pPr>
            <a:r>
              <a:rPr lang="en-US" sz="1000">
                <a:solidFill>
                  <a:srgbClr val="5A6672"/>
                </a:solidFill>
                <a:latin typeface="Calibri"/>
                <a:ea typeface="Calibri"/>
                <a:cs typeface="Calibri"/>
              </a:rPr>
              <a:t>rogue writer; |w| 4.0 &gt; 2.5 rad/s</a:t>
            </a:r>
            <a:endParaRPr lang="en-US" sz="1000"/>
          </a:p>
        </p:txBody>
      </p:sp>
      <p:sp>
        <p:nvSpPr>
          <p:cNvPr id="1096130438" name="Shape 8"/>
          <p:cNvSpPr/>
          <p:nvPr/>
        </p:nvSpPr>
        <p:spPr bwMode="auto">
          <a:xfrm>
            <a:off x="2404872" y="5008581"/>
            <a:ext cx="1755648" cy="1255059"/>
          </a:xfrm>
          <a:prstGeom prst="roundRect">
            <a:avLst>
              <a:gd name="adj" fmla="val 2581"/>
            </a:avLst>
          </a:prstGeom>
          <a:solidFill>
            <a:srgbClr val="EEF3F8"/>
          </a:solidFill>
          <a:ln w="12700">
            <a:solidFill>
              <a:srgbClr val="C9D2DC"/>
            </a:solidFill>
            <a:prstDash val="solid"/>
          </a:ln>
        </p:spPr>
      </p:sp>
      <p:sp>
        <p:nvSpPr>
          <p:cNvPr id="896444152" name="Text 9"/>
          <p:cNvSpPr txBox="1"/>
          <p:nvPr/>
        </p:nvSpPr>
        <p:spPr bwMode="auto">
          <a:xfrm>
            <a:off x="2404872" y="5081733"/>
            <a:ext cx="1755648" cy="457200"/>
          </a:xfrm>
          <a:prstGeom prst="rect">
            <a:avLst/>
          </a:prstGeom>
          <a:noFill/>
          <a:ln/>
        </p:spPr>
        <p:txBody>
          <a:bodyPr wrap="square" lIns="0" tIns="0" rIns="0" bIns="0" rtlCol="0" anchor="ctr"/>
          <a:lstStyle/>
          <a:p>
            <a:pPr marL="0" indent="0" algn="ctr">
              <a:buNone/>
              <a:defRPr/>
            </a:pPr>
            <a:r>
              <a:rPr lang="en-US" sz="2600" b="1">
                <a:solidFill>
                  <a:srgbClr val="14509B"/>
                </a:solidFill>
                <a:latin typeface="Cambria"/>
                <a:ea typeface="Cambria"/>
                <a:cs typeface="Cambria"/>
              </a:rPr>
              <a:t>Blocked</a:t>
            </a:r>
            <a:endParaRPr lang="en-US" sz="2600"/>
          </a:p>
        </p:txBody>
      </p:sp>
      <p:sp>
        <p:nvSpPr>
          <p:cNvPr id="389466218" name="Text 10"/>
          <p:cNvSpPr txBox="1"/>
          <p:nvPr/>
        </p:nvSpPr>
        <p:spPr bwMode="auto">
          <a:xfrm>
            <a:off x="2478024" y="5538933"/>
            <a:ext cx="1609344" cy="256032"/>
          </a:xfrm>
          <a:prstGeom prst="rect">
            <a:avLst/>
          </a:prstGeom>
          <a:noFill/>
          <a:ln/>
        </p:spPr>
        <p:txBody>
          <a:bodyPr wrap="square" lIns="0" tIns="0" rIns="0" bIns="0" rtlCol="0" anchor="ctr"/>
          <a:lstStyle/>
          <a:p>
            <a:pPr marL="0" indent="0" algn="ctr">
              <a:buNone/>
              <a:defRPr/>
            </a:pPr>
            <a:r>
              <a:rPr lang="en-US" sz="1150" b="1">
                <a:solidFill>
                  <a:srgbClr val="1A1A1A"/>
                </a:solidFill>
                <a:latin typeface="Calibri"/>
                <a:ea typeface="Calibri"/>
                <a:cs typeface="Calibri"/>
              </a:rPr>
              <a:t>safety filter</a:t>
            </a:r>
            <a:endParaRPr lang="en-US" sz="1150"/>
          </a:p>
        </p:txBody>
      </p:sp>
      <p:sp>
        <p:nvSpPr>
          <p:cNvPr id="44334498" name="Text 11"/>
          <p:cNvSpPr txBox="1"/>
          <p:nvPr/>
        </p:nvSpPr>
        <p:spPr bwMode="auto">
          <a:xfrm>
            <a:off x="2478024" y="5794965"/>
            <a:ext cx="1609344" cy="411480"/>
          </a:xfrm>
          <a:prstGeom prst="rect">
            <a:avLst/>
          </a:prstGeom>
          <a:noFill/>
          <a:ln/>
        </p:spPr>
        <p:txBody>
          <a:bodyPr wrap="square" lIns="0" tIns="0" rIns="0" bIns="0" rtlCol="0" anchor="ctr"/>
          <a:lstStyle/>
          <a:p>
            <a:pPr marL="0" indent="0" algn="ctr">
              <a:buNone/>
              <a:defRPr/>
            </a:pPr>
            <a:r>
              <a:rPr lang="en-US" sz="1000">
                <a:solidFill>
                  <a:srgbClr val="5A6672"/>
                </a:solidFill>
                <a:latin typeface="Calibri"/>
                <a:ea typeface="Calibri"/>
                <a:cs typeface="Calibri"/>
              </a:rPr>
              <a:t>authorized command forwarded</a:t>
            </a:r>
            <a:endParaRPr lang="en-US" sz="1000"/>
          </a:p>
        </p:txBody>
      </p:sp>
      <p:sp>
        <p:nvSpPr>
          <p:cNvPr id="447170344" name="Shape 12"/>
          <p:cNvSpPr/>
          <p:nvPr/>
        </p:nvSpPr>
        <p:spPr bwMode="auto">
          <a:xfrm>
            <a:off x="4306824" y="5008581"/>
            <a:ext cx="1755648" cy="1255059"/>
          </a:xfrm>
          <a:prstGeom prst="roundRect">
            <a:avLst>
              <a:gd name="adj" fmla="val 2581"/>
            </a:avLst>
          </a:prstGeom>
          <a:solidFill>
            <a:srgbClr val="EEF3F8"/>
          </a:solidFill>
          <a:ln w="12700">
            <a:solidFill>
              <a:srgbClr val="C9D2DC"/>
            </a:solidFill>
            <a:prstDash val="solid"/>
          </a:ln>
        </p:spPr>
      </p:sp>
      <p:sp>
        <p:nvSpPr>
          <p:cNvPr id="1988437763" name="Text 13"/>
          <p:cNvSpPr txBox="1"/>
          <p:nvPr/>
        </p:nvSpPr>
        <p:spPr bwMode="auto">
          <a:xfrm>
            <a:off x="4306824" y="5081733"/>
            <a:ext cx="1755648" cy="457200"/>
          </a:xfrm>
          <a:prstGeom prst="rect">
            <a:avLst/>
          </a:prstGeom>
          <a:noFill/>
          <a:ln/>
        </p:spPr>
        <p:txBody>
          <a:bodyPr wrap="square" lIns="0" tIns="0" rIns="0" bIns="0" rtlCol="0" anchor="ctr"/>
          <a:lstStyle/>
          <a:p>
            <a:pPr marL="0" indent="0" algn="ctr">
              <a:buNone/>
              <a:defRPr/>
            </a:pPr>
            <a:r>
              <a:rPr lang="en-US" sz="2600" b="1">
                <a:solidFill>
                  <a:srgbClr val="14509B"/>
                </a:solidFill>
                <a:latin typeface="Cambria"/>
                <a:ea typeface="Cambria"/>
                <a:cs typeface="Cambria"/>
              </a:rPr>
              <a:t>0.007 m</a:t>
            </a:r>
            <a:endParaRPr lang="en-US" sz="2600"/>
          </a:p>
        </p:txBody>
      </p:sp>
      <p:sp>
        <p:nvSpPr>
          <p:cNvPr id="120667724" name="Text 14"/>
          <p:cNvSpPr txBox="1"/>
          <p:nvPr/>
        </p:nvSpPr>
        <p:spPr bwMode="auto">
          <a:xfrm>
            <a:off x="4379976" y="5538933"/>
            <a:ext cx="1609344" cy="256032"/>
          </a:xfrm>
          <a:prstGeom prst="rect">
            <a:avLst/>
          </a:prstGeom>
          <a:noFill/>
          <a:ln/>
        </p:spPr>
        <p:txBody>
          <a:bodyPr wrap="square" lIns="0" tIns="0" rIns="0" bIns="0" rtlCol="0" anchor="ctr"/>
          <a:lstStyle/>
          <a:p>
            <a:pPr marL="0" indent="0" algn="ctr">
              <a:buNone/>
              <a:defRPr/>
            </a:pPr>
            <a:r>
              <a:rPr lang="en-US" sz="1150" b="1">
                <a:solidFill>
                  <a:srgbClr val="1A1A1A"/>
                </a:solidFill>
                <a:latin typeface="Calibri"/>
                <a:ea typeface="Calibri"/>
                <a:cs typeface="Calibri"/>
              </a:rPr>
              <a:t>odometry drift</a:t>
            </a:r>
            <a:endParaRPr lang="en-US" sz="1150"/>
          </a:p>
        </p:txBody>
      </p:sp>
      <p:sp>
        <p:nvSpPr>
          <p:cNvPr id="51691296" name="Text 15"/>
          <p:cNvSpPr txBox="1"/>
          <p:nvPr/>
        </p:nvSpPr>
        <p:spPr bwMode="auto">
          <a:xfrm>
            <a:off x="4379976" y="5794965"/>
            <a:ext cx="1609344" cy="411480"/>
          </a:xfrm>
          <a:prstGeom prst="rect">
            <a:avLst/>
          </a:prstGeom>
          <a:noFill/>
          <a:ln/>
        </p:spPr>
        <p:txBody>
          <a:bodyPr wrap="square" lIns="0" tIns="0" rIns="0" bIns="0" rtlCol="0" anchor="ctr"/>
          <a:lstStyle/>
          <a:p>
            <a:pPr marL="0" indent="0" algn="ctr">
              <a:buNone/>
              <a:defRPr/>
            </a:pPr>
            <a:r>
              <a:rPr lang="en-US" sz="1000">
                <a:solidFill>
                  <a:srgbClr val="5A6672"/>
                </a:solidFill>
                <a:latin typeface="Calibri"/>
                <a:ea typeface="Calibri"/>
                <a:cs typeface="Calibri"/>
              </a:rPr>
              <a:t>was 3.8 m before the rebuild</a:t>
            </a:r>
            <a:endParaRPr lang="en-US" sz="1000"/>
          </a:p>
        </p:txBody>
      </p:sp>
      <p:sp>
        <p:nvSpPr>
          <p:cNvPr id="1374481650" name="Text 16"/>
          <p:cNvSpPr txBox="1"/>
          <p:nvPr/>
        </p:nvSpPr>
        <p:spPr bwMode="auto">
          <a:xfrm>
            <a:off x="6263640" y="4912940"/>
            <a:ext cx="5394960" cy="1350699"/>
          </a:xfrm>
          <a:prstGeom prst="rect">
            <a:avLst/>
          </a:prstGeom>
          <a:noFill/>
          <a:ln/>
        </p:spPr>
        <p:txBody>
          <a:bodyPr wrap="square" lIns="0" tIns="0" rIns="0" bIns="0" rtlCol="0" anchor="ctr"/>
          <a:lstStyle/>
          <a:p>
            <a:pPr marL="0" indent="0">
              <a:buNone/>
              <a:defRPr/>
            </a:pPr>
            <a:r>
              <a:rPr lang="en-US" sz="1200">
                <a:solidFill>
                  <a:srgbClr val="1A1A1A"/>
                </a:solidFill>
                <a:latin typeface="Calibri"/>
                <a:ea typeface="Calibri"/>
                <a:cs typeface="Calibri"/>
              </a:rPr>
              <a:t>Attack: w = 4.0 rad/s published on /cmd_vel_raw at 100 Hz while the authorized controller commanded 0.18 rad/s. The network layer flagged the rogue publisher, the physics layer flagged the infeasible command and the CUSUM crossed tau, and the safety filter forwarded the authorized command until the wire was consistent again. Threshold calibrated in 20 s of benign driving.</a:t>
            </a:r>
            <a:endParaRPr lang="en-US" sz="1200"/>
          </a:p>
        </p:txBody>
      </p:sp>
      <p:sp>
        <p:nvSpPr>
          <p:cNvPr id="985880296" name="Text 17"/>
          <p:cNvSpPr txBox="1"/>
          <p:nvPr/>
        </p:nvSpPr>
        <p:spPr bwMode="auto">
          <a:xfrm>
            <a:off x="502920" y="6419088"/>
            <a:ext cx="7315200" cy="256032"/>
          </a:xfrm>
          <a:prstGeom prst="rect">
            <a:avLst/>
          </a:prstGeom>
          <a:noFill/>
          <a:ln/>
        </p:spPr>
        <p:txBody>
          <a:bodyPr wrap="square" lIns="0" tIns="0" rIns="0" bIns="0" rtlCol="0" anchor="ctr"/>
          <a:lstStyle/>
          <a:p>
            <a:pPr marL="0" indent="0">
              <a:buNone/>
              <a:defRPr/>
            </a:pPr>
            <a:r>
              <a:rPr lang="en-US" sz="900">
                <a:solidFill>
                  <a:srgbClr val="5A6672"/>
                </a:solidFill>
                <a:latin typeface="Calibri"/>
                <a:ea typeface="Calibri"/>
                <a:cs typeface="Calibri"/>
              </a:rPr>
              <a:t>21ECC402P  |  Shyam Rithin S  |  RA2311004010308</a:t>
            </a:r>
            <a:endParaRPr lang="en-US" sz="900"/>
          </a:p>
        </p:txBody>
      </p:sp>
      <p:sp>
        <p:nvSpPr>
          <p:cNvPr id="1026485985" name="Text 18"/>
          <p:cNvSpPr txBox="1"/>
          <p:nvPr/>
        </p:nvSpPr>
        <p:spPr bwMode="auto">
          <a:xfrm>
            <a:off x="11247120" y="6419088"/>
            <a:ext cx="457200" cy="256032"/>
          </a:xfrm>
          <a:prstGeom prst="rect">
            <a:avLst/>
          </a:prstGeom>
          <a:noFill/>
          <a:ln/>
        </p:spPr>
        <p:txBody>
          <a:bodyPr wrap="square" lIns="0" tIns="0" rIns="0" bIns="0" rtlCol="0" anchor="ctr"/>
          <a:lstStyle/>
          <a:p>
            <a:pPr marL="0" indent="0" algn="r">
              <a:buNone/>
              <a:defRPr/>
            </a:pPr>
            <a:r>
              <a:rPr lang="en-US" sz="900">
                <a:solidFill>
                  <a:srgbClr val="5A6672"/>
                </a:solidFill>
                <a:latin typeface="Calibri"/>
                <a:ea typeface="Calibri"/>
                <a:cs typeface="Calibri"/>
              </a:rPr>
              <a:t>15</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3">
    <p:bg>
      <p:bgPr shadeToTitle="0">
        <a:solidFill>
          <a:srgbClr val="FFFFFF"/>
        </a:solidFill>
      </p:bgPr>
    </p:bg>
    <p:spTree>
      <p:nvGrpSpPr>
        <p:cNvPr id="1" name=""/>
        <p:cNvGrpSpPr/>
        <p:nvPr/>
      </p:nvGrpSpPr>
      <p:grpSpPr bwMode="auto">
        <a:xfrm>
          <a:off x="0" y="0"/>
          <a:ext cx="0" cy="0"/>
          <a:chOff x="0" y="0"/>
          <a:chExt cx="0" cy="0"/>
        </a:xfrm>
      </p:grpSpPr>
      <p:pic>
        <p:nvPicPr>
          <p:cNvPr id="1044779519" name="Image 0" descr="/home/claude/deck/srm_logo.png"/>
          <p:cNvPicPr>
            <a:picLocks noChangeAspect="1"/>
          </p:cNvPicPr>
          <p:nvPr/>
        </p:nvPicPr>
        <p:blipFill rotWithShape="1">
          <a:blip r:embed="rId3"/>
          <a:stretch/>
        </p:blipFill>
        <p:spPr bwMode="auto">
          <a:xfrm>
            <a:off x="10195560" y="256032"/>
            <a:ext cx="1572768" cy="530352"/>
          </a:xfrm>
          <a:prstGeom prst="rect">
            <a:avLst/>
          </a:prstGeom>
        </p:spPr>
      </p:pic>
      <p:sp>
        <p:nvSpPr>
          <p:cNvPr id="642422859" name="Text 0"/>
          <p:cNvSpPr txBox="1"/>
          <p:nvPr/>
        </p:nvSpPr>
        <p:spPr bwMode="auto">
          <a:xfrm>
            <a:off x="502920" y="274320"/>
            <a:ext cx="9418320" cy="475488"/>
          </a:xfrm>
          <a:prstGeom prst="rect">
            <a:avLst/>
          </a:prstGeom>
          <a:noFill/>
          <a:ln/>
        </p:spPr>
        <p:txBody>
          <a:bodyPr wrap="square" lIns="0" tIns="0" rIns="0" bIns="0" rtlCol="0" anchor="ctr"/>
          <a:lstStyle/>
          <a:p>
            <a:pPr marL="0" indent="0" algn="l">
              <a:buNone/>
              <a:defRPr/>
            </a:pPr>
            <a:r>
              <a:rPr lang="en-US" sz="2700" b="1">
                <a:solidFill>
                  <a:srgbClr val="14509B"/>
                </a:solidFill>
                <a:latin typeface="Cambria"/>
                <a:ea typeface="Cambria"/>
                <a:cs typeface="Cambria"/>
              </a:rPr>
              <a:t>Results  -  Live Monitoring</a:t>
            </a:r>
            <a:endParaRPr lang="en-US" sz="2700"/>
          </a:p>
        </p:txBody>
      </p:sp>
      <p:sp>
        <p:nvSpPr>
          <p:cNvPr id="1319243731" name="Text 1"/>
          <p:cNvSpPr txBox="1"/>
          <p:nvPr/>
        </p:nvSpPr>
        <p:spPr bwMode="auto">
          <a:xfrm>
            <a:off x="502920" y="749808"/>
            <a:ext cx="9418320" cy="292608"/>
          </a:xfrm>
          <a:prstGeom prst="rect">
            <a:avLst/>
          </a:prstGeom>
          <a:noFill/>
          <a:ln/>
        </p:spPr>
        <p:txBody>
          <a:bodyPr wrap="square" lIns="0" tIns="0" rIns="0" bIns="0" rtlCol="0" anchor="ctr"/>
          <a:lstStyle/>
          <a:p>
            <a:pPr marL="0" indent="0" algn="l">
              <a:buNone/>
              <a:defRPr/>
            </a:pPr>
            <a:r>
              <a:rPr lang="en-US" sz="1300">
                <a:solidFill>
                  <a:srgbClr val="5A6672"/>
                </a:solidFill>
                <a:latin typeface="Calibri"/>
                <a:ea typeface="Calibri"/>
                <a:cs typeface="Calibri"/>
              </a:rPr>
              <a:t>The same attack on the operator dashboard and at packet level</a:t>
            </a:r>
            <a:endParaRPr lang="en-US" sz="1300"/>
          </a:p>
        </p:txBody>
      </p:sp>
      <p:pic>
        <p:nvPicPr>
          <p:cNvPr id="1988437764" name="Picture 1988437763" descr="fig10_dashboard.png"/>
          <p:cNvPicPr>
            <a:picLocks noChangeAspect="1"/>
          </p:cNvPicPr>
          <p:nvPr/>
        </p:nvPicPr>
        <p:blipFill>
          <a:blip r:embed="rId2"/>
          <a:stretch>
            <a:fillRect/>
          </a:stretch>
        </p:blipFill>
        <p:spPr>
          <a:xfrm>
            <a:off x="502920" y="1188720"/>
            <a:ext cx="6812280" cy="3928806"/>
          </a:xfrm>
          <a:prstGeom prst="rect">
            <a:avLst/>
          </a:prstGeom>
        </p:spPr>
      </p:pic>
      <p:sp>
        <p:nvSpPr>
          <p:cNvPr id="549667004" name="Text 2"/>
          <p:cNvSpPr txBox="1"/>
          <p:nvPr/>
        </p:nvSpPr>
        <p:spPr bwMode="auto">
          <a:xfrm>
            <a:off x="502920" y="5163245"/>
            <a:ext cx="6812280" cy="384048"/>
          </a:xfrm>
          <a:prstGeom prst="rect">
            <a:avLst/>
          </a:prstGeom>
          <a:noFill/>
          <a:ln/>
        </p:spPr>
        <p:txBody>
          <a:bodyPr wrap="square" lIns="0" tIns="0" rIns="0" bIns="0" rtlCol="0" anchor="ctr"/>
          <a:lstStyle/>
          <a:p>
            <a:pPr marL="0" indent="0">
              <a:buNone/>
              <a:defRPr/>
            </a:pPr>
            <a:r>
              <a:rPr lang="en-US" sz="1000" i="1">
                <a:solidFill>
                  <a:srgbClr val="5A6672"/>
                </a:solidFill>
                <a:latin typeface="Calibri"/>
                <a:ea typeface="Calibri"/>
                <a:cs typeface="Calibri"/>
              </a:rPr>
              <a:t>Fig. 10  -  IDS monitor during the injection: network and physics layers lit, safety filter blocking, wire vs authorized command, CUSUM and track deviation.</a:t>
            </a:r>
            <a:endParaRPr lang="en-US" sz="1000"/>
          </a:p>
        </p:txBody>
      </p:sp>
      <p:sp>
        <p:nvSpPr>
          <p:cNvPr id="454633733" name="Shape 4"/>
          <p:cNvSpPr/>
          <p:nvPr/>
        </p:nvSpPr>
        <p:spPr bwMode="auto">
          <a:xfrm>
            <a:off x="7589520" y="1188720"/>
            <a:ext cx="4069080" cy="1078992"/>
          </a:xfrm>
          <a:prstGeom prst="roundRect">
            <a:avLst>
              <a:gd name="adj" fmla="val 2581"/>
            </a:avLst>
          </a:prstGeom>
          <a:solidFill>
            <a:srgbClr val="EEF3F8"/>
          </a:solidFill>
          <a:ln w="12700">
            <a:solidFill>
              <a:srgbClr val="C9D2DC"/>
            </a:solidFill>
            <a:prstDash val="solid"/>
          </a:ln>
        </p:spPr>
      </p:sp>
      <p:sp>
        <p:nvSpPr>
          <p:cNvPr id="120680768" name="Text 5"/>
          <p:cNvSpPr txBox="1"/>
          <p:nvPr/>
        </p:nvSpPr>
        <p:spPr bwMode="auto">
          <a:xfrm>
            <a:off x="7589520" y="1243584"/>
            <a:ext cx="4069080" cy="457200"/>
          </a:xfrm>
          <a:prstGeom prst="rect">
            <a:avLst/>
          </a:prstGeom>
          <a:noFill/>
          <a:ln/>
        </p:spPr>
        <p:txBody>
          <a:bodyPr wrap="square" lIns="0" tIns="0" rIns="0" bIns="0" rtlCol="0" anchor="ctr"/>
          <a:lstStyle/>
          <a:p>
            <a:pPr marL="0" indent="0" algn="ctr">
              <a:buNone/>
              <a:defRPr/>
            </a:pPr>
            <a:r>
              <a:rPr lang="en-US" sz="2600" b="1">
                <a:solidFill>
                  <a:srgbClr val="14509B"/>
                </a:solidFill>
                <a:latin typeface="Cambria"/>
                <a:ea typeface="Cambria"/>
                <a:cs typeface="Cambria"/>
              </a:rPr>
              <a:t>50</a:t>
            </a:r>
            <a:endParaRPr lang="en-US" sz="2600"/>
          </a:p>
        </p:txBody>
      </p:sp>
      <p:sp>
        <p:nvSpPr>
          <p:cNvPr id="44060627" name="Text 6"/>
          <p:cNvSpPr txBox="1"/>
          <p:nvPr/>
        </p:nvSpPr>
        <p:spPr bwMode="auto">
          <a:xfrm>
            <a:off x="7662672" y="1691640"/>
            <a:ext cx="3922776" cy="256032"/>
          </a:xfrm>
          <a:prstGeom prst="rect">
            <a:avLst/>
          </a:prstGeom>
          <a:noFill/>
          <a:ln/>
        </p:spPr>
        <p:txBody>
          <a:bodyPr wrap="square" lIns="0" tIns="0" rIns="0" bIns="0" rtlCol="0" anchor="ctr"/>
          <a:lstStyle/>
          <a:p>
            <a:pPr marL="0" indent="0" algn="ctr">
              <a:buNone/>
              <a:defRPr/>
            </a:pPr>
            <a:r>
              <a:rPr lang="en-US" sz="1150" b="1">
                <a:solidFill>
                  <a:srgbClr val="1A1A1A"/>
                </a:solidFill>
                <a:latin typeface="Calibri"/>
                <a:ea typeface="Calibri"/>
                <a:cs typeface="Calibri"/>
              </a:rPr>
              <a:t>attack profiles</a:t>
            </a:r>
            <a:endParaRPr lang="en-US" sz="1150"/>
          </a:p>
        </p:txBody>
      </p:sp>
      <p:sp>
        <p:nvSpPr>
          <p:cNvPr id="148877104" name="Text 7"/>
          <p:cNvSpPr txBox="1"/>
          <p:nvPr/>
        </p:nvSpPr>
        <p:spPr bwMode="auto">
          <a:xfrm>
            <a:off x="7662672" y="1938528"/>
            <a:ext cx="3922776" cy="274320"/>
          </a:xfrm>
          <a:prstGeom prst="rect">
            <a:avLst/>
          </a:prstGeom>
          <a:noFill/>
          <a:ln/>
        </p:spPr>
        <p:txBody>
          <a:bodyPr wrap="square" lIns="0" tIns="0" rIns="0" bIns="0" rtlCol="0" anchor="ctr"/>
          <a:lstStyle/>
          <a:p>
            <a:pPr marL="0" indent="0" algn="ctr">
              <a:buNone/>
              <a:defRPr/>
            </a:pPr>
            <a:r>
              <a:rPr lang="en-US" sz="1000">
                <a:solidFill>
                  <a:srgbClr val="5A6672"/>
                </a:solidFill>
                <a:latin typeface="Calibri"/>
                <a:ea typeface="Calibri"/>
                <a:cs typeface="Calibri"/>
              </a:rPr>
              <a:t>20 injection, 11 spoofing, 8 discovery, 11 network</a:t>
            </a:r>
            <a:endParaRPr lang="en-US" sz="1000"/>
          </a:p>
        </p:txBody>
      </p:sp>
      <p:sp>
        <p:nvSpPr>
          <p:cNvPr id="1096130438" name="Shape 8"/>
          <p:cNvSpPr/>
          <p:nvPr/>
        </p:nvSpPr>
        <p:spPr bwMode="auto">
          <a:xfrm>
            <a:off x="7589520" y="2395728"/>
            <a:ext cx="4069080" cy="1078992"/>
          </a:xfrm>
          <a:prstGeom prst="roundRect">
            <a:avLst>
              <a:gd name="adj" fmla="val 2581"/>
            </a:avLst>
          </a:prstGeom>
          <a:solidFill>
            <a:srgbClr val="EEF3F8"/>
          </a:solidFill>
          <a:ln w="12700">
            <a:solidFill>
              <a:srgbClr val="C9D2DC"/>
            </a:solidFill>
            <a:prstDash val="solid"/>
          </a:ln>
        </p:spPr>
      </p:sp>
      <p:sp>
        <p:nvSpPr>
          <p:cNvPr id="896444152" name="Text 9"/>
          <p:cNvSpPr txBox="1"/>
          <p:nvPr/>
        </p:nvSpPr>
        <p:spPr bwMode="auto">
          <a:xfrm>
            <a:off x="7589520" y="2450592"/>
            <a:ext cx="4069080" cy="457200"/>
          </a:xfrm>
          <a:prstGeom prst="rect">
            <a:avLst/>
          </a:prstGeom>
          <a:noFill/>
          <a:ln/>
        </p:spPr>
        <p:txBody>
          <a:bodyPr wrap="square" lIns="0" tIns="0" rIns="0" bIns="0" rtlCol="0" anchor="ctr"/>
          <a:lstStyle/>
          <a:p>
            <a:pPr marL="0" indent="0" algn="ctr">
              <a:buNone/>
              <a:defRPr/>
            </a:pPr>
            <a:r>
              <a:rPr lang="en-US" sz="2600" b="1">
                <a:solidFill>
                  <a:srgbClr val="14509B"/>
                </a:solidFill>
                <a:latin typeface="Cambria"/>
                <a:ea typeface="Cambria"/>
                <a:cs typeface="Cambria"/>
              </a:rPr>
              <a:t>100x</a:t>
            </a:r>
            <a:endParaRPr lang="en-US" sz="2600"/>
          </a:p>
        </p:txBody>
      </p:sp>
      <p:sp>
        <p:nvSpPr>
          <p:cNvPr id="389466218" name="Text 10"/>
          <p:cNvSpPr txBox="1"/>
          <p:nvPr/>
        </p:nvSpPr>
        <p:spPr bwMode="auto">
          <a:xfrm>
            <a:off x="7662672" y="2898648"/>
            <a:ext cx="3922776" cy="256032"/>
          </a:xfrm>
          <a:prstGeom prst="rect">
            <a:avLst/>
          </a:prstGeom>
          <a:noFill/>
          <a:ln/>
        </p:spPr>
        <p:txBody>
          <a:bodyPr wrap="square" lIns="0" tIns="0" rIns="0" bIns="0" rtlCol="0" anchor="ctr"/>
          <a:lstStyle/>
          <a:p>
            <a:pPr marL="0" indent="0" algn="ctr">
              <a:buNone/>
              <a:defRPr/>
            </a:pPr>
            <a:r>
              <a:rPr lang="en-US" sz="1150" b="1">
                <a:solidFill>
                  <a:srgbClr val="1A1A1A"/>
                </a:solidFill>
                <a:latin typeface="Calibri"/>
                <a:ea typeface="Calibri"/>
                <a:cs typeface="Calibri"/>
              </a:rPr>
              <a:t>lower peak deviation</a:t>
            </a:r>
            <a:endParaRPr lang="en-US" sz="1150"/>
          </a:p>
        </p:txBody>
      </p:sp>
      <p:sp>
        <p:nvSpPr>
          <p:cNvPr id="44334498" name="Text 11"/>
          <p:cNvSpPr txBox="1"/>
          <p:nvPr/>
        </p:nvSpPr>
        <p:spPr bwMode="auto">
          <a:xfrm>
            <a:off x="7662672" y="3145536"/>
            <a:ext cx="3922776" cy="274320"/>
          </a:xfrm>
          <a:prstGeom prst="rect">
            <a:avLst/>
          </a:prstGeom>
          <a:noFill/>
          <a:ln/>
        </p:spPr>
        <p:txBody>
          <a:bodyPr wrap="square" lIns="0" tIns="0" rIns="0" bIns="0" rtlCol="0" anchor="ctr"/>
          <a:lstStyle/>
          <a:p>
            <a:pPr marL="0" indent="0" algn="ctr">
              <a:buNone/>
              <a:defRPr/>
            </a:pPr>
            <a:r>
              <a:rPr lang="en-US" sz="1000">
                <a:solidFill>
                  <a:srgbClr val="5A6672"/>
                </a:solidFill>
                <a:latin typeface="Calibri"/>
                <a:ea typeface="Calibri"/>
                <a:cs typeface="Calibri"/>
              </a:rPr>
              <a:t>0.019 m with the safety filter vs 1.94 m without</a:t>
            </a:r>
            <a:endParaRPr lang="en-US" sz="1000"/>
          </a:p>
        </p:txBody>
      </p:sp>
      <p:sp>
        <p:nvSpPr>
          <p:cNvPr id="447170344" name="Shape 12"/>
          <p:cNvSpPr/>
          <p:nvPr/>
        </p:nvSpPr>
        <p:spPr bwMode="auto">
          <a:xfrm>
            <a:off x="7589520" y="3602736"/>
            <a:ext cx="4069080" cy="1078992"/>
          </a:xfrm>
          <a:prstGeom prst="roundRect">
            <a:avLst>
              <a:gd name="adj" fmla="val 2581"/>
            </a:avLst>
          </a:prstGeom>
          <a:solidFill>
            <a:srgbClr val="EEF3F8"/>
          </a:solidFill>
          <a:ln w="12700">
            <a:solidFill>
              <a:srgbClr val="C9D2DC"/>
            </a:solidFill>
            <a:prstDash val="solid"/>
          </a:ln>
        </p:spPr>
      </p:sp>
      <p:sp>
        <p:nvSpPr>
          <p:cNvPr id="1988437763" name="Text 13"/>
          <p:cNvSpPr txBox="1"/>
          <p:nvPr/>
        </p:nvSpPr>
        <p:spPr bwMode="auto">
          <a:xfrm>
            <a:off x="7589520" y="3657600"/>
            <a:ext cx="4069080" cy="457200"/>
          </a:xfrm>
          <a:prstGeom prst="rect">
            <a:avLst/>
          </a:prstGeom>
          <a:noFill/>
          <a:ln/>
        </p:spPr>
        <p:txBody>
          <a:bodyPr wrap="square" lIns="0" tIns="0" rIns="0" bIns="0" rtlCol="0" anchor="ctr"/>
          <a:lstStyle/>
          <a:p>
            <a:pPr marL="0" indent="0" algn="ctr">
              <a:buNone/>
              <a:defRPr/>
            </a:pPr>
            <a:r>
              <a:rPr lang="en-US" sz="2600" b="1">
                <a:solidFill>
                  <a:srgbClr val="14509B"/>
                </a:solidFill>
                <a:latin typeface="Cambria"/>
                <a:ea typeface="Cambria"/>
                <a:cs typeface="Cambria"/>
              </a:rPr>
              <a:t>0.02 s</a:t>
            </a:r>
            <a:endParaRPr lang="en-US" sz="2600"/>
          </a:p>
        </p:txBody>
      </p:sp>
      <p:sp>
        <p:nvSpPr>
          <p:cNvPr id="120667724" name="Text 14"/>
          <p:cNvSpPr txBox="1"/>
          <p:nvPr/>
        </p:nvSpPr>
        <p:spPr bwMode="auto">
          <a:xfrm>
            <a:off x="7662672" y="4105656"/>
            <a:ext cx="3922776" cy="256032"/>
          </a:xfrm>
          <a:prstGeom prst="rect">
            <a:avLst/>
          </a:prstGeom>
          <a:noFill/>
          <a:ln/>
        </p:spPr>
        <p:txBody>
          <a:bodyPr wrap="square" lIns="0" tIns="0" rIns="0" bIns="0" rtlCol="0" anchor="ctr"/>
          <a:lstStyle/>
          <a:p>
            <a:pPr marL="0" indent="0" algn="ctr">
              <a:buNone/>
              <a:defRPr/>
            </a:pPr>
            <a:r>
              <a:rPr lang="en-US" sz="1150" b="1">
                <a:solidFill>
                  <a:srgbClr val="1A1A1A"/>
                </a:solidFill>
                <a:latin typeface="Calibri"/>
                <a:ea typeface="Calibri"/>
                <a:cs typeface="Calibri"/>
              </a:rPr>
              <a:t>network-layer detection</a:t>
            </a:r>
            <a:endParaRPr lang="en-US" sz="1150"/>
          </a:p>
        </p:txBody>
      </p:sp>
      <p:sp>
        <p:nvSpPr>
          <p:cNvPr id="51691296" name="Text 15"/>
          <p:cNvSpPr txBox="1"/>
          <p:nvPr/>
        </p:nvSpPr>
        <p:spPr bwMode="auto">
          <a:xfrm>
            <a:off x="7662672" y="4352544"/>
            <a:ext cx="3922776" cy="274320"/>
          </a:xfrm>
          <a:prstGeom prst="rect">
            <a:avLst/>
          </a:prstGeom>
          <a:noFill/>
          <a:ln/>
        </p:spPr>
        <p:txBody>
          <a:bodyPr wrap="square" lIns="0" tIns="0" rIns="0" bIns="0" rtlCol="0" anchor="ctr"/>
          <a:lstStyle/>
          <a:p>
            <a:pPr marL="0" indent="0" algn="ctr">
              <a:buNone/>
              <a:defRPr/>
            </a:pPr>
            <a:r>
              <a:rPr lang="en-US" sz="1000">
                <a:solidFill>
                  <a:srgbClr val="5A6672"/>
                </a:solidFill>
                <a:latin typeface="Calibri"/>
                <a:ea typeface="Calibri"/>
                <a:cs typeface="Calibri"/>
              </a:rPr>
              <a:t>rogue publisher on the command wire</a:t>
            </a:r>
            <a:endParaRPr lang="en-US" sz="1000"/>
          </a:p>
        </p:txBody>
      </p:sp>
      <p:sp>
        <p:nvSpPr>
          <p:cNvPr id="1374481650" name="Text 16"/>
          <p:cNvSpPr txBox="1"/>
          <p:nvPr/>
        </p:nvSpPr>
        <p:spPr bwMode="auto">
          <a:xfrm>
            <a:off x="7589520" y="4846320"/>
            <a:ext cx="4069080" cy="1417320"/>
          </a:xfrm>
          <a:prstGeom prst="rect">
            <a:avLst/>
          </a:prstGeom>
          <a:noFill/>
          <a:ln/>
        </p:spPr>
        <p:txBody>
          <a:bodyPr wrap="square" lIns="0" tIns="0" rIns="0" bIns="0" rtlCol="0" anchor="ctr"/>
          <a:lstStyle/>
          <a:p>
            <a:pPr marL="0" indent="0">
              <a:buNone/>
              <a:defRPr/>
            </a:pPr>
            <a:r>
              <a:rPr lang="en-US" sz="1200">
                <a:solidFill>
                  <a:srgbClr val="1A1A1A"/>
                </a:solidFill>
                <a:latin typeface="Calibri"/>
                <a:ea typeface="Calibri"/>
                <a:cs typeface="Calibri"/>
              </a:rPr>
              <a:t>In Wireshark the attacker's participant and publisher announcements appear during discovery, followed by a second writer interleaving commands on rt/cmd_vel_raw with the controller's 20 Hz stream. The monitor logs every sample to CSV for the report.</a:t>
            </a:r>
            <a:endParaRPr lang="en-US" sz="1200"/>
          </a:p>
        </p:txBody>
      </p:sp>
      <p:sp>
        <p:nvSpPr>
          <p:cNvPr id="985880296" name="Text 17"/>
          <p:cNvSpPr txBox="1"/>
          <p:nvPr/>
        </p:nvSpPr>
        <p:spPr bwMode="auto">
          <a:xfrm>
            <a:off x="502920" y="6419088"/>
            <a:ext cx="7315200" cy="256032"/>
          </a:xfrm>
          <a:prstGeom prst="rect">
            <a:avLst/>
          </a:prstGeom>
          <a:noFill/>
          <a:ln/>
        </p:spPr>
        <p:txBody>
          <a:bodyPr wrap="square" lIns="0" tIns="0" rIns="0" bIns="0" rtlCol="0" anchor="ctr"/>
          <a:lstStyle/>
          <a:p>
            <a:pPr marL="0" indent="0">
              <a:buNone/>
              <a:defRPr/>
            </a:pPr>
            <a:r>
              <a:rPr lang="en-US" sz="900">
                <a:solidFill>
                  <a:srgbClr val="5A6672"/>
                </a:solidFill>
                <a:latin typeface="Calibri"/>
                <a:ea typeface="Calibri"/>
                <a:cs typeface="Calibri"/>
              </a:rPr>
              <a:t>21ECC402P  |  Shyam Rithin S  |  RA2311004010308</a:t>
            </a:r>
            <a:endParaRPr lang="en-US" sz="900"/>
          </a:p>
        </p:txBody>
      </p:sp>
      <p:sp>
        <p:nvSpPr>
          <p:cNvPr id="1026485985" name="Text 18"/>
          <p:cNvSpPr txBox="1"/>
          <p:nvPr/>
        </p:nvSpPr>
        <p:spPr bwMode="auto">
          <a:xfrm>
            <a:off x="11247120" y="6419088"/>
            <a:ext cx="457200" cy="256032"/>
          </a:xfrm>
          <a:prstGeom prst="rect">
            <a:avLst/>
          </a:prstGeom>
          <a:noFill/>
          <a:ln/>
        </p:spPr>
        <p:txBody>
          <a:bodyPr wrap="square" lIns="0" tIns="0" rIns="0" bIns="0" rtlCol="0" anchor="ctr"/>
          <a:lstStyle/>
          <a:p>
            <a:pPr marL="0" indent="0" algn="r">
              <a:buNone/>
              <a:defRPr/>
            </a:pPr>
            <a:r>
              <a:rPr lang="en-US" sz="900">
                <a:solidFill>
                  <a:srgbClr val="5A6672"/>
                </a:solidFill>
                <a:latin typeface="Calibri"/>
                <a:ea typeface="Calibri"/>
                <a:cs typeface="Calibri"/>
              </a:rPr>
              <a:t>16</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5">
    <p:bg>
      <p:bgPr shadeToTitle="0">
        <a:solidFill>
          <a:srgbClr val="FFFFFF"/>
        </a:solidFill>
      </p:bgPr>
    </p:bg>
    <p:spTree>
      <p:nvGrpSpPr>
        <p:cNvPr id="1" name=""/>
        <p:cNvGrpSpPr/>
        <p:nvPr/>
      </p:nvGrpSpPr>
      <p:grpSpPr bwMode="auto">
        <a:xfrm>
          <a:off x="0" y="0"/>
          <a:ext cx="0" cy="0"/>
          <a:chOff x="0" y="0"/>
          <a:chExt cx="0" cy="0"/>
        </a:xfrm>
      </p:grpSpPr>
      <p:pic>
        <p:nvPicPr>
          <p:cNvPr id="1760699557" name="Image 0" descr="/home/claude/deck/srm_logo.png"/>
          <p:cNvPicPr>
            <a:picLocks noChangeAspect="1"/>
          </p:cNvPicPr>
          <p:nvPr/>
        </p:nvPicPr>
        <p:blipFill rotWithShape="1">
          <a:blip r:embed="rId3"/>
          <a:stretch/>
        </p:blipFill>
        <p:spPr bwMode="auto">
          <a:xfrm>
            <a:off x="10195560" y="256032"/>
            <a:ext cx="1572768" cy="530352"/>
          </a:xfrm>
          <a:prstGeom prst="rect">
            <a:avLst/>
          </a:prstGeom>
        </p:spPr>
      </p:pic>
      <p:sp>
        <p:nvSpPr>
          <p:cNvPr id="2065494392" name="Text 0"/>
          <p:cNvSpPr txBox="1"/>
          <p:nvPr/>
        </p:nvSpPr>
        <p:spPr bwMode="auto">
          <a:xfrm>
            <a:off x="502920" y="274320"/>
            <a:ext cx="9418320" cy="475488"/>
          </a:xfrm>
          <a:prstGeom prst="rect">
            <a:avLst/>
          </a:prstGeom>
          <a:noFill/>
          <a:ln/>
        </p:spPr>
        <p:txBody>
          <a:bodyPr wrap="square" lIns="0" tIns="0" rIns="0" bIns="0" rtlCol="0" anchor="ctr"/>
          <a:lstStyle/>
          <a:p>
            <a:pPr marL="0" indent="0" algn="l">
              <a:buNone/>
              <a:defRPr/>
            </a:pPr>
            <a:r>
              <a:rPr lang="en-US" sz="2700" b="1">
                <a:solidFill>
                  <a:srgbClr val="14509B"/>
                </a:solidFill>
                <a:latin typeface="Cambria"/>
                <a:ea typeface="Cambria"/>
                <a:cs typeface="Cambria"/>
              </a:rPr>
              <a:t>Conclusion</a:t>
            </a:r>
            <a:endParaRPr lang="en-US" sz="2700"/>
          </a:p>
        </p:txBody>
      </p:sp>
      <p:sp>
        <p:nvSpPr>
          <p:cNvPr id="1723829641" name="Text 1"/>
          <p:cNvSpPr txBox="1"/>
          <p:nvPr/>
        </p:nvSpPr>
        <p:spPr bwMode="auto">
          <a:xfrm>
            <a:off x="502920" y="1188720"/>
            <a:ext cx="5394960" cy="292608"/>
          </a:xfrm>
          <a:prstGeom prst="rect">
            <a:avLst/>
          </a:prstGeom>
          <a:noFill/>
          <a:ln/>
        </p:spPr>
        <p:txBody>
          <a:bodyPr wrap="square" lIns="0" tIns="0" rIns="0" bIns="0" rtlCol="0" anchor="ctr"/>
          <a:lstStyle/>
          <a:p>
            <a:pPr marL="0" indent="0">
              <a:buNone/>
              <a:defRPr/>
            </a:pPr>
            <a:r>
              <a:rPr lang="en-US" sz="1600" b="1">
                <a:solidFill>
                  <a:srgbClr val="14509B"/>
                </a:solidFill>
                <a:latin typeface="Cambria"/>
                <a:ea typeface="Cambria"/>
                <a:cs typeface="Cambria"/>
              </a:rPr>
              <a:t>Completed</a:t>
            </a:r>
            <a:endParaRPr lang="en-US" sz="1600"/>
          </a:p>
        </p:txBody>
      </p:sp>
      <p:sp>
        <p:nvSpPr>
          <p:cNvPr id="1401842501" name="Text 2"/>
          <p:cNvSpPr txBox="1"/>
          <p:nvPr/>
        </p:nvSpPr>
        <p:spPr bwMode="auto">
          <a:xfrm>
            <a:off x="502920" y="1554480"/>
            <a:ext cx="5394960" cy="2926080"/>
          </a:xfrm>
          <a:prstGeom prst="rect">
            <a:avLst/>
          </a:prstGeom>
          <a:noFill/>
          <a:ln/>
        </p:spPr>
        <p:txBody>
          <a:bodyPr wrap="square" lIns="0" tIns="0" rIns="0" bIns="0" rtlCol="0" anchor="t"/>
          <a:lstStyle/>
          <a:p>
            <a:pPr marL="342900" indent="-342900">
              <a:spcAft>
                <a:spcPts val="900"/>
              </a:spcAft>
              <a:buSzPct val="100000"/>
              <a:buChar char="•"/>
              <a:defRPr/>
            </a:pPr>
            <a:r>
              <a:rPr lang="en-US" sz="1250">
                <a:solidFill>
                  <a:srgbClr val="1A1A1A"/>
                </a:solidFill>
                <a:latin typeface="Calibri"/>
                <a:ea typeface="Calibri"/>
                <a:cs typeface="Calibri"/>
              </a:rPr>
              <a:t>Threat model and attack taxonomy defined for ROS 2 / DDS.</a:t>
            </a:r>
            <a:endParaRPr lang="en-US" sz="1250"/>
          </a:p>
          <a:p>
            <a:pPr marL="342900" indent="-342900">
              <a:spcAft>
                <a:spcPts val="900"/>
              </a:spcAft>
              <a:buSzPct val="100000"/>
              <a:buChar char="•"/>
              <a:defRPr/>
            </a:pPr>
            <a:r>
              <a:rPr lang="en-US" sz="1250">
                <a:solidFill>
                  <a:srgbClr val="1A1A1A"/>
                </a:solidFill>
                <a:latin typeface="Calibri"/>
                <a:ea typeface="Calibri"/>
                <a:cs typeface="Calibri"/>
              </a:rPr>
              <a:t>Cross-layer detector with an inline safety filter, implemented as a ROS 2 package.</a:t>
            </a:r>
            <a:endParaRPr lang="en-US" sz="1250"/>
          </a:p>
          <a:p>
            <a:pPr marL="342900" indent="-342900">
              <a:spcAft>
                <a:spcPts val="900"/>
              </a:spcAft>
              <a:buSzPct val="100000"/>
              <a:buChar char="•"/>
              <a:defRPr/>
            </a:pPr>
            <a:r>
              <a:rPr lang="en-US" sz="1250">
                <a:solidFill>
                  <a:srgbClr val="1A1A1A"/>
                </a:solidFill>
                <a:latin typeface="Calibri"/>
                <a:ea typeface="Calibri"/>
                <a:cs typeface="Calibri"/>
              </a:rPr>
              <a:t>Gazebo Harmonic digital twin with ground-truth-coupled RViz2 and a 50-profile attack catalogue.</a:t>
            </a:r>
            <a:endParaRPr lang="en-US" sz="1250"/>
          </a:p>
          <a:p>
            <a:pPr marL="342900" indent="-342900">
              <a:spcAft>
                <a:spcPts val="900"/>
              </a:spcAft>
              <a:buSzPct val="100000"/>
              <a:buChar char="•"/>
              <a:defRPr/>
            </a:pPr>
            <a:r>
              <a:rPr lang="en-US" sz="1250">
                <a:solidFill>
                  <a:srgbClr val="1A1A1A"/>
                </a:solidFill>
                <a:latin typeface="Calibri"/>
                <a:ea typeface="Calibri"/>
                <a:cs typeface="Calibri"/>
              </a:rPr>
              <a:t>Live web monitor and Wireshark RTPS analysis of the attack traffic.</a:t>
            </a:r>
            <a:endParaRPr lang="en-US" sz="1250"/>
          </a:p>
          <a:p>
            <a:pPr marL="342900" indent="-342900">
              <a:spcAft>
                <a:spcPts val="900"/>
              </a:spcAft>
              <a:buSzPct val="100000"/>
              <a:buChar char="•"/>
              <a:defRPr/>
            </a:pPr>
            <a:r>
              <a:rPr lang="en-US" sz="1250">
                <a:solidFill>
                  <a:srgbClr val="1A1A1A"/>
                </a:solidFill>
                <a:latin typeface="Calibri"/>
                <a:ea typeface="Calibri"/>
                <a:cs typeface="Calibri"/>
              </a:rPr>
              <a:t>Ablation shows each layer catches attacks the other misses; the safety filter cuts peak deviation 100x.</a:t>
            </a:r>
            <a:endParaRPr lang="en-US" sz="1250"/>
          </a:p>
        </p:txBody>
      </p:sp>
      <p:sp>
        <p:nvSpPr>
          <p:cNvPr id="10970208" name="Text 3"/>
          <p:cNvSpPr txBox="1"/>
          <p:nvPr/>
        </p:nvSpPr>
        <p:spPr bwMode="auto">
          <a:xfrm>
            <a:off x="6263640" y="1188720"/>
            <a:ext cx="5394960" cy="292608"/>
          </a:xfrm>
          <a:prstGeom prst="rect">
            <a:avLst/>
          </a:prstGeom>
          <a:noFill/>
          <a:ln/>
        </p:spPr>
        <p:txBody>
          <a:bodyPr wrap="square" lIns="0" tIns="0" rIns="0" bIns="0" rtlCol="0" anchor="ctr"/>
          <a:lstStyle/>
          <a:p>
            <a:pPr marL="0" indent="0">
              <a:buNone/>
              <a:defRPr/>
            </a:pPr>
            <a:r>
              <a:rPr lang="en-US" sz="1600" b="1">
                <a:solidFill>
                  <a:srgbClr val="14509B"/>
                </a:solidFill>
                <a:latin typeface="Cambria"/>
                <a:ea typeface="Cambria"/>
                <a:cs typeface="Cambria"/>
              </a:rPr>
              <a:t>Remaining  (by 27 Oct 2026)</a:t>
            </a:r>
            <a:endParaRPr lang="en-US" sz="1600"/>
          </a:p>
        </p:txBody>
      </p:sp>
      <p:sp>
        <p:nvSpPr>
          <p:cNvPr id="169360627" name="Text 4"/>
          <p:cNvSpPr txBox="1"/>
          <p:nvPr/>
        </p:nvSpPr>
        <p:spPr bwMode="auto">
          <a:xfrm>
            <a:off x="6263640" y="1554480"/>
            <a:ext cx="5394960" cy="2926080"/>
          </a:xfrm>
          <a:prstGeom prst="rect">
            <a:avLst/>
          </a:prstGeom>
          <a:noFill/>
          <a:ln/>
        </p:spPr>
        <p:txBody>
          <a:bodyPr wrap="square" lIns="0" tIns="0" rIns="0" bIns="0" rtlCol="0" anchor="t"/>
          <a:lstStyle/>
          <a:p>
            <a:pPr marL="342900" indent="-342900">
              <a:spcAft>
                <a:spcPts val="900"/>
              </a:spcAft>
              <a:buSzPct val="100000"/>
              <a:buChar char="•"/>
              <a:defRPr/>
            </a:pPr>
            <a:r>
              <a:rPr lang="en-US" sz="1250">
                <a:solidFill>
                  <a:srgbClr val="1A1A1A"/>
                </a:solidFill>
                <a:latin typeface="Calibri"/>
                <a:ea typeface="Calibri"/>
                <a:cs typeface="Calibri"/>
              </a:rPr>
              <a:t>Deploy the detector on the physical articubot_one (Raspberry Pi 4).</a:t>
            </a:r>
            <a:endParaRPr lang="en-US" sz="1250"/>
          </a:p>
          <a:p>
            <a:pPr marL="342900" indent="-342900">
              <a:spcAft>
                <a:spcPts val="900"/>
              </a:spcAft>
              <a:buSzPct val="100000"/>
              <a:buChar char="•"/>
              <a:defRPr/>
            </a:pPr>
            <a:r>
              <a:rPr lang="en-US" sz="1250">
                <a:solidFill>
                  <a:srgbClr val="1A1A1A"/>
                </a:solidFill>
                <a:latin typeface="Calibri"/>
                <a:ea typeface="Calibri"/>
                <a:cs typeface="Calibri"/>
              </a:rPr>
              <a:t>Measure CPU / memory overhead and end-to-end detection latency on hardware.</a:t>
            </a:r>
            <a:endParaRPr lang="en-US" sz="1250"/>
          </a:p>
          <a:p>
            <a:pPr marL="342900" indent="-342900">
              <a:spcAft>
                <a:spcPts val="900"/>
              </a:spcAft>
              <a:buSzPct val="100000"/>
              <a:buChar char="•"/>
              <a:defRPr/>
            </a:pPr>
            <a:r>
              <a:rPr lang="en-US" sz="1250">
                <a:solidFill>
                  <a:srgbClr val="1A1A1A"/>
                </a:solidFill>
                <a:latin typeface="Calibri"/>
                <a:ea typeface="Calibri"/>
                <a:cs typeface="Calibri"/>
              </a:rPr>
              <a:t>Full evaluation over the attack catalogue: detection rate, false alarms, latency.</a:t>
            </a:r>
            <a:endParaRPr lang="en-US" sz="1250"/>
          </a:p>
          <a:p>
            <a:pPr marL="342900" indent="-342900">
              <a:spcAft>
                <a:spcPts val="900"/>
              </a:spcAft>
              <a:buSzPct val="100000"/>
              <a:buChar char="•"/>
              <a:defRPr/>
            </a:pPr>
            <a:r>
              <a:rPr lang="en-US" sz="1250">
                <a:solidFill>
                  <a:srgbClr val="1A1A1A"/>
                </a:solidFill>
                <a:latin typeface="Calibri"/>
                <a:ea typeface="Calibri"/>
                <a:cs typeface="Calibri"/>
              </a:rPr>
              <a:t>Quantify false alarms under real wheel slip and sensor noise.</a:t>
            </a:r>
            <a:endParaRPr lang="en-US" sz="1250"/>
          </a:p>
          <a:p>
            <a:pPr marL="342900" indent="-342900">
              <a:spcAft>
                <a:spcPts val="900"/>
              </a:spcAft>
              <a:buSzPct val="100000"/>
              <a:buChar char="•"/>
              <a:defRPr/>
            </a:pPr>
            <a:r>
              <a:rPr lang="en-US" sz="1250">
                <a:solidFill>
                  <a:srgbClr val="1A1A1A"/>
                </a:solidFill>
                <a:latin typeface="Calibri"/>
                <a:ea typeface="Calibri"/>
                <a:cs typeface="Calibri"/>
              </a:rPr>
              <a:t>Release the attack catalogue, monitor and dataset with the report (3 Nov).</a:t>
            </a:r>
            <a:endParaRPr lang="en-US" sz="1250"/>
          </a:p>
        </p:txBody>
      </p:sp>
      <p:sp>
        <p:nvSpPr>
          <p:cNvPr id="1438496714" name="Shape 5"/>
          <p:cNvSpPr/>
          <p:nvPr/>
        </p:nvSpPr>
        <p:spPr bwMode="auto">
          <a:xfrm>
            <a:off x="502920" y="4617720"/>
            <a:ext cx="11155680" cy="1417320"/>
          </a:xfrm>
          <a:prstGeom prst="roundRect">
            <a:avLst>
              <a:gd name="adj" fmla="val 2581"/>
            </a:avLst>
          </a:prstGeom>
          <a:solidFill>
            <a:srgbClr val="EEF3F8"/>
          </a:solidFill>
          <a:ln w="12700">
            <a:solidFill>
              <a:srgbClr val="14509B"/>
            </a:solidFill>
            <a:prstDash val="solid"/>
          </a:ln>
        </p:spPr>
      </p:sp>
      <p:sp>
        <p:nvSpPr>
          <p:cNvPr id="1465651949" name="Text 6"/>
          <p:cNvSpPr txBox="1"/>
          <p:nvPr/>
        </p:nvSpPr>
        <p:spPr bwMode="auto">
          <a:xfrm>
            <a:off x="731520" y="4754880"/>
            <a:ext cx="10698480" cy="274320"/>
          </a:xfrm>
          <a:prstGeom prst="rect">
            <a:avLst/>
          </a:prstGeom>
          <a:noFill/>
          <a:ln/>
        </p:spPr>
        <p:txBody>
          <a:bodyPr wrap="square" lIns="0" tIns="0" rIns="0" bIns="0" rtlCol="0" anchor="ctr"/>
          <a:lstStyle/>
          <a:p>
            <a:pPr marL="0" indent="0">
              <a:buNone/>
              <a:defRPr/>
            </a:pPr>
            <a:r>
              <a:rPr lang="en-US" sz="1500" b="1">
                <a:solidFill>
                  <a:srgbClr val="14509B"/>
                </a:solidFill>
                <a:latin typeface="Cambria"/>
                <a:ea typeface="Cambria"/>
                <a:cs typeface="Cambria"/>
              </a:rPr>
              <a:t>Contribution</a:t>
            </a:r>
            <a:endParaRPr lang="en-US" sz="1500"/>
          </a:p>
        </p:txBody>
      </p:sp>
      <p:sp>
        <p:nvSpPr>
          <p:cNvPr id="727468570" name="Text 7"/>
          <p:cNvSpPr txBox="1"/>
          <p:nvPr/>
        </p:nvSpPr>
        <p:spPr bwMode="auto">
          <a:xfrm>
            <a:off x="731520" y="5074920"/>
            <a:ext cx="10698480" cy="822960"/>
          </a:xfrm>
          <a:prstGeom prst="rect">
            <a:avLst/>
          </a:prstGeom>
          <a:noFill/>
          <a:ln/>
        </p:spPr>
        <p:txBody>
          <a:bodyPr wrap="square" lIns="0" tIns="0" rIns="0" bIns="0" rtlCol="0" anchor="ctr"/>
          <a:lstStyle/>
          <a:p>
            <a:pPr marL="0" indent="0">
              <a:buNone/>
              <a:defRPr/>
            </a:pPr>
            <a:r>
              <a:rPr lang="en-US" sz="1300">
                <a:solidFill>
                  <a:srgbClr val="1A1A1A"/>
                </a:solidFill>
                <a:latin typeface="Calibri"/>
                <a:ea typeface="Calibri"/>
                <a:cs typeface="Calibri"/>
              </a:rPr>
              <a:t>Physics-based attack detection is established. Network intrusion detection for ROS 2 is established. Fusing them on ROS 2 has not been done - and this project shows each layer detects attacks the other is blind to, which is the reason the fusion is necessary rather than merely convenient.</a:t>
            </a:r>
            <a:endParaRPr lang="en-US" sz="1300"/>
          </a:p>
        </p:txBody>
      </p:sp>
      <p:sp>
        <p:nvSpPr>
          <p:cNvPr id="327438025" name="Text 8"/>
          <p:cNvSpPr txBox="1"/>
          <p:nvPr/>
        </p:nvSpPr>
        <p:spPr bwMode="auto">
          <a:xfrm>
            <a:off x="502920" y="6419088"/>
            <a:ext cx="7315200" cy="256032"/>
          </a:xfrm>
          <a:prstGeom prst="rect">
            <a:avLst/>
          </a:prstGeom>
          <a:noFill/>
          <a:ln/>
        </p:spPr>
        <p:txBody>
          <a:bodyPr wrap="square" lIns="0" tIns="0" rIns="0" bIns="0" rtlCol="0" anchor="ctr"/>
          <a:lstStyle/>
          <a:p>
            <a:pPr marL="0" indent="0">
              <a:buNone/>
              <a:defRPr/>
            </a:pPr>
            <a:r>
              <a:rPr lang="en-US" sz="900">
                <a:solidFill>
                  <a:srgbClr val="5A6672"/>
                </a:solidFill>
                <a:latin typeface="Calibri"/>
                <a:ea typeface="Calibri"/>
                <a:cs typeface="Calibri"/>
              </a:rPr>
              <a:t>21ECC402P  |  Shyam Rithin S  |  RA2311004010308</a:t>
            </a:r>
            <a:endParaRPr lang="en-US" sz="900"/>
          </a:p>
        </p:txBody>
      </p:sp>
      <p:sp>
        <p:nvSpPr>
          <p:cNvPr id="574980374" name="Text 9"/>
          <p:cNvSpPr txBox="1"/>
          <p:nvPr/>
        </p:nvSpPr>
        <p:spPr bwMode="auto">
          <a:xfrm>
            <a:off x="11247120" y="6419088"/>
            <a:ext cx="457200" cy="256032"/>
          </a:xfrm>
          <a:prstGeom prst="rect">
            <a:avLst/>
          </a:prstGeom>
          <a:noFill/>
          <a:ln/>
        </p:spPr>
        <p:txBody>
          <a:bodyPr wrap="square" lIns="0" tIns="0" rIns="0" bIns="0" rtlCol="0" anchor="ctr"/>
          <a:lstStyle/>
          <a:p>
            <a:pPr marL="0" indent="0" algn="r">
              <a:buNone/>
              <a:defRPr/>
            </a:pPr>
            <a:r>
              <a:rPr lang="en-US" sz="900">
                <a:solidFill>
                  <a:srgbClr val="5A6672"/>
                </a:solidFill>
                <a:latin typeface="Calibri"/>
                <a:ea typeface="Calibri"/>
                <a:cs typeface="Calibri"/>
              </a:rPr>
              <a:t>17</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6">
    <p:bg>
      <p:bgPr shadeToTitle="0">
        <a:solidFill>
          <a:srgbClr val="FFFFFF"/>
        </a:solidFill>
      </p:bgPr>
    </p:bg>
    <p:spTree>
      <p:nvGrpSpPr>
        <p:cNvPr id="1" name=""/>
        <p:cNvGrpSpPr/>
        <p:nvPr/>
      </p:nvGrpSpPr>
      <p:grpSpPr bwMode="auto">
        <a:xfrm>
          <a:off x="0" y="0"/>
          <a:ext cx="0" cy="0"/>
          <a:chOff x="0" y="0"/>
          <a:chExt cx="0" cy="0"/>
        </a:xfrm>
      </p:grpSpPr>
      <p:pic>
        <p:nvPicPr>
          <p:cNvPr id="473585168" name="Image 0" descr="/home/claude/deck/srm_logo.png"/>
          <p:cNvPicPr>
            <a:picLocks noChangeAspect="1"/>
          </p:cNvPicPr>
          <p:nvPr/>
        </p:nvPicPr>
        <p:blipFill rotWithShape="1">
          <a:blip r:embed="rId3"/>
          <a:stretch/>
        </p:blipFill>
        <p:spPr bwMode="auto">
          <a:xfrm>
            <a:off x="10195560" y="256032"/>
            <a:ext cx="1572768" cy="530352"/>
          </a:xfrm>
          <a:prstGeom prst="rect">
            <a:avLst/>
          </a:prstGeom>
        </p:spPr>
      </p:pic>
      <p:sp>
        <p:nvSpPr>
          <p:cNvPr id="1079173325" name="Text 0"/>
          <p:cNvSpPr txBox="1"/>
          <p:nvPr/>
        </p:nvSpPr>
        <p:spPr bwMode="auto">
          <a:xfrm>
            <a:off x="502920" y="274320"/>
            <a:ext cx="9418320" cy="475488"/>
          </a:xfrm>
          <a:prstGeom prst="rect">
            <a:avLst/>
          </a:prstGeom>
          <a:noFill/>
          <a:ln/>
        </p:spPr>
        <p:txBody>
          <a:bodyPr wrap="square" lIns="0" tIns="0" rIns="0" bIns="0" rtlCol="0" anchor="ctr"/>
          <a:lstStyle/>
          <a:p>
            <a:pPr marL="0" indent="0" algn="l">
              <a:buNone/>
              <a:defRPr/>
            </a:pPr>
            <a:r>
              <a:rPr lang="en-US" sz="2700" b="1">
                <a:solidFill>
                  <a:srgbClr val="14509B"/>
                </a:solidFill>
                <a:latin typeface="Cambria"/>
                <a:ea typeface="Cambria"/>
                <a:cs typeface="Cambria"/>
              </a:rPr>
              <a:t>Time Frame</a:t>
            </a:r>
            <a:endParaRPr lang="en-US" sz="2700"/>
          </a:p>
        </p:txBody>
      </p:sp>
      <p:graphicFrame>
        <p:nvGraphicFramePr>
          <p:cNvPr id="1071930443" name="Table 0"/>
          <p:cNvGraphicFramePr>
            <a:graphicFrameLocks xmlns:a="http://schemas.openxmlformats.org/drawingml/2006/main" noGrp="1"/>
          </p:cNvGraphicFramePr>
          <p:nvPr/>
        </p:nvGraphicFramePr>
        <p:xfrm rot="0">
          <a:off x="502920" y="1234440"/>
          <a:ext cx="11155680" cy="914400"/>
        </p:xfrm>
        <a:graphic>
          <a:graphicData uri="http://schemas.openxmlformats.org/drawingml/2006/table">
            <a:tbl>
              <a:tblPr firstRow="0" firstCol="0" lastRow="0" lastCol="0" bandRow="0" bandCol="0"/>
              <a:tblGrid>
                <a:gridCol w="1234440"/>
                <a:gridCol w="1965960"/>
                <a:gridCol w="4846320"/>
                <a:gridCol w="1554480"/>
                <a:gridCol w="1554480"/>
              </a:tblGrid>
              <a:tr h="347472">
                <a:tc>
                  <a:txBody>
                    <a:bodyPr/>
                    <a:p>
                      <a:pPr marL="0" indent="0">
                        <a:buNone/>
                        <a:defRPr/>
                      </a:pPr>
                      <a:r>
                        <a:rPr lang="en-US" sz="1050" b="1">
                          <a:solidFill>
                            <a:srgbClr val="FFFFFF"/>
                          </a:solidFill>
                          <a:latin typeface="Calibri"/>
                          <a:ea typeface="Calibri"/>
                          <a:cs typeface="Calibri"/>
                        </a:rPr>
                        <a:t>Phase</a:t>
                      </a:r>
                      <a:endParaRPr lang="en-US" sz="1050">
                        <a:latin typeface="Calibri"/>
                        <a:ea typeface="Calibri"/>
                        <a:cs typeface="Calibri"/>
                      </a:endParaRPr>
                    </a:p>
                  </a:txBody>
                  <a:tcPr marL="63500" marR="63500" marT="50800" marB="50800" anchor="ctr">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14509B"/>
                    </a:solidFill>
                  </a:tcPr>
                </a:tc>
                <a:tc>
                  <a:txBody>
                    <a:bodyPr/>
                    <a:p>
                      <a:pPr marL="0" indent="0">
                        <a:buNone/>
                        <a:defRPr/>
                      </a:pPr>
                      <a:r>
                        <a:rPr lang="en-US" sz="1050" b="1">
                          <a:solidFill>
                            <a:srgbClr val="FFFFFF"/>
                          </a:solidFill>
                          <a:latin typeface="Calibri"/>
                          <a:ea typeface="Calibri"/>
                          <a:cs typeface="Calibri"/>
                        </a:rPr>
                        <a:t>Milestone</a:t>
                      </a:r>
                      <a:endParaRPr lang="en-US" sz="1050">
                        <a:latin typeface="Calibri"/>
                        <a:ea typeface="Calibri"/>
                        <a:cs typeface="Calibri"/>
                      </a:endParaRPr>
                    </a:p>
                  </a:txBody>
                  <a:tcPr marL="63500" marR="63500" marT="50800" marB="50800" anchor="ctr">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14509B"/>
                    </a:solidFill>
                  </a:tcPr>
                </a:tc>
                <a:tc>
                  <a:txBody>
                    <a:bodyPr/>
                    <a:p>
                      <a:pPr marL="0" indent="0">
                        <a:buNone/>
                        <a:defRPr/>
                      </a:pPr>
                      <a:r>
                        <a:rPr lang="en-US" sz="1050" b="1">
                          <a:solidFill>
                            <a:srgbClr val="FFFFFF"/>
                          </a:solidFill>
                          <a:latin typeface="Calibri"/>
                          <a:ea typeface="Calibri"/>
                          <a:cs typeface="Calibri"/>
                        </a:rPr>
                        <a:t>Work</a:t>
                      </a:r>
                      <a:endParaRPr lang="en-US" sz="1050">
                        <a:latin typeface="Calibri"/>
                        <a:ea typeface="Calibri"/>
                        <a:cs typeface="Calibri"/>
                      </a:endParaRPr>
                    </a:p>
                  </a:txBody>
                  <a:tcPr marL="63500" marR="63500" marT="50800" marB="50800" anchor="ctr">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14509B"/>
                    </a:solidFill>
                  </a:tcPr>
                </a:tc>
                <a:tc>
                  <a:txBody>
                    <a:bodyPr/>
                    <a:p>
                      <a:pPr marL="0" indent="0">
                        <a:buNone/>
                        <a:defRPr/>
                      </a:pPr>
                      <a:r>
                        <a:rPr lang="en-US" sz="1050" b="1">
                          <a:solidFill>
                            <a:srgbClr val="FFFFFF"/>
                          </a:solidFill>
                          <a:latin typeface="Calibri"/>
                          <a:ea typeface="Calibri"/>
                          <a:cs typeface="Calibri"/>
                        </a:rPr>
                        <a:t>Target</a:t>
                      </a:r>
                      <a:endParaRPr lang="en-US" sz="1050">
                        <a:latin typeface="Calibri"/>
                        <a:ea typeface="Calibri"/>
                        <a:cs typeface="Calibri"/>
                      </a:endParaRPr>
                    </a:p>
                  </a:txBody>
                  <a:tcPr marL="63500" marR="63500" marT="50800" marB="50800" anchor="ctr">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14509B"/>
                    </a:solidFill>
                  </a:tcPr>
                </a:tc>
                <a:tc>
                  <a:txBody>
                    <a:bodyPr/>
                    <a:p>
                      <a:pPr marL="0" indent="0">
                        <a:buNone/>
                        <a:defRPr/>
                      </a:pPr>
                      <a:r>
                        <a:rPr lang="en-US" sz="1050" b="1">
                          <a:solidFill>
                            <a:srgbClr val="FFFFFF"/>
                          </a:solidFill>
                          <a:latin typeface="Calibri"/>
                          <a:ea typeface="Calibri"/>
                          <a:cs typeface="Calibri"/>
                        </a:rPr>
                        <a:t>Status</a:t>
                      </a:r>
                      <a:endParaRPr lang="en-US" sz="1050">
                        <a:latin typeface="Calibri"/>
                        <a:ea typeface="Calibri"/>
                        <a:cs typeface="Calibri"/>
                      </a:endParaRPr>
                    </a:p>
                  </a:txBody>
                  <a:tcPr marL="63500" marR="63500" marT="50800" marB="50800" anchor="ctr">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14509B"/>
                    </a:solidFill>
                  </a:tcPr>
                </a:tc>
              </a:tr>
              <a:tr h="749808">
                <a:tc>
                  <a:txBody>
                    <a:bodyPr/>
                    <a:p>
                      <a:pPr marL="0" indent="0">
                        <a:buNone/>
                        <a:defRPr/>
                      </a:pPr>
                      <a:r>
                        <a:rPr lang="en-US" sz="1150" b="1">
                          <a:solidFill>
                            <a:srgbClr val="1A1A1A"/>
                          </a:solidFill>
                          <a:latin typeface="Calibri"/>
                          <a:ea typeface="Calibri"/>
                          <a:cs typeface="Calibri"/>
                        </a:rPr>
                        <a:t>Review 1</a:t>
                      </a:r>
                      <a:endParaRPr lang="en-US" sz="115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tcPr>
                </a:tc>
                <a:tc>
                  <a:txBody>
                    <a:bodyPr/>
                    <a:p>
                      <a:pPr marL="0" indent="0">
                        <a:buNone/>
                        <a:defRPr/>
                      </a:pPr>
                      <a:r>
                        <a:rPr lang="en-US" sz="1150">
                          <a:solidFill>
                            <a:srgbClr val="1A1A1A"/>
                          </a:solidFill>
                          <a:latin typeface="Calibri"/>
                          <a:ea typeface="Calibri"/>
                          <a:cs typeface="Calibri"/>
                        </a:rPr>
                        <a:t>Design and simulation</a:t>
                      </a:r>
                      <a:endParaRPr lang="en-US" sz="115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tcPr>
                </a:tc>
                <a:tc>
                  <a:txBody>
                    <a:bodyPr/>
                    <a:p>
                      <a:pPr marL="0" indent="0">
                        <a:buNone/>
                        <a:defRPr/>
                      </a:pPr>
                      <a:r>
                        <a:rPr lang="en-US" sz="1150">
                          <a:solidFill>
                            <a:srgbClr val="1A1A1A"/>
                          </a:solidFill>
                          <a:latin typeface="Calibri"/>
                          <a:ea typeface="Calibri"/>
                          <a:cs typeface="Calibri"/>
                        </a:rPr>
                        <a:t>Literature review, threat model, detector core, attack toolkit, simulation results and ablation</a:t>
                      </a:r>
                      <a:endParaRPr lang="en-US" sz="115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tcPr>
                </a:tc>
                <a:tc>
                  <a:txBody>
                    <a:bodyPr/>
                    <a:p>
                      <a:pPr marL="0" indent="0">
                        <a:buNone/>
                        <a:defRPr/>
                      </a:pPr>
                      <a:r>
                        <a:rPr lang="en-US" sz="1150">
                          <a:solidFill>
                            <a:srgbClr val="1A1A1A"/>
                          </a:solidFill>
                          <a:latin typeface="Calibri"/>
                          <a:ea typeface="Calibri"/>
                          <a:cs typeface="Calibri"/>
                        </a:rPr>
                        <a:t>Sep 2026</a:t>
                      </a:r>
                      <a:endParaRPr lang="en-US" sz="115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tcPr>
                </a:tc>
                <a:tc>
                  <a:txBody>
                    <a:bodyPr/>
                    <a:p>
                      <a:pPr marL="0" indent="0">
                        <a:buNone/>
                        <a:defRPr/>
                      </a:pPr>
                      <a:r>
                        <a:rPr lang="en-US" sz="1150" b="1">
                          <a:solidFill>
                            <a:srgbClr val="1E6B4F"/>
                          </a:solidFill>
                          <a:latin typeface="Calibri"/>
                          <a:ea typeface="Calibri"/>
                          <a:cs typeface="Calibri"/>
                        </a:rPr>
                        <a:t>Complete</a:t>
                      </a:r>
                      <a:endParaRPr lang="en-US" sz="115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tcPr>
                </a:tc>
              </a:tr>
              <a:tr h="749808">
                <a:tc>
                  <a:txBody>
                    <a:bodyPr/>
                    <a:p>
                      <a:pPr marL="0" indent="0">
                        <a:buNone/>
                        <a:defRPr/>
                      </a:pPr>
                      <a:r>
                        <a:rPr lang="en-US" sz="1150" b="1">
                          <a:solidFill>
                            <a:srgbClr val="1A1A1A"/>
                          </a:solidFill>
                          <a:latin typeface="Calibri"/>
                          <a:ea typeface="Calibri"/>
                          <a:cs typeface="Calibri"/>
                        </a:rPr>
                        <a:t>Review 2</a:t>
                      </a:r>
                      <a:endParaRPr lang="en-US" sz="115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EEF3F8"/>
                    </a:solidFill>
                  </a:tcPr>
                </a:tc>
                <a:tc>
                  <a:txBody>
                    <a:bodyPr/>
                    <a:p>
                      <a:pPr marL="0" indent="0">
                        <a:buNone/>
                        <a:defRPr/>
                      </a:pPr>
                      <a:r>
                        <a:rPr lang="en-US" sz="1150">
                          <a:solidFill>
                            <a:srgbClr val="1A1A1A"/>
                          </a:solidFill>
                          <a:latin typeface="Calibri"/>
                          <a:ea typeface="Calibri"/>
                          <a:cs typeface="Calibri"/>
                        </a:rPr>
                        <a:t>Gazebo bench and live monitoring</a:t>
                      </a:r>
                      <a:endParaRPr lang="en-US" sz="115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EEF3F8"/>
                    </a:solidFill>
                  </a:tcPr>
                </a:tc>
                <a:tc>
                  <a:txBody>
                    <a:bodyPr/>
                    <a:p>
                      <a:pPr marL="0" indent="0">
                        <a:buNone/>
                        <a:defRPr/>
                      </a:pPr>
                      <a:r>
                        <a:rPr lang="en-US" sz="1150">
                          <a:solidFill>
                            <a:srgbClr val="1A1A1A"/>
                          </a:solidFill>
                          <a:latin typeface="Calibri"/>
                          <a:ea typeface="Calibri"/>
                          <a:cs typeface="Calibri"/>
                        </a:rPr>
                        <a:t>Gazebo Harmonic digital twin with ground-truth RViz2; 50-profile attack console; web monitor; Wireshark RTPS analysis; safety filter on / off evaluation</a:t>
                      </a:r>
                      <a:endParaRPr lang="en-US" sz="115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EEF3F8"/>
                    </a:solidFill>
                  </a:tcPr>
                </a:tc>
                <a:tc>
                  <a:txBody>
                    <a:bodyPr/>
                    <a:p>
                      <a:pPr marL="0" indent="0">
                        <a:buNone/>
                        <a:defRPr/>
                      </a:pPr>
                      <a:r>
                        <a:rPr lang="en-US" sz="1150">
                          <a:solidFill>
                            <a:srgbClr val="1A1A1A"/>
                          </a:solidFill>
                          <a:latin typeface="Calibri"/>
                          <a:ea typeface="Calibri"/>
                          <a:cs typeface="Calibri"/>
                        </a:rPr>
                        <a:t>Sat 24 Oct 2026</a:t>
                      </a:r>
                      <a:endParaRPr lang="en-US" sz="115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EEF3F8"/>
                    </a:solidFill>
                  </a:tcPr>
                </a:tc>
                <a:tc>
                  <a:txBody>
                    <a:bodyPr/>
                    <a:p>
                      <a:pPr marL="0" indent="0">
                        <a:buNone/>
                        <a:defRPr/>
                      </a:pPr>
                      <a:r>
                        <a:rPr lang="en-US" sz="1150" b="1">
                          <a:solidFill>
                            <a:srgbClr val="1E6B4F"/>
                          </a:solidFill>
                          <a:latin typeface="Calibri"/>
                          <a:ea typeface="Calibri"/>
                          <a:cs typeface="Calibri"/>
                        </a:rPr>
                        <a:t>Complete</a:t>
                      </a:r>
                      <a:endParaRPr lang="en-US" sz="115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EEF3F8"/>
                    </a:solidFill>
                  </a:tcPr>
                </a:tc>
              </a:tr>
              <a:tr h="749808">
                <a:tc>
                  <a:txBody>
                    <a:bodyPr/>
                    <a:p>
                      <a:pPr marL="0" indent="0">
                        <a:buNone/>
                        <a:defRPr/>
                      </a:pPr>
                      <a:r>
                        <a:rPr lang="en-US" sz="1150" b="1">
                          <a:solidFill>
                            <a:srgbClr val="1A1A1A"/>
                          </a:solidFill>
                          <a:latin typeface="Calibri"/>
                          <a:ea typeface="Calibri"/>
                          <a:cs typeface="Calibri"/>
                        </a:rPr>
                        <a:t>Completion</a:t>
                      </a:r>
                      <a:endParaRPr lang="en-US" sz="115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tcPr>
                </a:tc>
                <a:tc>
                  <a:txBody>
                    <a:bodyPr/>
                    <a:p>
                      <a:pPr marL="0" indent="0">
                        <a:buNone/>
                        <a:defRPr/>
                      </a:pPr>
                      <a:r>
                        <a:rPr lang="en-US" sz="1150">
                          <a:solidFill>
                            <a:srgbClr val="1A1A1A"/>
                          </a:solidFill>
                          <a:latin typeface="Calibri"/>
                          <a:ea typeface="Calibri"/>
                          <a:cs typeface="Calibri"/>
                        </a:rPr>
                        <a:t>Hardware and full evaluation</a:t>
                      </a:r>
                      <a:endParaRPr lang="en-US" sz="115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tcPr>
                </a:tc>
                <a:tc>
                  <a:txBody>
                    <a:bodyPr/>
                    <a:p>
                      <a:pPr marL="0" indent="0">
                        <a:buNone/>
                        <a:defRPr/>
                      </a:pPr>
                      <a:r>
                        <a:rPr lang="en-US" sz="1150">
                          <a:solidFill>
                            <a:srgbClr val="1A1A1A"/>
                          </a:solidFill>
                          <a:latin typeface="Calibri"/>
                          <a:ea typeface="Calibri"/>
                          <a:cs typeface="Calibri"/>
                        </a:rPr>
                        <a:t>Deployment on articubot_one (Raspberry Pi 4); detection rate, false-alarm rate, latency and overhead across the catalogue; complete ablation</a:t>
                      </a:r>
                      <a:endParaRPr lang="en-US" sz="115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tcPr>
                </a:tc>
                <a:tc>
                  <a:txBody>
                    <a:bodyPr/>
                    <a:p>
                      <a:pPr marL="0" indent="0">
                        <a:buNone/>
                        <a:defRPr/>
                      </a:pPr>
                      <a:r>
                        <a:rPr lang="en-US" sz="1150">
                          <a:solidFill>
                            <a:srgbClr val="1A1A1A"/>
                          </a:solidFill>
                          <a:latin typeface="Calibri"/>
                          <a:ea typeface="Calibri"/>
                          <a:cs typeface="Calibri"/>
                        </a:rPr>
                        <a:t>Tue 27 Oct 2026</a:t>
                      </a:r>
                      <a:endParaRPr lang="en-US" sz="115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tcPr>
                </a:tc>
                <a:tc>
                  <a:txBody>
                    <a:bodyPr/>
                    <a:p>
                      <a:pPr marL="0" indent="0">
                        <a:buNone/>
                        <a:defRPr/>
                      </a:pPr>
                      <a:r>
                        <a:rPr lang="en-US" sz="1150">
                          <a:solidFill>
                            <a:srgbClr val="14509B"/>
                          </a:solidFill>
                          <a:latin typeface="Calibri"/>
                          <a:ea typeface="Calibri"/>
                          <a:cs typeface="Calibri"/>
                        </a:rPr>
                        <a:t>In progress</a:t>
                      </a:r>
                      <a:endParaRPr lang="en-US" sz="115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tcPr>
                </a:tc>
              </a:tr>
              <a:tr h="749808">
                <a:tc>
                  <a:txBody>
                    <a:bodyPr/>
                    <a:p>
                      <a:pPr marL="0" indent="0">
                        <a:buNone/>
                        <a:defRPr/>
                      </a:pPr>
                      <a:r>
                        <a:rPr lang="en-US" sz="1150" b="1">
                          <a:solidFill>
                            <a:srgbClr val="1A1A1A"/>
                          </a:solidFill>
                          <a:latin typeface="Calibri"/>
                          <a:ea typeface="Calibri"/>
                          <a:cs typeface="Calibri"/>
                        </a:rPr>
                        <a:t>Report</a:t>
                      </a:r>
                      <a:endParaRPr lang="en-US" sz="115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EEF3F8"/>
                    </a:solidFill>
                  </a:tcPr>
                </a:tc>
                <a:tc>
                  <a:txBody>
                    <a:bodyPr/>
                    <a:p>
                      <a:pPr marL="0" indent="0">
                        <a:buNone/>
                        <a:defRPr/>
                      </a:pPr>
                      <a:r>
                        <a:rPr lang="en-US" sz="1150">
                          <a:solidFill>
                            <a:srgbClr val="1A1A1A"/>
                          </a:solidFill>
                          <a:latin typeface="Calibri"/>
                          <a:ea typeface="Calibri"/>
                          <a:cs typeface="Calibri"/>
                        </a:rPr>
                        <a:t>Final submission</a:t>
                      </a:r>
                      <a:endParaRPr lang="en-US" sz="115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EEF3F8"/>
                    </a:solidFill>
                  </a:tcPr>
                </a:tc>
                <a:tc>
                  <a:txBody>
                    <a:bodyPr/>
                    <a:p>
                      <a:pPr marL="0" indent="0">
                        <a:buNone/>
                        <a:defRPr/>
                      </a:pPr>
                      <a:r>
                        <a:rPr lang="en-US" sz="1150">
                          <a:solidFill>
                            <a:srgbClr val="1A1A1A"/>
                          </a:solidFill>
                          <a:latin typeface="Calibri"/>
                          <a:ea typeface="Calibri"/>
                          <a:cs typeface="Calibri"/>
                        </a:rPr>
                        <a:t>Technical report, demonstration video, attack catalogue and dataset</a:t>
                      </a:r>
                      <a:endParaRPr lang="en-US" sz="115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EEF3F8"/>
                    </a:solidFill>
                  </a:tcPr>
                </a:tc>
                <a:tc>
                  <a:txBody>
                    <a:bodyPr/>
                    <a:p>
                      <a:pPr marL="0" indent="0">
                        <a:buNone/>
                        <a:defRPr/>
                      </a:pPr>
                      <a:r>
                        <a:rPr lang="en-US" sz="1150">
                          <a:solidFill>
                            <a:srgbClr val="1A1A1A"/>
                          </a:solidFill>
                          <a:latin typeface="Calibri"/>
                          <a:ea typeface="Calibri"/>
                          <a:cs typeface="Calibri"/>
                        </a:rPr>
                        <a:t>Tue 3 Nov 2026</a:t>
                      </a:r>
                      <a:endParaRPr lang="en-US" sz="115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EEF3F8"/>
                    </a:solidFill>
                  </a:tcPr>
                </a:tc>
                <a:tc>
                  <a:txBody>
                    <a:bodyPr/>
                    <a:p>
                      <a:pPr marL="0" indent="0">
                        <a:buNone/>
                        <a:defRPr/>
                      </a:pPr>
                      <a:r>
                        <a:rPr lang="en-US" sz="1150">
                          <a:solidFill>
                            <a:srgbClr val="5A6672"/>
                          </a:solidFill>
                          <a:latin typeface="Calibri"/>
                          <a:ea typeface="Calibri"/>
                          <a:cs typeface="Calibri"/>
                        </a:rPr>
                        <a:t>Planned</a:t>
                      </a:r>
                      <a:endParaRPr lang="en-US" sz="1150">
                        <a:latin typeface="Calibri"/>
                        <a:ea typeface="Calibri"/>
                        <a:cs typeface="Calibri"/>
                      </a:endParaRPr>
                    </a:p>
                  </a:txBody>
                  <a:tcPr marL="63500" marR="63500" marT="50800" marB="50800" anchor="t">
                    <a:lnL w="9525" algn="ctr">
                      <a:solidFill>
                        <a:srgbClr val="C9D2DC"/>
                      </a:solidFill>
                    </a:lnL>
                    <a:lnR w="9525" algn="ctr">
                      <a:solidFill>
                        <a:srgbClr val="C9D2DC"/>
                      </a:solidFill>
                    </a:lnR>
                    <a:lnT w="9525" algn="ctr">
                      <a:solidFill>
                        <a:srgbClr val="C9D2DC"/>
                      </a:solidFill>
                    </a:lnT>
                    <a:lnB w="9525" algn="ctr">
                      <a:solidFill>
                        <a:srgbClr val="C9D2DC"/>
                      </a:solidFill>
                    </a:lnB>
                    <a:solidFill>
                      <a:srgbClr val="EEF3F8"/>
                    </a:solidFill>
                  </a:tcPr>
                </a:tc>
              </a:tr>
            </a:tbl>
          </a:graphicData>
        </a:graphic>
      </p:graphicFrame>
      <p:sp>
        <p:nvSpPr>
          <p:cNvPr id="555767243" name="Text 1"/>
          <p:cNvSpPr txBox="1"/>
          <p:nvPr/>
        </p:nvSpPr>
        <p:spPr bwMode="auto">
          <a:xfrm>
            <a:off x="502920" y="5532120"/>
            <a:ext cx="11155680" cy="274320"/>
          </a:xfrm>
          <a:prstGeom prst="rect">
            <a:avLst/>
          </a:prstGeom>
          <a:noFill/>
          <a:ln/>
        </p:spPr>
        <p:txBody>
          <a:bodyPr wrap="square" lIns="0" tIns="0" rIns="0" bIns="0" rtlCol="0" anchor="ctr"/>
          <a:lstStyle/>
          <a:p>
            <a:pPr marL="0" indent="0">
              <a:buNone/>
              <a:defRPr/>
            </a:pPr>
            <a:r>
              <a:rPr lang="en-US" sz="1100" i="1">
                <a:solidFill>
                  <a:srgbClr val="5A6672"/>
                </a:solidFill>
                <a:latin typeface="Calibri"/>
                <a:ea typeface="Calibri"/>
                <a:cs typeface="Calibri"/>
              </a:rPr>
              <a:t>Review 2 on Saturday 24 Oct 2026; project completed by Tuesday 27 Oct; report submitted on Tuesday 3 Nov 2026.</a:t>
            </a:r>
            <a:endParaRPr lang="en-US" sz="1100"/>
          </a:p>
        </p:txBody>
      </p:sp>
      <p:sp>
        <p:nvSpPr>
          <p:cNvPr id="1615646445" name="Text 2"/>
          <p:cNvSpPr txBox="1"/>
          <p:nvPr/>
        </p:nvSpPr>
        <p:spPr bwMode="auto">
          <a:xfrm>
            <a:off x="502920" y="6419088"/>
            <a:ext cx="7315200" cy="256032"/>
          </a:xfrm>
          <a:prstGeom prst="rect">
            <a:avLst/>
          </a:prstGeom>
          <a:noFill/>
          <a:ln/>
        </p:spPr>
        <p:txBody>
          <a:bodyPr wrap="square" lIns="0" tIns="0" rIns="0" bIns="0" rtlCol="0" anchor="ctr"/>
          <a:lstStyle/>
          <a:p>
            <a:pPr marL="0" indent="0">
              <a:buNone/>
              <a:defRPr/>
            </a:pPr>
            <a:r>
              <a:rPr lang="en-US" sz="900">
                <a:solidFill>
                  <a:srgbClr val="5A6672"/>
                </a:solidFill>
                <a:latin typeface="Calibri"/>
                <a:ea typeface="Calibri"/>
                <a:cs typeface="Calibri"/>
              </a:rPr>
              <a:t>21ECC402P  |  Shyam Rithin S  |  RA2311004010308</a:t>
            </a:r>
            <a:endParaRPr lang="en-US" sz="900"/>
          </a:p>
        </p:txBody>
      </p:sp>
      <p:sp>
        <p:nvSpPr>
          <p:cNvPr id="1623874828" name="Text 3"/>
          <p:cNvSpPr txBox="1"/>
          <p:nvPr/>
        </p:nvSpPr>
        <p:spPr bwMode="auto">
          <a:xfrm>
            <a:off x="11247120" y="6419088"/>
            <a:ext cx="457200" cy="256032"/>
          </a:xfrm>
          <a:prstGeom prst="rect">
            <a:avLst/>
          </a:prstGeom>
          <a:noFill/>
          <a:ln/>
        </p:spPr>
        <p:txBody>
          <a:bodyPr wrap="square" lIns="0" tIns="0" rIns="0" bIns="0" rtlCol="0" anchor="ctr"/>
          <a:lstStyle/>
          <a:p>
            <a:pPr marL="0" indent="0" algn="r">
              <a:buNone/>
              <a:defRPr/>
            </a:pPr>
            <a:r>
              <a:rPr lang="en-US" sz="900">
                <a:solidFill>
                  <a:srgbClr val="5A6672"/>
                </a:solidFill>
                <a:latin typeface="Calibri"/>
                <a:ea typeface="Calibri"/>
                <a:cs typeface="Calibri"/>
              </a:rPr>
              <a:t>18</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16</Slides>
  <Notes>16</Notes>
  <HiddenSlides>0</HiddenSlides>
  <MMClips>2</MMClips>
  <ScaleCrop>0</ScaleCrop>
  <HeadingPairs>
    <vt:vector size="4" baseType="variant">
      <vt:variant>
        <vt:lpstr>Theme</vt:lpstr>
      </vt:variant>
      <vt:variant>
        <vt:i4>1</vt:i4>
      </vt:variant>
      <vt:variant>
        <vt:lpstr>Slide Titles</vt:lpstr>
      </vt:variant>
      <vt:variant>
        <vt:i4>16</vt:i4>
      </vt:variant>
    </vt:vector>
  </HeadingPairs>
  <TitlesOfParts>
    <vt:vector size="17"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Cross-Layer Intrusion Detection for ROS 2 Robotic Networks - Review 1</dc:title>
  <dc:subject>PptxGenJS Presentation</dc:subject>
  <dc:creator>Shyam Rithin S</dc:creator>
  <cp:lastModifiedBy/>
  <cp:revision>2</cp:revision>
  <dcterms:created xsi:type="dcterms:W3CDTF">2026-09-08T01:02:32Z</dcterms:created>
  <dcterms:modified xsi:type="dcterms:W3CDTF">2026-09-08T02:35:08Z</dcterms:modified>
</cp:coreProperties>
</file>